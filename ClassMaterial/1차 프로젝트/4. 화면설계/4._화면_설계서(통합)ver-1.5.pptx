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7" r:id="rId4"/>
    <p:sldId id="261" r:id="rId5"/>
    <p:sldId id="268" r:id="rId6"/>
    <p:sldId id="269" r:id="rId7"/>
    <p:sldId id="265" r:id="rId8"/>
    <p:sldId id="282" r:id="rId9"/>
    <p:sldId id="285" r:id="rId10"/>
    <p:sldId id="286" r:id="rId11"/>
    <p:sldId id="284" r:id="rId12"/>
    <p:sldId id="283" r:id="rId13"/>
    <p:sldId id="288" r:id="rId14"/>
    <p:sldId id="294" r:id="rId15"/>
    <p:sldId id="298" r:id="rId16"/>
    <p:sldId id="299" r:id="rId17"/>
    <p:sldId id="290" r:id="rId18"/>
    <p:sldId id="300" r:id="rId19"/>
    <p:sldId id="291" r:id="rId20"/>
    <p:sldId id="292" r:id="rId21"/>
    <p:sldId id="293" r:id="rId22"/>
    <p:sldId id="281" r:id="rId23"/>
    <p:sldId id="295" r:id="rId24"/>
    <p:sldId id="296" r:id="rId25"/>
    <p:sldId id="287" r:id="rId26"/>
    <p:sldId id="289" r:id="rId27"/>
    <p:sldId id="274" r:id="rId28"/>
    <p:sldId id="273" r:id="rId29"/>
    <p:sldId id="271" r:id="rId30"/>
    <p:sldId id="280" r:id="rId31"/>
    <p:sldId id="272" r:id="rId32"/>
    <p:sldId id="275" r:id="rId33"/>
    <p:sldId id="279" r:id="rId34"/>
    <p:sldId id="277" r:id="rId35"/>
    <p:sldId id="278" r:id="rId36"/>
    <p:sldId id="276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AE2E8"/>
    <a:srgbClr val="F0A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EF9A5-0C81-46DA-8DF4-4B017A9E3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87EB4-B529-4C09-A776-6916470F6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E9B93-55F6-4FF4-9604-B47D94FE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7C27CF-4942-4C47-9A40-B121CD66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2307F-D806-43F2-B8EA-02CB82AA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27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C00C5-EE49-4948-AB10-4FD80D0C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6BFCD-B156-4CC4-B46D-9A55C424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CB9AC-16B7-42AD-BC01-0DD97C8F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6919A-1863-4872-ACA0-15A41298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2297E-915D-4BB9-A283-1DBFCA25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0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0F809-8ABD-4182-B241-0E18714A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3A40A-CCCA-4929-88AE-006B1348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F46E2-C856-4B63-8C66-27288B9D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B12D0-6BDA-4E58-A20D-D218591B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5AE3E-70C5-46CB-ADB4-EC17BBF2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97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937BC-F506-4E00-95ED-F3A82E02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32256-22F9-47F0-8F83-07EF153C9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9D44C9-FE3F-4A0F-89D2-EFDF0905D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B10F85-6CC5-4D69-99E8-10481210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6B457-654A-4EA5-BB0D-D1CA30D8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DB30D3-7AE5-4398-A827-A0BF61B9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7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76964-51FA-402A-82C9-D3BDDF84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18191-E41F-4E79-9146-A650419F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FC166-E259-4AB6-8A21-612B5E597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861F77-6DBD-45C2-B3DC-AD77AC1BB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5F7E73-5C8D-4B02-883A-68CC99F85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E2032B-EE95-4F05-B544-7CF3D23F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500040-0176-4258-9AA4-00896E94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C7D9E0-F493-4CF4-A2ED-F34E8CCA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43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416D-9A30-44DE-9A33-E022B785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9FF496-D12A-4478-BCE1-287C0D09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8E88B2-1847-49B6-94AE-0938D430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1DF2E0-BC59-477B-BCE7-83CDCCF4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5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9D2A1B-B702-4F07-8E55-D11B194A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2185AD-2885-470B-9C4C-E11D15E1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3830A-1DED-4DC9-A0F3-F86953D2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0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E92F3-CA8C-438A-B91E-BA5A7178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89273-D2AF-4E4C-90B8-A11C75DA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AD3624-52EC-49C1-9B4C-D301813E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FF1452-BE36-4E09-BC50-E5BF9F9F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17ABB-8220-4E15-BCCE-0908D62A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AE3A5E-9B67-4201-BD75-1D5D1729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62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F71DB-C6C5-408B-B642-8CD259A5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F2DA53-52A1-4213-A874-6C577FD9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13F08D-8AB1-4BCB-AD2E-7D8ABE6FF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E3989C-9503-491A-8B8C-D271A3EF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50FAB0-A453-49B9-BDA1-E1B0DC1A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42D8B1-21F7-4312-900D-62565ABF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98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69DAF-D0A0-4886-A3DD-CF0F22E0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46BC7-C880-48F6-B5E6-00853A87D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DE79C-2466-4BC9-A75F-9DF4C30E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C9999-176D-4F1F-B39D-C14DBFF9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892AA-B3BE-41AA-B812-5E64D526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1548CB-417C-4BD8-9B59-47403E6EE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0C1C8D-FB46-4880-BF6E-8D96711C0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71D49-37C2-45D0-B726-6B51433D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7A3EF9-DC44-4AD4-998E-189E03D7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B35F7-A413-4071-90B4-5CF9D5B0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65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1445CE-9D67-4BEE-93B4-BEA9F20F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116F94-4E3B-4CE4-8E34-7D0D2EEB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B86691-C295-4E1E-9AF7-5F1D3EF5D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B7B4D-1D34-4706-81B2-267136D56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EFB1E1-9E89-4275-BF70-93A11D91E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1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D62B84A-3CA8-4ED7-89BF-E1B7887051E4}"/>
              </a:ext>
            </a:extLst>
          </p:cNvPr>
          <p:cNvSpPr/>
          <p:nvPr/>
        </p:nvSpPr>
        <p:spPr>
          <a:xfrm>
            <a:off x="3541465" y="1001786"/>
            <a:ext cx="4840448" cy="2634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PHC </a:t>
            </a:r>
            <a:r>
              <a:rPr lang="ko-KR" altLang="en-US" dirty="0" smtClean="0">
                <a:solidFill>
                  <a:schemeClr val="tx1"/>
                </a:solidFill>
              </a:rPr>
              <a:t>감시반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B6020AB-2BDF-4A38-A3C0-29D487CEC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09589"/>
              </p:ext>
            </p:extLst>
          </p:nvPr>
        </p:nvGraphicFramePr>
        <p:xfrm>
          <a:off x="3541464" y="3871568"/>
          <a:ext cx="4840448" cy="2021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20224">
                  <a:extLst>
                    <a:ext uri="{9D8B030D-6E8A-4147-A177-3AD203B41FA5}">
                      <a16:colId xmlns:a16="http://schemas.microsoft.com/office/drawing/2014/main" val="4074285381"/>
                    </a:ext>
                  </a:extLst>
                </a:gridCol>
                <a:gridCol w="2420224">
                  <a:extLst>
                    <a:ext uri="{9D8B030D-6E8A-4147-A177-3AD203B41FA5}">
                      <a16:colId xmlns:a16="http://schemas.microsoft.com/office/drawing/2014/main" val="2772484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버전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6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2026.03.23</a:t>
                      </a:r>
                      <a:endParaRPr lang="ko-KR" altLang="en-US" dirty="0" smtClean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28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5Drone</a:t>
                      </a:r>
                      <a:endParaRPr lang="ko-KR" altLang="en-US" dirty="0" smtClean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4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차도헌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16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71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FDBAA-E915-42FD-99F1-481D05B0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히스토리</a:t>
            </a: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362011"/>
              </p:ext>
            </p:extLst>
          </p:nvPr>
        </p:nvGraphicFramePr>
        <p:xfrm>
          <a:off x="381000" y="1435659"/>
          <a:ext cx="11331388" cy="50727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5104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2442817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4567453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2956014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12938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49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94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7480247"/>
              </p:ext>
            </p:extLst>
          </p:nvPr>
        </p:nvGraphicFramePr>
        <p:xfrm>
          <a:off x="156556" y="679049"/>
          <a:ext cx="11879999" cy="600876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7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823282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675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79438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로그인 상태에 따라 주요 메뉴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반려동물 상태 요약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알림 요약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최근 이벤트 정보를 통합 제공하는 메인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F-001, F-003/ 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UR-001, 006~012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879438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Main(</a:t>
                      </a:r>
                      <a:r>
                        <a:rPr lang="en-US" altLang="ko-KR" sz="1400" dirty="0" err="1" smtClean="0"/>
                        <a:t>NonSignIn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Main(N)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비로그인</a:t>
                      </a:r>
                      <a:r>
                        <a:rPr lang="ko-KR" altLang="en-US" sz="1400" dirty="0" smtClean="0"/>
                        <a:t> 상태로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화면 표시 내용을 제한적으로 공개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F-002~003 </a:t>
                      </a:r>
                      <a:r>
                        <a:rPr lang="en-US" altLang="ko-KR" sz="1400" dirty="0" smtClean="0"/>
                        <a:t>/ </a:t>
                      </a:r>
                      <a:endParaRPr lang="en-US" altLang="ko-KR" sz="14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UR-002, 026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020735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SignUp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SignUp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 기본정보 입력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필수값</a:t>
                      </a:r>
                      <a:r>
                        <a:rPr lang="ko-KR" altLang="en-US" sz="1400" dirty="0" smtClean="0"/>
                        <a:t> 검증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중복 확인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이메일 인증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가입 완료 안내를 처리하는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F-004 / 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UR-013~015,</a:t>
                      </a:r>
                      <a:r>
                        <a:rPr lang="en-US" altLang="ko-KR" sz="1400" baseline="0" dirty="0" smtClean="0"/>
                        <a:t> 021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SignUpComplete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PHC-LO-02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SignUpComplete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회원가입 완료 후 안내하는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F-005</a:t>
                      </a:r>
                      <a:r>
                        <a:rPr lang="en-US" altLang="ko-KR" sz="1400" baseline="0" dirty="0" smtClean="0"/>
                        <a:t> / </a:t>
                      </a:r>
                    </a:p>
                    <a:p>
                      <a:pPr latinLnBrk="1"/>
                      <a:r>
                        <a:rPr lang="en-US" altLang="ko-KR" sz="1400" baseline="0" dirty="0" smtClean="0"/>
                        <a:t>UR-016~020</a:t>
                      </a:r>
                      <a:r>
                        <a:rPr lang="en-US" altLang="ko-KR" sz="1400" dirty="0" smtClean="0"/>
                        <a:t> 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437096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PHC-LO-03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아이디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비밀번호를 검증하여 로그인 처리하고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실패 시 오류 메시지와 회원가입 유도 정보를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F-006 </a:t>
                      </a:r>
                      <a:r>
                        <a:rPr lang="en-US" altLang="ko-KR" sz="1400" dirty="0" smtClean="0"/>
                        <a:t>/ </a:t>
                      </a:r>
                      <a:endParaRPr lang="en-US" altLang="ko-KR" sz="1400" dirty="0" smtClean="0"/>
                    </a:p>
                    <a:p>
                      <a:pPr latinLnBrk="1"/>
                      <a:r>
                        <a:rPr lang="en-US" altLang="ko-KR" sz="1400" dirty="0" smtClean="0"/>
                        <a:t>UR-005, 022~024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Landing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PHC-LA-01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Landing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서비스 소개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주요 기능 안내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인터랙션</a:t>
                      </a:r>
                      <a:r>
                        <a:rPr lang="ko-KR" altLang="en-US" sz="1400" dirty="0" smtClean="0"/>
                        <a:t> 요소를 통해 사용자의 첫 진입 경험을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F-008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UR-027~030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DashBoard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PHC-DA-01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DashBoard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실시간 영상</a:t>
                      </a:r>
                      <a:r>
                        <a:rPr lang="en-US" altLang="ko-KR" sz="1400" dirty="0" smtClean="0"/>
                        <a:t>, PTZ </a:t>
                      </a:r>
                      <a:r>
                        <a:rPr lang="ko-KR" altLang="en-US" sz="1400" dirty="0" smtClean="0"/>
                        <a:t>제어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양방향 오디오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급여 제어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환경 데이터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위험 알림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상태 시각화를 통합 제공하는 핵심 관제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F-022~033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UR-061~082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50103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279386"/>
              </p:ext>
            </p:extLst>
          </p:nvPr>
        </p:nvGraphicFramePr>
        <p:xfrm>
          <a:off x="181495" y="715584"/>
          <a:ext cx="11880001" cy="445838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0870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73587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451283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4047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8007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Gallery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PHC-GA-01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GalleryList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저장된 하이라이트 이미지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영상 목록을 갤러리 형태로 조회하고 조건에 따라 탐색하는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F-009 </a:t>
                      </a:r>
                      <a:r>
                        <a:rPr lang="en-US" altLang="ko-KR" sz="1400" dirty="0" smtClean="0"/>
                        <a:t>/ </a:t>
                      </a:r>
                      <a:endParaRPr lang="en-US" altLang="ko-KR" sz="1400" dirty="0" smtClean="0"/>
                    </a:p>
                    <a:p>
                      <a:pPr latinLnBrk="1"/>
                      <a:r>
                        <a:rPr lang="en-US" altLang="ko-KR" sz="1400" dirty="0" smtClean="0"/>
                        <a:t>UR-031~032 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Detail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PHC-GA-02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GalleryDetail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선택한 미디어의 상세 정보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날짜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이벤트 유형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알림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/SNS 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공유 설정을 확인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F-010~011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UR-034~036, 040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PetManage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b="0" dirty="0" err="1" smtClean="0"/>
                        <a:t>AlertRecord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선택한 반려동물의 </a:t>
                      </a:r>
                      <a:r>
                        <a:rPr lang="ko-KR" altLang="en-US" sz="1400" dirty="0" err="1" smtClean="0"/>
                        <a:t>알림기록을</a:t>
                      </a:r>
                      <a:r>
                        <a:rPr lang="ko-KR" altLang="en-US" sz="1400" dirty="0" smtClean="0"/>
                        <a:t> 기간별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종류별로 조회하고 연관 이벤트 메시지를 확인하는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F-012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UR-037~038, 042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ActionRecord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ActionRecord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선택한 반려동물의 수동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자동 조치 이력을 유형과 </a:t>
                      </a:r>
                      <a:r>
                        <a:rPr lang="ko-KR" altLang="en-US" sz="1400" dirty="0" err="1" smtClean="0"/>
                        <a:t>방식별로</a:t>
                      </a:r>
                      <a:r>
                        <a:rPr lang="ko-KR" altLang="en-US" sz="1400" dirty="0" smtClean="0"/>
                        <a:t> 조회하는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F-013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UR-039~042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625017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359738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88795"/>
              </p:ext>
            </p:extLst>
          </p:nvPr>
        </p:nvGraphicFramePr>
        <p:xfrm>
          <a:off x="198120" y="543452"/>
          <a:ext cx="11880001" cy="56040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8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451283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4047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2438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MainSetting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MainSetting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환경설정 하위 페이지에 접근할 수 있고 </a:t>
                      </a:r>
                      <a:r>
                        <a:rPr lang="ko-KR" altLang="en-US" sz="1400" dirty="0" err="1" smtClean="0"/>
                        <a:t>요약정보를</a:t>
                      </a:r>
                      <a:r>
                        <a:rPr lang="ko-KR" altLang="en-US" sz="1400" dirty="0" smtClean="0"/>
                        <a:t>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F-015 / 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UR-043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MyPage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MyPage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 계정 정보 조회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이메일 확인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비밀번호 변경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로그아웃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회원 탈퇴를 처리하는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F-016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UR-044~046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PetSetting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PHC-SE-03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PetSetting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반려동물 목록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상세 조회와 등록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삭제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프로필 이미지 관리 기능을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F-018~019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UR-049~055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DeviceSetting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PHC-SE-04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DeviceSetting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등록된 디바이스의 연결 상태를 조회하고 위치 등 설정 정보를 변경하는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F-017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UR-047~048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AlertEventSet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PHC-SE-05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AlertEventSet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이벤트 발생 조건과 알림 수신 여부를 개별 또는 일괄 </a:t>
                      </a:r>
                      <a:r>
                        <a:rPr lang="en-US" altLang="ko-KR" sz="1400" dirty="0" smtClean="0"/>
                        <a:t>ON/OFF</a:t>
                      </a:r>
                      <a:r>
                        <a:rPr lang="ko-KR" altLang="en-US" sz="1400" dirty="0" smtClean="0"/>
                        <a:t>로 설정하는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F-020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UR-056~060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8243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AdminData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AdminData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전체 반려동물 데이터 조회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err="1" smtClean="0"/>
                        <a:t>상세조회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삭제를 수행하는 관리자용 데이터 관리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F-035~036 </a:t>
                      </a:r>
                      <a:r>
                        <a:rPr lang="en-US" altLang="ko-KR" sz="1400" dirty="0" smtClean="0"/>
                        <a:t>/ </a:t>
                      </a:r>
                      <a:r>
                        <a:rPr lang="en-US" altLang="ko-KR" sz="1400" dirty="0" smtClean="0"/>
                        <a:t>ADM-001~008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02331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7485251"/>
              </p:ext>
            </p:extLst>
          </p:nvPr>
        </p:nvGraphicFramePr>
        <p:xfrm>
          <a:off x="187310" y="620860"/>
          <a:ext cx="11879999" cy="5473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7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823282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675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Role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AdminRole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관리자가 사용자의 권한을 관리</a:t>
                      </a:r>
                      <a:endParaRPr lang="en-US" altLang="ko-KR" sz="1400" dirty="0" smtClean="0"/>
                    </a:p>
                    <a:p>
                      <a:pPr latinLnBrk="1"/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관리자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일반사용자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휴면사용자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F-036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ADM-009</a:t>
                      </a:r>
                      <a:r>
                        <a:rPr lang="en-US" altLang="ko-KR" sz="1400" dirty="0" smtClean="0"/>
                        <a:t>, ADM-010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Simulation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PHC-SI-01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Simulation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반려동물 상태 데이터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심박수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체온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활동량 등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입력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전송하고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이벤트 판별 → 알림 푸시 → 조치 기록까지 전체 데이터 흐름 루프를 검증하는 관리자 전용 화면</a:t>
                      </a:r>
                    </a:p>
                    <a:p>
                      <a:r>
                        <a:rPr lang="ko-KR" altLang="en-US" sz="1400" dirty="0" smtClean="0"/>
                        <a:t/>
                      </a:r>
                      <a:br>
                        <a:rPr lang="ko-KR" altLang="en-US" sz="1400" dirty="0" smtClean="0"/>
                      </a:b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F-036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ADM-011~ADM-014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25864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91657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793034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331430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187175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810274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랜딩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PHC-LA-01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랜딩 페이지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UR-027~030</a:t>
                      </a:r>
                      <a:endParaRPr lang="ko-KR" sz="16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895385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인터랙션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랜딩화면</a:t>
                      </a:r>
                      <a:r>
                        <a:rPr lang="ko-KR" altLang="en-US" sz="1400" dirty="0" smtClean="0"/>
                        <a:t> 제공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주요기능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서비스 소개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회원가입페이지로이동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62D3DE-EF7F-3AC9-D2EB-B4473B72C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46" y="1262847"/>
            <a:ext cx="2398343" cy="4948173"/>
          </a:xfrm>
          <a:prstGeom prst="rect">
            <a:avLst/>
          </a:prstGeom>
        </p:spPr>
      </p:pic>
      <p:pic>
        <p:nvPicPr>
          <p:cNvPr id="6" name="그림 5" descr="텍스트, 스크린샷, 폰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3B2A97-F614-ADDD-02E8-EE84B1182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38" y="1242165"/>
            <a:ext cx="2244699" cy="4947782"/>
          </a:xfrm>
          <a:prstGeom prst="rect">
            <a:avLst/>
          </a:prstGeom>
        </p:spPr>
      </p:pic>
      <p:pic>
        <p:nvPicPr>
          <p:cNvPr id="8" name="그림 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BB367F-AEE1-D876-094A-AE2F011DB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979" y="1221288"/>
            <a:ext cx="2384918" cy="52191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819BAD7-CF55-D271-A4D6-F840CC11DA69}"/>
              </a:ext>
            </a:extLst>
          </p:cNvPr>
          <p:cNvSpPr/>
          <p:nvPr/>
        </p:nvSpPr>
        <p:spPr>
          <a:xfrm flipH="1">
            <a:off x="5897670" y="1221288"/>
            <a:ext cx="2839233" cy="251564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EC41F9-84E3-F15D-EC74-B483D4DF6A42}"/>
              </a:ext>
            </a:extLst>
          </p:cNvPr>
          <p:cNvSpPr/>
          <p:nvPr/>
        </p:nvSpPr>
        <p:spPr>
          <a:xfrm flipH="1">
            <a:off x="3173258" y="3945698"/>
            <a:ext cx="2484330" cy="224424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5CEA4B-B08C-FAFE-B3E4-2C2BDE0C3CE5}"/>
              </a:ext>
            </a:extLst>
          </p:cNvPr>
          <p:cNvSpPr/>
          <p:nvPr/>
        </p:nvSpPr>
        <p:spPr>
          <a:xfrm flipH="1">
            <a:off x="469722" y="3277642"/>
            <a:ext cx="2390386" cy="291229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F6758E-3010-97DE-CF15-E6D41406D351}"/>
              </a:ext>
            </a:extLst>
          </p:cNvPr>
          <p:cNvSpPr/>
          <p:nvPr/>
        </p:nvSpPr>
        <p:spPr>
          <a:xfrm flipH="1">
            <a:off x="3225446" y="1231723"/>
            <a:ext cx="2379948" cy="249476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A66463-D495-2A02-C539-91F287E4605A}"/>
              </a:ext>
            </a:extLst>
          </p:cNvPr>
          <p:cNvSpPr/>
          <p:nvPr/>
        </p:nvSpPr>
        <p:spPr>
          <a:xfrm flipH="1">
            <a:off x="5897666" y="3893504"/>
            <a:ext cx="2839234" cy="251564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CD85186-50A3-44B5-D9A3-4152D575D140}"/>
              </a:ext>
            </a:extLst>
          </p:cNvPr>
          <p:cNvCxnSpPr/>
          <p:nvPr/>
        </p:nvCxnSpPr>
        <p:spPr>
          <a:xfrm flipV="1">
            <a:off x="1723213" y="2912325"/>
            <a:ext cx="365343" cy="354903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96EBCA-727A-9BAA-2EC4-FF2D6558746D}"/>
              </a:ext>
            </a:extLst>
          </p:cNvPr>
          <p:cNvSpPr txBox="1"/>
          <p:nvPr/>
        </p:nvSpPr>
        <p:spPr>
          <a:xfrm>
            <a:off x="2129426" y="2567835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400" b="1" dirty="0" smtClean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0FD5B80-40D0-86F0-6C75-B8CBA8B77D91}"/>
              </a:ext>
            </a:extLst>
          </p:cNvPr>
          <p:cNvCxnSpPr>
            <a:cxnSpLocks/>
          </p:cNvCxnSpPr>
          <p:nvPr/>
        </p:nvCxnSpPr>
        <p:spPr>
          <a:xfrm flipV="1">
            <a:off x="2641788" y="2526105"/>
            <a:ext cx="574110" cy="7306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F90F2F3-A98F-98FB-43CE-20284CCF00C4}"/>
              </a:ext>
            </a:extLst>
          </p:cNvPr>
          <p:cNvCxnSpPr>
            <a:cxnSpLocks/>
          </p:cNvCxnSpPr>
          <p:nvPr/>
        </p:nvCxnSpPr>
        <p:spPr>
          <a:xfrm flipV="1">
            <a:off x="4552006" y="3945722"/>
            <a:ext cx="1" cy="38621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FDDCD61-8AB9-DC9C-0DDC-AA75F99CCE94}"/>
              </a:ext>
            </a:extLst>
          </p:cNvPr>
          <p:cNvSpPr txBox="1"/>
          <p:nvPr/>
        </p:nvSpPr>
        <p:spPr>
          <a:xfrm>
            <a:off x="4363234" y="4415423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4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BC01F29-D442-55A9-9F2C-8326F47E59C4}"/>
              </a:ext>
            </a:extLst>
          </p:cNvPr>
          <p:cNvCxnSpPr>
            <a:cxnSpLocks/>
          </p:cNvCxnSpPr>
          <p:nvPr/>
        </p:nvCxnSpPr>
        <p:spPr>
          <a:xfrm flipV="1">
            <a:off x="8101046" y="1231748"/>
            <a:ext cx="1" cy="38621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7981524-D5DE-4249-A80A-D2AE3A9A12E8}"/>
              </a:ext>
            </a:extLst>
          </p:cNvPr>
          <p:cNvSpPr txBox="1"/>
          <p:nvPr/>
        </p:nvSpPr>
        <p:spPr>
          <a:xfrm>
            <a:off x="7922713" y="1617942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400" b="1" dirty="0" smtClean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B0CB435-4E53-5939-535C-362BA835F1C1}"/>
              </a:ext>
            </a:extLst>
          </p:cNvPr>
          <p:cNvCxnSpPr>
            <a:cxnSpLocks/>
          </p:cNvCxnSpPr>
          <p:nvPr/>
        </p:nvCxnSpPr>
        <p:spPr>
          <a:xfrm>
            <a:off x="8737787" y="4592897"/>
            <a:ext cx="219205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D059BA3-C0C0-3DFC-E7F1-6C8BACDF8452}"/>
              </a:ext>
            </a:extLst>
          </p:cNvPr>
          <p:cNvSpPr txBox="1"/>
          <p:nvPr/>
        </p:nvSpPr>
        <p:spPr>
          <a:xfrm>
            <a:off x="8956111" y="4384107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4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870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767A-CEEC-E1D3-0552-EDDD6E14F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49DC49-2C91-60DB-0C89-468A829B66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5588221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회원가입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UR-013~021</a:t>
                      </a:r>
                      <a:endParaRPr lang="ko-KR" sz="16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10DA23C-2063-A68C-343E-8FD106DD8477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C0D69ED9-B728-A8C2-FAFA-372C7318B39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569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필수 회원정보 입력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인증번호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보내기-이메일로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인증번호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전송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인증하기-이메일로 받은 인증번호 </a:t>
                      </a:r>
                      <a:r>
                        <a:rPr lang="ko-KR" altLang="en-US" sz="1400" dirty="0"/>
                        <a:t>확인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회원가입완료 - </a:t>
                      </a:r>
                      <a:br>
                        <a:rPr lang="ko-KR" altLang="en-US" sz="1400" dirty="0"/>
                      </a:br>
                      <a:r>
                        <a:rPr lang="ko-KR" altLang="en-US" sz="1400"/>
                        <a:t>회원가입 완료 알림페이지로 이동​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PHC-LO-02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DB562F24-6AD0-DC64-116B-469184A4517A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A42D04-1342-E4F3-F528-EDE5C5502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3" y="1249799"/>
            <a:ext cx="2621985" cy="522478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90A6E3A-692E-F006-B56B-19627AECFBF6}"/>
              </a:ext>
            </a:extLst>
          </p:cNvPr>
          <p:cNvSpPr/>
          <p:nvPr/>
        </p:nvSpPr>
        <p:spPr>
          <a:xfrm>
            <a:off x="3632549" y="2223368"/>
            <a:ext cx="2588709" cy="207723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85E6ED2-4C01-19E0-06E3-43E2F59E9121}"/>
              </a:ext>
            </a:extLst>
          </p:cNvPr>
          <p:cNvCxnSpPr/>
          <p:nvPr/>
        </p:nvCxnSpPr>
        <p:spPr>
          <a:xfrm flipV="1">
            <a:off x="6243019" y="2651365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C537AE-8DD5-565D-3C76-DE4A9E731A8E}"/>
              </a:ext>
            </a:extLst>
          </p:cNvPr>
          <p:cNvSpPr txBox="1"/>
          <p:nvPr/>
        </p:nvSpPr>
        <p:spPr>
          <a:xfrm>
            <a:off x="6805809" y="2515643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CBD94F-73A5-95C7-BE45-1DCC2C090568}"/>
              </a:ext>
            </a:extLst>
          </p:cNvPr>
          <p:cNvSpPr/>
          <p:nvPr/>
        </p:nvSpPr>
        <p:spPr>
          <a:xfrm>
            <a:off x="3611672" y="4300600"/>
            <a:ext cx="2620023" cy="37578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7F1005D-3173-C652-FA4E-59EBFB435E6A}"/>
              </a:ext>
            </a:extLst>
          </p:cNvPr>
          <p:cNvCxnSpPr>
            <a:cxnSpLocks/>
          </p:cNvCxnSpPr>
          <p:nvPr/>
        </p:nvCxnSpPr>
        <p:spPr>
          <a:xfrm flipV="1">
            <a:off x="6211704" y="4467638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FB4BA6-D664-0AE1-E7F4-020EC5BADD29}"/>
              </a:ext>
            </a:extLst>
          </p:cNvPr>
          <p:cNvSpPr txBox="1"/>
          <p:nvPr/>
        </p:nvSpPr>
        <p:spPr>
          <a:xfrm>
            <a:off x="6774493" y="4331916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39DF6E-46E0-1EEC-2382-974AD5A2FCFD}"/>
              </a:ext>
            </a:extLst>
          </p:cNvPr>
          <p:cNvSpPr/>
          <p:nvPr/>
        </p:nvSpPr>
        <p:spPr>
          <a:xfrm>
            <a:off x="3622110" y="4916463"/>
            <a:ext cx="2620023" cy="43841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623B3CD-131D-5777-89CF-7522D6E1CCA3}"/>
              </a:ext>
            </a:extLst>
          </p:cNvPr>
          <p:cNvCxnSpPr>
            <a:cxnSpLocks/>
          </p:cNvCxnSpPr>
          <p:nvPr/>
        </p:nvCxnSpPr>
        <p:spPr>
          <a:xfrm flipV="1">
            <a:off x="6253456" y="5052186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37C95CE-6802-F934-1496-2B9A3A351887}"/>
              </a:ext>
            </a:extLst>
          </p:cNvPr>
          <p:cNvSpPr txBox="1"/>
          <p:nvPr/>
        </p:nvSpPr>
        <p:spPr>
          <a:xfrm>
            <a:off x="6816246" y="4916464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6519E4D-810B-1324-46E3-0D98603FD462}"/>
              </a:ext>
            </a:extLst>
          </p:cNvPr>
          <p:cNvSpPr/>
          <p:nvPr/>
        </p:nvSpPr>
        <p:spPr>
          <a:xfrm>
            <a:off x="3622109" y="5542764"/>
            <a:ext cx="2609585" cy="48016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61657C1-2398-A684-DF2C-3E8E8EF4359B}"/>
              </a:ext>
            </a:extLst>
          </p:cNvPr>
          <p:cNvCxnSpPr>
            <a:cxnSpLocks/>
          </p:cNvCxnSpPr>
          <p:nvPr/>
        </p:nvCxnSpPr>
        <p:spPr>
          <a:xfrm flipV="1">
            <a:off x="6243018" y="5772433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E0032A-4A59-9C17-EFFF-A44B38F8C6D8}"/>
              </a:ext>
            </a:extLst>
          </p:cNvPr>
          <p:cNvSpPr txBox="1"/>
          <p:nvPr/>
        </p:nvSpPr>
        <p:spPr>
          <a:xfrm>
            <a:off x="6805808" y="5636711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  <a:endParaRPr lang="ko-KR" altLang="en-US" sz="20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7893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6534E-05A5-34F5-8753-97B76B90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7B0C5B8-7034-80C6-691C-AF49C46BE6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277605"/>
              </p:ext>
            </p:extLst>
          </p:nvPr>
        </p:nvGraphicFramePr>
        <p:xfrm>
          <a:off x="238124" y="485776"/>
          <a:ext cx="9324973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8657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16919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270150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478283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4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회원가입알림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회원가입알림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UR-020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04310E7C-F3A2-4FAB-9AC3-1065B698F4AF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B7180D95-BA8B-B047-E70B-49AE4C7D0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945176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 페이지로</a:t>
                      </a:r>
                      <a:endParaRPr lang="ko-KR"/>
                    </a:p>
                    <a:p>
                      <a:pPr lvl="0">
                        <a:buNone/>
                      </a:pPr>
                      <a:r>
                        <a:rPr lang="ko-KR" altLang="en-US" sz="140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 err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PHC-LO-01, PHC-LO-02</a:t>
                      </a:r>
                      <a:endParaRPr lang="ko-KR" altLang="en-US" sz="1400" dirty="0" smtClean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400" b="1" i="0" u="none" strike="noStrike" noProof="0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>
                        <a:buNone/>
                      </a:pP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FFC4DEBF-CA58-6DF2-FEC3-400E647FA9FC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BC6666-51C5-1726-C6B6-724A09F24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058" y="1247385"/>
            <a:ext cx="2341063" cy="521917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789124" y="5344436"/>
            <a:ext cx="2192053" cy="46972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5992498" y="5459283"/>
            <a:ext cx="469727" cy="20876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461343" y="5271368"/>
            <a:ext cx="35490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0230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0B17-CDD1-8DCB-981B-B8A1B767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9E17C7DB-39B8-C3F4-C1BA-94AA53B100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762901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로그인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PHC-LO-02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UR-003</a:t>
                      </a:r>
                      <a:r>
                        <a:rPr lang="en-US" altLang="ko-KR" sz="1600" b="0" i="0" u="none" strike="noStrike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UR-022~025</a:t>
                      </a:r>
                      <a:endParaRPr lang="en-US" altLang="ko-KR" sz="16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1B333EA-6C58-D1E8-CC73-A2BC84C0382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6D3E3424-E85F-D27F-EC66-ED70E1581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906749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로그인-메인 페이지로 </a:t>
                      </a:r>
                      <a:r>
                        <a:rPr lang="ko-KR" altLang="en-US" sz="1400" dirty="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회원가입-회원가입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페이지로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PHC-LO-01, PHC-MA-01</a:t>
                      </a:r>
                      <a:endParaRPr lang="ko-KR" altLang="en-US" sz="14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DE2F2BEA-4ACC-AE59-5544-78530C0C52C9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2F2FB5-192B-EE80-821B-BE8218DEA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524" y="1185666"/>
            <a:ext cx="2463583" cy="532173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3477762-614B-E0AB-8E5B-E2C333D86498}"/>
              </a:ext>
            </a:extLst>
          </p:cNvPr>
          <p:cNvSpPr/>
          <p:nvPr/>
        </p:nvSpPr>
        <p:spPr>
          <a:xfrm>
            <a:off x="3851753" y="5333998"/>
            <a:ext cx="2244245" cy="46972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0E9EB95-847C-9795-33EE-1EBD765B3869}"/>
              </a:ext>
            </a:extLst>
          </p:cNvPr>
          <p:cNvCxnSpPr/>
          <p:nvPr/>
        </p:nvCxnSpPr>
        <p:spPr>
          <a:xfrm flipV="1">
            <a:off x="6107321" y="5459283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8841F21-7CB1-E663-0C8A-FE0E53E4FA0D}"/>
              </a:ext>
            </a:extLst>
          </p:cNvPr>
          <p:cNvSpPr txBox="1"/>
          <p:nvPr/>
        </p:nvSpPr>
        <p:spPr>
          <a:xfrm>
            <a:off x="6764055" y="5302684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5A6E2A9-DA9C-55B5-56D4-F198410D1CC9}"/>
              </a:ext>
            </a:extLst>
          </p:cNvPr>
          <p:cNvCxnSpPr/>
          <p:nvPr/>
        </p:nvCxnSpPr>
        <p:spPr>
          <a:xfrm>
            <a:off x="5616719" y="5981201"/>
            <a:ext cx="1148219" cy="83507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8F7CF82-75F2-4E61-C35B-E74CA6C31C47}"/>
              </a:ext>
            </a:extLst>
          </p:cNvPr>
          <p:cNvSpPr txBox="1"/>
          <p:nvPr/>
        </p:nvSpPr>
        <p:spPr>
          <a:xfrm>
            <a:off x="6826685" y="5918547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D33A73-7E47-9D0D-9BC4-672791CF535C}"/>
              </a:ext>
            </a:extLst>
          </p:cNvPr>
          <p:cNvSpPr/>
          <p:nvPr/>
        </p:nvSpPr>
        <p:spPr>
          <a:xfrm>
            <a:off x="4979095" y="5814163"/>
            <a:ext cx="626300" cy="19832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914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D030-9C01-E983-B2F3-251D5ACC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10690E5-F37D-E90C-6F6D-2B6CCEF80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341820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메인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PHC-MA-02</a:t>
                      </a:r>
                      <a:endParaRPr lang="ko-KR" altLang="en-US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메인 페이지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600" b="0" i="0" u="none" strike="noStrike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UR-002,</a:t>
                      </a:r>
                      <a:r>
                        <a:rPr lang="en-US" altLang="ko-KR" sz="1600" b="0" i="0" u="none" strike="noStrike" baseline="0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UR-026</a:t>
                      </a:r>
                      <a:endParaRPr lang="ko-KR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92DADFC-0E62-7629-0599-CFFF6DE76F8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368D3733-41C8-31DF-505F-5F16B20F4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287541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로그인-로그인페이지로이동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상태요약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대시보드 - 대시보드 페이지로 </a:t>
                      </a:r>
                      <a:r>
                        <a:rPr lang="ko-KR" altLang="en-US" sz="1400" dirty="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PHC-LO-02,</a:t>
                      </a:r>
                      <a:br>
                        <a:rPr lang="en-US" altLang="ko-KR" sz="1400" dirty="0" smtClean="0"/>
                      </a:br>
                      <a:r>
                        <a:rPr lang="en-US" altLang="ko-KR" sz="1400" dirty="0" smtClean="0"/>
                        <a:t>PHC-MA-01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CE0EF373-76D6-3B39-D475-44B5ECF3F66F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7F16F6-2DA2-0F78-EB67-45A146FB2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692" y="1263041"/>
            <a:ext cx="2371190" cy="510435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2B464DA-C8EB-447B-E4FA-4800BC6B3212}"/>
              </a:ext>
            </a:extLst>
          </p:cNvPr>
          <p:cNvSpPr/>
          <p:nvPr/>
        </p:nvSpPr>
        <p:spPr>
          <a:xfrm>
            <a:off x="3987451" y="1899780"/>
            <a:ext cx="2025041" cy="44884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5FE9D4-A1B2-004C-95F4-EC3E43364E4E}"/>
              </a:ext>
            </a:extLst>
          </p:cNvPr>
          <p:cNvSpPr/>
          <p:nvPr/>
        </p:nvSpPr>
        <p:spPr>
          <a:xfrm>
            <a:off x="3987450" y="2515642"/>
            <a:ext cx="2025041" cy="28287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886832-96A4-480F-52C6-96E599BCB585}"/>
              </a:ext>
            </a:extLst>
          </p:cNvPr>
          <p:cNvSpPr/>
          <p:nvPr/>
        </p:nvSpPr>
        <p:spPr>
          <a:xfrm>
            <a:off x="3987450" y="5615834"/>
            <a:ext cx="2025041" cy="66805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911128A-6724-59A0-B3EE-D1606DB1480C}"/>
              </a:ext>
            </a:extLst>
          </p:cNvPr>
          <p:cNvCxnSpPr/>
          <p:nvPr/>
        </p:nvCxnSpPr>
        <p:spPr>
          <a:xfrm flipV="1">
            <a:off x="6013376" y="2077256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8E2C8BD-2372-F54A-540F-7A8E4D17EFC5}"/>
              </a:ext>
            </a:extLst>
          </p:cNvPr>
          <p:cNvCxnSpPr>
            <a:cxnSpLocks/>
          </p:cNvCxnSpPr>
          <p:nvPr/>
        </p:nvCxnSpPr>
        <p:spPr>
          <a:xfrm flipV="1">
            <a:off x="6012491" y="3768246"/>
            <a:ext cx="615863" cy="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AC747C6-455B-08D7-3A9F-A837D31FA99E}"/>
              </a:ext>
            </a:extLst>
          </p:cNvPr>
          <p:cNvCxnSpPr>
            <a:cxnSpLocks/>
          </p:cNvCxnSpPr>
          <p:nvPr/>
        </p:nvCxnSpPr>
        <p:spPr>
          <a:xfrm>
            <a:off x="6012491" y="5939424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CE933D-EDD4-A142-465C-2F03758FB707}"/>
              </a:ext>
            </a:extLst>
          </p:cNvPr>
          <p:cNvSpPr txBox="1"/>
          <p:nvPr/>
        </p:nvSpPr>
        <p:spPr>
          <a:xfrm>
            <a:off x="6670110" y="1920657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A809B5-ED18-9DE5-CBFF-F81E4109510D}"/>
              </a:ext>
            </a:extLst>
          </p:cNvPr>
          <p:cNvSpPr txBox="1"/>
          <p:nvPr/>
        </p:nvSpPr>
        <p:spPr>
          <a:xfrm>
            <a:off x="6670109" y="3569916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16793-A660-2B51-8140-FAEBA0F84A5F}"/>
              </a:ext>
            </a:extLst>
          </p:cNvPr>
          <p:cNvSpPr txBox="1"/>
          <p:nvPr/>
        </p:nvSpPr>
        <p:spPr>
          <a:xfrm>
            <a:off x="6670109" y="5751533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07337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D030-9C01-E983-B2F3-251D5ACC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" t="4283" r="2744" b="4976"/>
          <a:stretch/>
        </p:blipFill>
        <p:spPr>
          <a:xfrm>
            <a:off x="3780609" y="1230196"/>
            <a:ext cx="2444726" cy="5245331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10690E5-F37D-E90C-6F6D-2B6CCEF80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003620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메인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Main-01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메인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600" b="0" i="0" u="none" strike="noStrike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UR-001~012,</a:t>
                      </a:r>
                      <a:r>
                        <a:rPr lang="en-US" altLang="ko-KR" sz="1600" b="0" i="0" u="none" strike="noStrike" baseline="0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UR-026</a:t>
                      </a:r>
                      <a:endParaRPr lang="ko-KR" altLang="ko-KR" sz="16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92DADFC-0E62-7629-0599-CFFF6DE76F8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368D3733-41C8-31DF-505F-5F16B20F4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5871"/>
              </p:ext>
            </p:extLst>
          </p:nvPr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관련페이지</a:t>
                      </a:r>
                      <a:r>
                        <a:rPr lang="ko-KR" altLang="en-US" sz="1400" dirty="0" smtClean="0"/>
                        <a:t> 이동 및 펫 선택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상태요약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대시보드 - 대시보드 페이지로 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PHC-MA-02, PHC-LO-02, PHC-GA-01, PHC-SE-01, PHC-DA-01</a:t>
                      </a:r>
                      <a:endParaRPr lang="ko-KR" altLang="en-US" sz="14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 smtClean="0"/>
                    </a:p>
                    <a:p>
                      <a:pPr latinLnBrk="1"/>
                      <a:endParaRPr lang="en-US" altLang="ko-KR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CE0EF373-76D6-3B39-D475-44B5ECF3F66F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B464DA-C8EB-447B-E4FA-4800BC6B3212}"/>
              </a:ext>
            </a:extLst>
          </p:cNvPr>
          <p:cNvSpPr/>
          <p:nvPr/>
        </p:nvSpPr>
        <p:spPr>
          <a:xfrm>
            <a:off x="3987451" y="1899780"/>
            <a:ext cx="2025041" cy="44884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5FE9D4-A1B2-004C-95F4-EC3E43364E4E}"/>
              </a:ext>
            </a:extLst>
          </p:cNvPr>
          <p:cNvSpPr/>
          <p:nvPr/>
        </p:nvSpPr>
        <p:spPr>
          <a:xfrm>
            <a:off x="3987450" y="2515642"/>
            <a:ext cx="2025041" cy="28287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886832-96A4-480F-52C6-96E599BCB585}"/>
              </a:ext>
            </a:extLst>
          </p:cNvPr>
          <p:cNvSpPr/>
          <p:nvPr/>
        </p:nvSpPr>
        <p:spPr>
          <a:xfrm>
            <a:off x="3987450" y="5615834"/>
            <a:ext cx="2025041" cy="66805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911128A-6724-59A0-B3EE-D1606DB1480C}"/>
              </a:ext>
            </a:extLst>
          </p:cNvPr>
          <p:cNvCxnSpPr/>
          <p:nvPr/>
        </p:nvCxnSpPr>
        <p:spPr>
          <a:xfrm flipV="1">
            <a:off x="6013376" y="2077256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8E2C8BD-2372-F54A-540F-7A8E4D17EFC5}"/>
              </a:ext>
            </a:extLst>
          </p:cNvPr>
          <p:cNvCxnSpPr>
            <a:cxnSpLocks/>
          </p:cNvCxnSpPr>
          <p:nvPr/>
        </p:nvCxnSpPr>
        <p:spPr>
          <a:xfrm flipV="1">
            <a:off x="6012491" y="3768246"/>
            <a:ext cx="615863" cy="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AC747C6-455B-08D7-3A9F-A837D31FA99E}"/>
              </a:ext>
            </a:extLst>
          </p:cNvPr>
          <p:cNvCxnSpPr>
            <a:cxnSpLocks/>
          </p:cNvCxnSpPr>
          <p:nvPr/>
        </p:nvCxnSpPr>
        <p:spPr>
          <a:xfrm>
            <a:off x="6012491" y="5939424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CE933D-EDD4-A142-465C-2F03758FB707}"/>
              </a:ext>
            </a:extLst>
          </p:cNvPr>
          <p:cNvSpPr txBox="1"/>
          <p:nvPr/>
        </p:nvSpPr>
        <p:spPr>
          <a:xfrm>
            <a:off x="6670110" y="1920657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A809B5-ED18-9DE5-CBFF-F81E4109510D}"/>
              </a:ext>
            </a:extLst>
          </p:cNvPr>
          <p:cNvSpPr txBox="1"/>
          <p:nvPr/>
        </p:nvSpPr>
        <p:spPr>
          <a:xfrm>
            <a:off x="6670109" y="3569916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16793-A660-2B51-8140-FAEBA0F84A5F}"/>
              </a:ext>
            </a:extLst>
          </p:cNvPr>
          <p:cNvSpPr txBox="1"/>
          <p:nvPr/>
        </p:nvSpPr>
        <p:spPr>
          <a:xfrm>
            <a:off x="6670109" y="5751533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06076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509723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DashBoard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PHC-DA-01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DashBoard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UR-061~082</a:t>
                      </a:r>
                      <a:endParaRPr lang="ko-KR" altLang="en-US" sz="1600" b="0" i="0" u="none" strike="noStrike" kern="120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332571"/>
              </p:ext>
            </p:extLst>
          </p:nvPr>
        </p:nvGraphicFramePr>
        <p:xfrm>
          <a:off x="9648824" y="485774"/>
          <a:ext cx="2143126" cy="5540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다중 영상 관제 및 디바이스 제어 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3625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실시간 알림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각종 조치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화면 캡처 및 녹화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사료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식수 급여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야간</a:t>
                      </a:r>
                      <a:r>
                        <a:rPr lang="ko-KR" altLang="en-US" sz="1400" baseline="0" dirty="0" smtClean="0"/>
                        <a:t> 모드</a:t>
                      </a:r>
                      <a:r>
                        <a:rPr lang="en-US" altLang="ko-KR" sz="1400" baseline="0" dirty="0" smtClean="0"/>
                        <a:t>, </a:t>
                      </a:r>
                      <a:r>
                        <a:rPr lang="ko-KR" altLang="en-US" sz="1400" baseline="0" dirty="0" smtClean="0"/>
                        <a:t>음성 송출 등</a:t>
                      </a:r>
                      <a:r>
                        <a:rPr lang="en-US" altLang="ko-KR" sz="1400" baseline="0" dirty="0" smtClean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환경 데이터 표시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온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습도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531" y="1238750"/>
            <a:ext cx="2410161" cy="522995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4222865" y="5010977"/>
            <a:ext cx="1487980" cy="139813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5750477" y="5263892"/>
            <a:ext cx="355215" cy="14192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105692" y="5005712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695530" y="4208446"/>
            <a:ext cx="2311441" cy="62956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6006971" y="4277075"/>
            <a:ext cx="468844" cy="20879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475815" y="4018896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09159" y="1624358"/>
            <a:ext cx="646463" cy="35223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3050771" y="1757614"/>
            <a:ext cx="759726" cy="283667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2746796" y="1841226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4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4080929" y="2149561"/>
            <a:ext cx="1487980" cy="139813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5594445" y="2149561"/>
            <a:ext cx="528748" cy="22506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105692" y="1862085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087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1540400"/>
              </p:ext>
            </p:extLst>
          </p:nvPr>
        </p:nvGraphicFramePr>
        <p:xfrm>
          <a:off x="238124" y="485776"/>
          <a:ext cx="9324977" cy="704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AlertRecord</a:t>
                      </a:r>
                      <a:endParaRPr lang="ko-KR" altLang="en-US" sz="1400" dirty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PHC-PE-02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PetManage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UR-037~038, UR-041~042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874371"/>
              </p:ext>
            </p:extLst>
          </p:nvPr>
        </p:nvGraphicFramePr>
        <p:xfrm>
          <a:off x="9648824" y="485774"/>
          <a:ext cx="2143126" cy="569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선택한 펫의 </a:t>
                      </a:r>
                      <a:r>
                        <a:rPr lang="ko-KR" alt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알림기록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데이터를 기간별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종류별로 조회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연관된 이벤트 목록의 상세 메시지와 위험 등급을 함께 표시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관련 미디어 보기를 통해 갤러리 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531" y="1233121"/>
            <a:ext cx="2410161" cy="523948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32648" y="1569508"/>
            <a:ext cx="2110952" cy="135657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5955290" y="1760078"/>
            <a:ext cx="857465" cy="10862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12755" y="1560023"/>
            <a:ext cx="33619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49344" y="3168215"/>
            <a:ext cx="2094256" cy="301399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5" idx="1"/>
          </p:cNvCxnSpPr>
          <p:nvPr/>
        </p:nvCxnSpPr>
        <p:spPr>
          <a:xfrm flipV="1">
            <a:off x="5971986" y="3358786"/>
            <a:ext cx="857466" cy="10862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29452" y="3158731"/>
            <a:ext cx="3335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4027665" y="3386274"/>
            <a:ext cx="684669" cy="1891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4763193" y="3495626"/>
            <a:ext cx="1978429" cy="474376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735348" y="3767673"/>
            <a:ext cx="183993" cy="404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8777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3961230"/>
              </p:ext>
            </p:extLst>
          </p:nvPr>
        </p:nvGraphicFramePr>
        <p:xfrm>
          <a:off x="238124" y="485776"/>
          <a:ext cx="9324977" cy="704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ActionRecord</a:t>
                      </a:r>
                      <a:endParaRPr lang="ko-KR" altLang="en-US" sz="1200" dirty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PHC-PE-03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PetManage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UR-039~UR-040, UR-042</a:t>
                      </a:r>
                      <a:endParaRPr lang="ko-KR" altLang="en-US" sz="1600" b="0" i="0" u="none" strike="noStrike" kern="120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459199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수동 조치와 자동 조치 이력을 유형과 </a:t>
                      </a:r>
                      <a:r>
                        <a:rPr lang="ko-KR" altLang="en-US" sz="1400" dirty="0" err="1" smtClean="0"/>
                        <a:t>방식별로</a:t>
                      </a:r>
                      <a:r>
                        <a:rPr lang="ko-KR" altLang="en-US" sz="1400" dirty="0" smtClean="0"/>
                        <a:t> 조회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294" y="1242647"/>
            <a:ext cx="2400635" cy="522042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49344" y="2833042"/>
            <a:ext cx="2127507" cy="339319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5971987" y="3023612"/>
            <a:ext cx="857465" cy="10862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29452" y="2823557"/>
            <a:ext cx="33882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3194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6015399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MainSetting</a:t>
                      </a:r>
                      <a:endParaRPr lang="ko-KR" altLang="en-US" sz="1200" dirty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u="none" strike="noStrike" kern="120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UR-043</a:t>
                      </a:r>
                      <a:endParaRPr lang="ko-KR" altLang="en-US" sz="1600" b="0" i="0" u="none" strike="noStrike" kern="120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729966"/>
              </p:ext>
            </p:extLst>
          </p:nvPr>
        </p:nvGraphicFramePr>
        <p:xfrm>
          <a:off x="9648824" y="485774"/>
          <a:ext cx="2143126" cy="6278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 정보를 조회를 위한 페이지 분기 </a:t>
                      </a:r>
                      <a:r>
                        <a:rPr lang="en-US" altLang="ko-KR" sz="1400" dirty="0" smtClean="0"/>
                        <a:t>– </a:t>
                      </a:r>
                      <a:r>
                        <a:rPr lang="ko-KR" altLang="en-US" sz="1400" dirty="0" smtClean="0"/>
                        <a:t>회원 정보 수정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반려동물관리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디바이스 관리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알림 및 이벤트 관리</a:t>
                      </a:r>
                      <a:r>
                        <a:rPr lang="en-US" altLang="ko-KR" sz="1400" dirty="0" smtClean="0"/>
                        <a:t>,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계정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  <a:endParaRPr lang="ko-KR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297" y="1201092"/>
            <a:ext cx="2433473" cy="530353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957409" y="1637843"/>
            <a:ext cx="2177384" cy="477958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6080052" y="1828413"/>
            <a:ext cx="857464" cy="10863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937516" y="1628358"/>
            <a:ext cx="3467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3233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4095054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 smtClean="0"/>
                        <a:t>MyPage</a:t>
                      </a:r>
                      <a:endParaRPr lang="ko-KR" altLang="en-US" sz="12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u="none" strike="noStrike" kern="120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UR-044~046</a:t>
                      </a:r>
                      <a:endParaRPr lang="ko-KR" altLang="en-US" sz="1600" b="0" i="0" u="none" strike="noStrike" kern="120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376149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로그인한 사용자의 계정 정보를 조회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사용자의 비밀번호 변경 가능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PHC-MA-01</a:t>
                      </a:r>
                      <a:endParaRPr lang="ko-KR" altLang="en-US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502" y="1607364"/>
            <a:ext cx="2630220" cy="430685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708027" y="2209408"/>
            <a:ext cx="2385202" cy="123206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6126480" y="2399978"/>
            <a:ext cx="561654" cy="240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688134" y="2199923"/>
            <a:ext cx="3798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741278" y="3593817"/>
            <a:ext cx="2385202" cy="235287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5" idx="1"/>
          </p:cNvCxnSpPr>
          <p:nvPr/>
        </p:nvCxnSpPr>
        <p:spPr>
          <a:xfrm flipV="1">
            <a:off x="6159731" y="3784387"/>
            <a:ext cx="561654" cy="240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721385" y="3584332"/>
            <a:ext cx="3798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5409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444870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PetSetting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PHC-SE-03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UR-049~055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291608"/>
              </p:ext>
            </p:extLst>
          </p:nvPr>
        </p:nvGraphicFramePr>
        <p:xfrm>
          <a:off x="9648824" y="485774"/>
          <a:ext cx="2143126" cy="569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반려 동물 프로필 사진 등록 가능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이미지 파일만</a:t>
                      </a:r>
                      <a:r>
                        <a:rPr lang="en-US" altLang="ko-KR" sz="1400" dirty="0" smtClean="0"/>
                        <a:t>, 70M</a:t>
                      </a:r>
                      <a:r>
                        <a:rPr lang="en-US" altLang="ko-KR" sz="1400" baseline="0" dirty="0" smtClean="0"/>
                        <a:t>B </a:t>
                      </a:r>
                      <a:r>
                        <a:rPr lang="ko-KR" altLang="en-US" sz="1400" baseline="0" dirty="0" smtClean="0"/>
                        <a:t>이내</a:t>
                      </a:r>
                      <a:r>
                        <a:rPr lang="en-US" altLang="ko-KR" sz="1400" baseline="0" dirty="0" smtClean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반려 동물의 상세 프로필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이름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나이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종 등</a:t>
                      </a:r>
                      <a:r>
                        <a:rPr lang="en-US" altLang="ko-KR" sz="1400" dirty="0" smtClean="0"/>
                        <a:t>)</a:t>
                      </a:r>
                      <a:r>
                        <a:rPr lang="ko-KR" altLang="en-US" sz="1400" dirty="0" smtClean="0"/>
                        <a:t>을 입력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반려 동물의 건강 관리 정보를 수정 가능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34" y="1220937"/>
            <a:ext cx="2179715" cy="526384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447" y="2556395"/>
            <a:ext cx="2909861" cy="164545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718262" y="1695796"/>
            <a:ext cx="623454" cy="73983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3366655" y="1806370"/>
            <a:ext cx="2040803" cy="188686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5407458" y="1606315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094807" y="2457338"/>
            <a:ext cx="1895301" cy="224766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4041765" y="2053943"/>
            <a:ext cx="2824548" cy="470973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796187" y="1822409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093026" y="4759585"/>
            <a:ext cx="1895301" cy="168870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4021617" y="5137277"/>
            <a:ext cx="2844696" cy="9290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49968" y="4937222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5038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8246305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 smtClean="0"/>
                        <a:t>DeviceSetting</a:t>
                      </a:r>
                      <a:endParaRPr lang="ko-KR" altLang="en-US" sz="12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PHC-SE-03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UR-047~048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등록된 디바이스의 연결 상태를 조회하고 기기 위치 등 설정 정보를 </a:t>
                      </a:r>
                      <a:r>
                        <a:rPr lang="en-US" altLang="ko-KR" sz="1400" dirty="0" smtClean="0"/>
                        <a:t>DB</a:t>
                      </a:r>
                      <a:r>
                        <a:rPr lang="ko-KR" altLang="en-US" sz="1400" dirty="0" smtClean="0"/>
                        <a:t>에 업데이트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575" y="1163782"/>
            <a:ext cx="2205741" cy="50361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12" y="2541692"/>
            <a:ext cx="2909861" cy="262407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200334" y="1697339"/>
            <a:ext cx="6104081" cy="472008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6236872" y="1508323"/>
            <a:ext cx="341475" cy="14440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578347" y="1252613"/>
            <a:ext cx="36639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9951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7912390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 smtClean="0"/>
                        <a:t>AlertEventSet</a:t>
                      </a:r>
                      <a:endParaRPr lang="ko-KR" altLang="en-US" sz="12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PHC-SE-04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UR-056~060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80407"/>
            <a:ext cx="9324976" cy="5363268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073988"/>
              </p:ext>
            </p:extLst>
          </p:nvPr>
        </p:nvGraphicFramePr>
        <p:xfrm>
          <a:off x="9648824" y="485774"/>
          <a:ext cx="2143126" cy="5909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알림 </a:t>
                      </a:r>
                      <a:r>
                        <a:rPr lang="ko-KR" altLang="en-US" sz="1400" dirty="0" err="1" smtClean="0"/>
                        <a:t>수신여부는</a:t>
                      </a:r>
                      <a:r>
                        <a:rPr lang="ko-KR" altLang="en-US" sz="1400" dirty="0" smtClean="0"/>
                        <a:t> 개별 이벤트로 세분화하여 일괄 </a:t>
                      </a:r>
                      <a:r>
                        <a:rPr lang="en-US" altLang="ko-KR" sz="1400" dirty="0" smtClean="0"/>
                        <a:t>on/off </a:t>
                      </a:r>
                      <a:r>
                        <a:rPr lang="ko-KR" altLang="en-US" sz="1400" dirty="0" err="1" smtClean="0"/>
                        <a:t>토글</a:t>
                      </a:r>
                      <a:r>
                        <a:rPr lang="ko-KR" altLang="en-US" sz="1400" dirty="0" smtClean="0"/>
                        <a:t> 스위치로 제어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세부 </a:t>
                      </a:r>
                      <a:r>
                        <a:rPr kumimoji="0" lang="ko-KR" altLang="en-US" sz="1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이벤트별</a:t>
                      </a:r>
                      <a:r>
                        <a:rPr kumimoji="0" lang="ko-KR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임계값은</a:t>
                      </a:r>
                      <a:r>
                        <a:rPr kumimoji="0" lang="ko-KR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이벤트 감지에서 제어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위험 </a:t>
                      </a:r>
                      <a:r>
                        <a:rPr kumimoji="0" lang="en-US" altLang="ko-KR" sz="1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0" lang="ko-KR" altLang="en-US" sz="1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움직임 감지 기준치 변경 가능</a:t>
                      </a:r>
                      <a:endParaRPr kumimoji="0" lang="ko-KR" altLang="en-US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29" y="1178063"/>
            <a:ext cx="2426315" cy="536795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049" y="1178063"/>
            <a:ext cx="2322535" cy="411757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145" y="1220666"/>
            <a:ext cx="2089923" cy="544668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906" y="1220666"/>
            <a:ext cx="2390529" cy="463791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1886989" y="1850917"/>
            <a:ext cx="856790" cy="187318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1402356" y="1697325"/>
            <a:ext cx="967994" cy="15124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116202" y="1497270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5095584" y="1139351"/>
            <a:ext cx="2131796" cy="552800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4088278" y="5707330"/>
            <a:ext cx="967994" cy="15124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3802124" y="5507275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7273791" y="1218323"/>
            <a:ext cx="2152842" cy="391063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stCxn id="20" idx="0"/>
          </p:cNvCxnSpPr>
          <p:nvPr/>
        </p:nvCxnSpPr>
        <p:spPr>
          <a:xfrm flipV="1">
            <a:off x="7883035" y="5210268"/>
            <a:ext cx="71071" cy="79508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7727186" y="6005348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1452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80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8729554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AdminData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Admin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ADM-001~008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181183"/>
              </p:ext>
            </p:extLst>
          </p:nvPr>
        </p:nvGraphicFramePr>
        <p:xfrm>
          <a:off x="9648824" y="485774"/>
          <a:ext cx="2143126" cy="6181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관리자가 전체 반려동물 데이터를 조회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상세 조회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삭제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필터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검색 기능을 통한 반려 동물 상세 데이터 조회 가능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관리자가 사이트 내 주요 활동 및 시스템 로그를 통합적으로 </a:t>
                      </a:r>
                      <a:r>
                        <a:rPr lang="ko-KR" altLang="en-US" sz="1400" dirty="0" smtClean="0"/>
                        <a:t>확인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144" y="1273531"/>
            <a:ext cx="4888417" cy="516039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837143" y="1669139"/>
            <a:ext cx="4888417" cy="58833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2352511" y="1453772"/>
            <a:ext cx="967994" cy="15124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2066357" y="1253717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853134" y="2321594"/>
            <a:ext cx="4889052" cy="49874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2352511" y="2367944"/>
            <a:ext cx="468008" cy="67685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2043734" y="2167889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922232" y="2862361"/>
            <a:ext cx="4675601" cy="337218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2437599" y="3237853"/>
            <a:ext cx="468008" cy="67685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2154022" y="2998497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591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AdminRole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Admin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ADM-009, ADM-010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97033"/>
            <a:ext cx="9324976" cy="5346642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964455"/>
              </p:ext>
            </p:extLst>
          </p:nvPr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관리자가 회원 가입한 사용자들에 대해 권한을 수정하는 기능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관리자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일반 사용자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휴면 사용자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PHC-AD-02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899" y="3083054"/>
            <a:ext cx="7801426" cy="15746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7114386" y="3664194"/>
            <a:ext cx="766079" cy="93274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6629754" y="3448827"/>
            <a:ext cx="967994" cy="15124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343600" y="3248772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4650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A6C34-5E16-929D-B3D9-D563026C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CD2FAAF-C72F-0C6B-EFBD-7702C11A24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098147"/>
              </p:ext>
            </p:extLst>
          </p:nvPr>
        </p:nvGraphicFramePr>
        <p:xfrm>
          <a:off x="238124" y="485776"/>
          <a:ext cx="9324973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8657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16919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4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시뮬레이션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PHC-SI-01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시뮬레이션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ADM-011~017</a:t>
                      </a:r>
                      <a:endParaRPr lang="ko-KR" sz="16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38D1506-EAF1-F15B-B4D7-3D37C569BB79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F804B767-C11E-355E-32C7-3B24C335C1C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상태 데이터 목록 </a:t>
                      </a:r>
                      <a:endParaRPr lang="ko-KR" altLang="en-US" sz="1400" dirty="0"/>
                    </a:p>
                    <a:p>
                      <a:pPr lvl="0">
                        <a:buNone/>
                      </a:pPr>
                      <a:r>
                        <a:rPr lang="ko-KR" altLang="en-US" sz="1400"/>
                        <a:t>조회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시뮬레이션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실행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처리 단계 흐름 표시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 결과 확인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617362C4-6CBE-CFA4-19B3-C2F3C3785498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7402B6-1E75-3B01-E4AC-1970C7D7F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20" y="1252603"/>
            <a:ext cx="6653409" cy="520874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263FFA0-1E6D-79D7-29E5-CF29094ADB6C}"/>
              </a:ext>
            </a:extLst>
          </p:cNvPr>
          <p:cNvSpPr/>
          <p:nvPr/>
        </p:nvSpPr>
        <p:spPr>
          <a:xfrm>
            <a:off x="1471809" y="1523998"/>
            <a:ext cx="6576162" cy="192065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79479A1-415D-558E-48A0-404425C63B68}"/>
              </a:ext>
            </a:extLst>
          </p:cNvPr>
          <p:cNvCxnSpPr/>
          <p:nvPr/>
        </p:nvCxnSpPr>
        <p:spPr>
          <a:xfrm>
            <a:off x="8048855" y="2129447"/>
            <a:ext cx="521919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FC71B10-EE34-8DEB-D0B6-E7F7F2A8F9DA}"/>
              </a:ext>
            </a:extLst>
          </p:cNvPr>
          <p:cNvSpPr txBox="1"/>
          <p:nvPr/>
        </p:nvSpPr>
        <p:spPr>
          <a:xfrm>
            <a:off x="8569891" y="1931094"/>
            <a:ext cx="35490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07F122-A618-FDAB-2FA4-58C1593AD4CB}"/>
              </a:ext>
            </a:extLst>
          </p:cNvPr>
          <p:cNvSpPr/>
          <p:nvPr/>
        </p:nvSpPr>
        <p:spPr>
          <a:xfrm>
            <a:off x="6492658" y="4185778"/>
            <a:ext cx="1273478" cy="37578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08F0D06-3BC7-8CAD-D684-D8E1553D11BB}"/>
              </a:ext>
            </a:extLst>
          </p:cNvPr>
          <p:cNvCxnSpPr/>
          <p:nvPr/>
        </p:nvCxnSpPr>
        <p:spPr>
          <a:xfrm>
            <a:off x="7798334" y="4321501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544FDB3-D234-D95A-FFDD-7732AE882CB4}"/>
              </a:ext>
            </a:extLst>
          </p:cNvPr>
          <p:cNvSpPr txBox="1"/>
          <p:nvPr/>
        </p:nvSpPr>
        <p:spPr>
          <a:xfrm>
            <a:off x="8413316" y="4154463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CEC9F2-EF17-1CDA-D105-0688CC0A26BF}"/>
              </a:ext>
            </a:extLst>
          </p:cNvPr>
          <p:cNvSpPr/>
          <p:nvPr/>
        </p:nvSpPr>
        <p:spPr>
          <a:xfrm>
            <a:off x="1847589" y="4645065"/>
            <a:ext cx="3966573" cy="54279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1887CF-D82D-CDDE-C08A-1907247E4564}"/>
              </a:ext>
            </a:extLst>
          </p:cNvPr>
          <p:cNvSpPr/>
          <p:nvPr/>
        </p:nvSpPr>
        <p:spPr>
          <a:xfrm>
            <a:off x="1847589" y="5187859"/>
            <a:ext cx="5949862" cy="87682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863BAF6-3B1A-94C7-4D62-5BD07502B080}"/>
              </a:ext>
            </a:extLst>
          </p:cNvPr>
          <p:cNvCxnSpPr>
            <a:cxnSpLocks/>
          </p:cNvCxnSpPr>
          <p:nvPr/>
        </p:nvCxnSpPr>
        <p:spPr>
          <a:xfrm>
            <a:off x="5815045" y="4864295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A456267-78C0-C059-7BD0-6E4352A81B6F}"/>
              </a:ext>
            </a:extLst>
          </p:cNvPr>
          <p:cNvCxnSpPr>
            <a:cxnSpLocks/>
          </p:cNvCxnSpPr>
          <p:nvPr/>
        </p:nvCxnSpPr>
        <p:spPr>
          <a:xfrm>
            <a:off x="7808771" y="5574103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B679920-D52B-6A86-DB45-471FB69C0AEE}"/>
              </a:ext>
            </a:extLst>
          </p:cNvPr>
          <p:cNvSpPr txBox="1"/>
          <p:nvPr/>
        </p:nvSpPr>
        <p:spPr>
          <a:xfrm>
            <a:off x="6409150" y="4686819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9CDDAF-F235-F096-D707-BF0B82350AE9}"/>
              </a:ext>
            </a:extLst>
          </p:cNvPr>
          <p:cNvSpPr txBox="1"/>
          <p:nvPr/>
        </p:nvSpPr>
        <p:spPr>
          <a:xfrm>
            <a:off x="8496822" y="5375751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69887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902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924279"/>
              </p:ext>
            </p:extLst>
          </p:nvPr>
        </p:nvGraphicFramePr>
        <p:xfrm>
          <a:off x="389314" y="505013"/>
          <a:ext cx="11160001" cy="599248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6793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23914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71141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556739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0608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저작권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정책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외부 리소스 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이미지, 영상, 라이브러리 등 라이선스를 준수하여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라이선스</a:t>
                      </a:r>
                      <a:endParaRPr lang="ko-KR" altLang="en-US" dirty="0"/>
                    </a:p>
                    <a:p>
                      <a:pPr lvl="0">
                        <a:buNone/>
                      </a:pPr>
                      <a:r>
                        <a:rPr lang="ko-KR" altLang="en-US"/>
                        <a:t>준수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저작물 사용 규칙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타인의 저작물을 사용할 경우 해당 저작권자가 정한 이용 규칙을 따른다.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 smtClean="0"/>
                        <a:t>개인정보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dirty="0" smtClean="0"/>
                        <a:t>보호정책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보호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/>
                        <a:t>사용자 및 영상 데이터 정보를 개인정보로 간주하여 보호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정보 관리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정보 관리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개인정보는 암호화 및 안전한 방식으로 저장 및 관리한다.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암호화 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 smtClean="0"/>
                        <a:t>접근 권한</a:t>
                      </a:r>
                    </a:p>
                    <a:p>
                      <a:pPr latinLnBrk="1"/>
                      <a:r>
                        <a:rPr lang="ko-KR" altLang="en-US" dirty="0" smtClean="0"/>
                        <a:t>정책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사용자 및 관리자 권한을 구분하여 데이터 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권한에 따른 사용자 들의 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008700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123311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793835"/>
              </p:ext>
            </p:extLst>
          </p:nvPr>
        </p:nvGraphicFramePr>
        <p:xfrm>
          <a:off x="256308" y="543452"/>
          <a:ext cx="11520000" cy="58618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48054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896880">
                <a:tc rowSpan="6">
                  <a:txBody>
                    <a:bodyPr/>
                    <a:lstStyle/>
                    <a:p>
                      <a:r>
                        <a:rPr lang="ko-KR" altLang="en-US" dirty="0"/>
                        <a:t>인증 및 접근 권한 </a:t>
                      </a:r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 접근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로그인하지 않은 사용자는 대시보드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펫관리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설정 화면 접근을 제한한다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사용자 권한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일반 사용자는 자신의 반려동물 정보와 기록만 조회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수정 가능하다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일반 사용자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172451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err="1" smtClean="0"/>
                        <a:t>휴명계정</a:t>
                      </a:r>
                      <a:r>
                        <a:rPr lang="ko-KR" altLang="en-US" dirty="0" smtClean="0"/>
                        <a:t> 권한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휴면 정지를 통해 </a:t>
                      </a:r>
                      <a:r>
                        <a:rPr lang="ko-KR" altLang="en-US" dirty="0" err="1" smtClean="0"/>
                        <a:t>사용자권한</a:t>
                      </a:r>
                      <a:r>
                        <a:rPr lang="ko-KR" altLang="en-US" dirty="0" smtClean="0"/>
                        <a:t> 획득 가능하다</a:t>
                      </a:r>
                      <a:r>
                        <a:rPr lang="en-US" altLang="ko-KR" dirty="0" smtClean="0"/>
                        <a:t>.</a:t>
                      </a:r>
                      <a:r>
                        <a:rPr lang="ko-KR" altLang="en-US" dirty="0" smtClean="0"/>
                        <a:t> 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err="1" smtClean="0"/>
                        <a:t>휴면계정</a:t>
                      </a:r>
                      <a:r>
                        <a:rPr lang="en-US" altLang="ko-KR" dirty="0" smtClean="0"/>
                        <a:t/>
                      </a:r>
                      <a:br>
                        <a:rPr lang="en-US" altLang="ko-KR" dirty="0" smtClean="0"/>
                      </a:br>
                      <a:r>
                        <a:rPr lang="ko-KR" altLang="en-US" dirty="0" smtClean="0"/>
                        <a:t>전용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49580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권한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관리자는 전체 데이터 조회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사용자 관리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시뮬레이션 실행이 가능하다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전용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73889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라우팅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비로그인 사용자가 보호 페이지 접근 시 로그인 페이지로 이동한다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보호 라우팅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607773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보호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비밀 정보 및 중요한 정보 암호화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데이터보호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98103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2517117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949858"/>
              </p:ext>
            </p:extLst>
          </p:nvPr>
        </p:nvGraphicFramePr>
        <p:xfrm>
          <a:off x="339436" y="1121575"/>
          <a:ext cx="11520000" cy="4805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21739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95652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073603"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데이터 처리 </a:t>
                      </a:r>
                      <a:endParaRPr lang="en-US" altLang="ko-KR" dirty="0" smtClean="0"/>
                    </a:p>
                    <a:p>
                      <a:pPr algn="l" latinLnBrk="1"/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상태 데이터 처리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반려동물 상태 데이터는 시뮬레이션 또는 저장된 </a:t>
                      </a:r>
                      <a:r>
                        <a:rPr lang="ko-KR" altLang="en-US" dirty="0" err="1" smtClean="0"/>
                        <a:t>더미데이터</a:t>
                      </a:r>
                      <a:r>
                        <a:rPr lang="ko-KR" altLang="en-US" dirty="0" smtClean="0"/>
                        <a:t> 기준으로 조회한다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IoT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err="1" smtClean="0"/>
                        <a:t>실연동</a:t>
                      </a:r>
                      <a:r>
                        <a:rPr lang="ko-KR" altLang="en-US" dirty="0" smtClean="0"/>
                        <a:t> 없음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이벤트 판정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 smtClean="0"/>
                        <a:t>입력된 </a:t>
                      </a:r>
                      <a:r>
                        <a:rPr lang="ko-KR" altLang="en-US" dirty="0" err="1" smtClean="0"/>
                        <a:t>상태값이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ko-KR" altLang="en-US" dirty="0" err="1" smtClean="0"/>
                        <a:t>임계치를</a:t>
                      </a:r>
                      <a:r>
                        <a:rPr lang="ko-KR" altLang="en-US" dirty="0" smtClean="0"/>
                        <a:t> 넘으면 이벤트로 판정한다</a:t>
                      </a:r>
                      <a:r>
                        <a:rPr lang="en-US" altLang="ko-KR" dirty="0" smtClean="0"/>
                        <a:t>. (</a:t>
                      </a:r>
                      <a:r>
                        <a:rPr lang="ko-KR" altLang="en-US" dirty="0" smtClean="0"/>
                        <a:t>예</a:t>
                      </a:r>
                      <a:r>
                        <a:rPr lang="en-US" altLang="ko-KR" dirty="0" smtClean="0"/>
                        <a:t>: </a:t>
                      </a:r>
                      <a:r>
                        <a:rPr lang="ko-KR" altLang="en-US" dirty="0" err="1" smtClean="0"/>
                        <a:t>심박수</a:t>
                      </a:r>
                      <a:r>
                        <a:rPr lang="ko-KR" altLang="en-US" dirty="0" smtClean="0"/>
                        <a:t> 이상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체온 이상</a:t>
                      </a:r>
                      <a:r>
                        <a:rPr lang="en-US" altLang="ko-KR" dirty="0" smtClean="0"/>
                        <a:t>)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이벤트 판단 기준 별첨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알림 생성 규칙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mtClean="0"/>
                        <a:t>이벤트 발생 또는 알림 등급 발생 시 알림을 생성하고 대시보드와 기록 화면에 함께 반영한다</a:t>
                      </a:r>
                      <a:r>
                        <a:rPr lang="en-US" altLang="ko-KR" smtClean="0"/>
                        <a:t>.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Alert_log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기록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조치 처리 규칙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이벤트 유형에 따라 </a:t>
                      </a:r>
                      <a:r>
                        <a:rPr lang="ko-KR" altLang="en-US" dirty="0" err="1" smtClean="0"/>
                        <a:t>자동조치</a:t>
                      </a:r>
                      <a:r>
                        <a:rPr lang="ko-KR" altLang="en-US" dirty="0" smtClean="0"/>
                        <a:t> 또는 </a:t>
                      </a:r>
                      <a:r>
                        <a:rPr lang="ko-KR" altLang="en-US" dirty="0" err="1" smtClean="0"/>
                        <a:t>수동조치를</a:t>
                      </a:r>
                      <a:r>
                        <a:rPr lang="ko-KR" altLang="en-US" dirty="0" smtClean="0"/>
                        <a:t> 수행하고 결과를 기록한다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action log </a:t>
                      </a:r>
                      <a:r>
                        <a:rPr lang="ko-KR" altLang="en-US" dirty="0" smtClean="0"/>
                        <a:t>기록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39260712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9001888"/>
              </p:ext>
            </p:extLst>
          </p:nvPr>
        </p:nvGraphicFramePr>
        <p:xfrm>
          <a:off x="148244" y="473826"/>
          <a:ext cx="11520000" cy="587808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89611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181217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7489767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82844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34146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 smtClean="0"/>
                        <a:t>대분류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이름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477157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하이라이트 행동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우다다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이동속도가 </a:t>
                      </a:r>
                      <a:r>
                        <a:rPr lang="en-US" altLang="ko-KR" sz="1600" dirty="0" smtClean="0"/>
                        <a:t>3.0 m/s(</a:t>
                      </a:r>
                      <a:r>
                        <a:rPr lang="ko-KR" altLang="en-US" sz="1600" dirty="0" smtClean="0"/>
                        <a:t>변경가능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이상</a:t>
                      </a:r>
                      <a:r>
                        <a:rPr lang="en-US" altLang="ko-KR" sz="1600" dirty="0" smtClean="0"/>
                        <a:t>, 3</a:t>
                      </a:r>
                      <a:r>
                        <a:rPr lang="ko-KR" altLang="en-US" sz="1600" dirty="0" err="1" smtClean="0"/>
                        <a:t>초이상</a:t>
                      </a:r>
                      <a:r>
                        <a:rPr lang="ko-KR" altLang="en-US" sz="1600" dirty="0" smtClean="0"/>
                        <a:t> 지속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4771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하품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얼굴 중심 입 벌림 동작 </a:t>
                      </a:r>
                      <a:r>
                        <a:rPr lang="en-US" altLang="ko-KR" sz="1600" dirty="0" smtClean="0"/>
                        <a:t>1</a:t>
                      </a:r>
                      <a:r>
                        <a:rPr lang="ko-KR" altLang="en-US" sz="1600" dirty="0" smtClean="0"/>
                        <a:t>회</a:t>
                      </a:r>
                      <a:r>
                        <a:rPr lang="en-US" altLang="ko-KR" sz="1600" dirty="0" smtClean="0"/>
                        <a:t>, 1~3</a:t>
                      </a:r>
                      <a:r>
                        <a:rPr lang="ko-KR" altLang="en-US" sz="1600" dirty="0" smtClean="0"/>
                        <a:t>초 내 닫힘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338679"/>
                  </a:ext>
                </a:extLst>
              </a:tr>
              <a:tr h="4771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기지개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직전 </a:t>
                      </a:r>
                      <a:r>
                        <a:rPr lang="en-US" altLang="ko-KR" sz="1600" dirty="0" smtClean="0"/>
                        <a:t>5</a:t>
                      </a:r>
                      <a:r>
                        <a:rPr lang="ko-KR" altLang="en-US" sz="1600" dirty="0" smtClean="0"/>
                        <a:t>분 이상 정지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휴식 상태</a:t>
                      </a:r>
                      <a:r>
                        <a:rPr lang="en-US" altLang="ko-KR" sz="1600" dirty="0" smtClean="0"/>
                        <a:t>, 2~5</a:t>
                      </a:r>
                      <a:r>
                        <a:rPr lang="ko-KR" altLang="en-US" sz="1600" dirty="0" smtClean="0"/>
                        <a:t>초간 자세 확장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434901"/>
                  </a:ext>
                </a:extLst>
              </a:tr>
              <a:tr h="416774">
                <a:tc rowSpan="5"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smtClean="0"/>
                        <a:t>이상징후 행동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심박수</a:t>
                      </a:r>
                      <a:r>
                        <a:rPr lang="ko-KR" altLang="en-US" sz="1600" dirty="0" smtClean="0"/>
                        <a:t> 이상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최근 안정 시 평균 대비 </a:t>
                      </a:r>
                      <a:r>
                        <a:rPr lang="en-US" altLang="ko-KR" sz="1600" dirty="0" smtClean="0"/>
                        <a:t>±30%</a:t>
                      </a:r>
                      <a:r>
                        <a:rPr lang="ko-KR" altLang="en-US" sz="1600" dirty="0" smtClean="0"/>
                        <a:t>이상 이탈</a:t>
                      </a:r>
                      <a:r>
                        <a:rPr lang="en-US" altLang="ko-KR" sz="1600" dirty="0" smtClean="0"/>
                        <a:t>, 10</a:t>
                      </a:r>
                      <a:r>
                        <a:rPr lang="ko-KR" altLang="en-US" sz="1600" dirty="0" smtClean="0"/>
                        <a:t>분 이상 지속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주인과 함께 놀이 및 </a:t>
                      </a:r>
                      <a:r>
                        <a:rPr lang="ko-KR" altLang="en-US" sz="1600" dirty="0" err="1" smtClean="0"/>
                        <a:t>우다다</a:t>
                      </a:r>
                      <a:r>
                        <a:rPr lang="ko-KR" altLang="en-US" sz="1600" dirty="0" smtClean="0"/>
                        <a:t> 직후는 제외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936735"/>
                  </a:ext>
                </a:extLst>
              </a:tr>
              <a:tr h="4167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끼니거름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평소 식사 시간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기준 </a:t>
                      </a:r>
                      <a:r>
                        <a:rPr lang="en-US" altLang="ko-KR" sz="1600" dirty="0" smtClean="0"/>
                        <a:t>± 2</a:t>
                      </a:r>
                      <a:r>
                        <a:rPr lang="ko-KR" altLang="en-US" sz="1600" dirty="0" smtClean="0"/>
                        <a:t>시간 이내 섭취 완료 안됨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en-US" altLang="ko-KR" sz="1600" dirty="0" err="1" smtClean="0"/>
                        <a:t>feeder_log.meal_completed</a:t>
                      </a:r>
                      <a:r>
                        <a:rPr lang="en-US" altLang="ko-KR" sz="1600" dirty="0" smtClean="0"/>
                        <a:t> = false </a:t>
                      </a:r>
                      <a:r>
                        <a:rPr lang="ko-KR" altLang="en-US" sz="1600" dirty="0" smtClean="0"/>
                        <a:t>또는 해당 시간대 </a:t>
                      </a:r>
                      <a:r>
                        <a:rPr lang="en-US" altLang="ko-KR" sz="1600" dirty="0" err="1" smtClean="0"/>
                        <a:t>food_amount</a:t>
                      </a:r>
                      <a:r>
                        <a:rPr lang="en-US" altLang="ko-KR" sz="1600" dirty="0" smtClean="0"/>
                        <a:t> = 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43711"/>
                  </a:ext>
                </a:extLst>
              </a:tr>
              <a:tr h="4167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음수량</a:t>
                      </a:r>
                      <a:r>
                        <a:rPr lang="ko-KR" altLang="en-US" sz="1600" dirty="0" smtClean="0"/>
                        <a:t> 감소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 smtClean="0"/>
                        <a:t>24</a:t>
                      </a:r>
                      <a:r>
                        <a:rPr lang="ko-KR" altLang="en-US" sz="1600" dirty="0" smtClean="0"/>
                        <a:t>시간 총 </a:t>
                      </a:r>
                      <a:r>
                        <a:rPr lang="ko-KR" altLang="en-US" sz="1600" dirty="0" err="1" smtClean="0"/>
                        <a:t>음수량이</a:t>
                      </a:r>
                      <a:r>
                        <a:rPr lang="ko-KR" altLang="en-US" sz="1600" dirty="0" smtClean="0"/>
                        <a:t> 최근 </a:t>
                      </a:r>
                      <a:r>
                        <a:rPr lang="en-US" altLang="ko-KR" sz="1600" dirty="0" smtClean="0"/>
                        <a:t>7</a:t>
                      </a:r>
                      <a:r>
                        <a:rPr lang="ko-KR" altLang="en-US" sz="1600" dirty="0" smtClean="0"/>
                        <a:t>일 평균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대비 </a:t>
                      </a:r>
                      <a:r>
                        <a:rPr lang="en-US" altLang="ko-KR" sz="1600" dirty="0" smtClean="0"/>
                        <a:t>30% </a:t>
                      </a:r>
                      <a:r>
                        <a:rPr lang="ko-KR" altLang="en-US" sz="1600" dirty="0" smtClean="0"/>
                        <a:t>이상 감소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840022"/>
                  </a:ext>
                </a:extLst>
              </a:tr>
              <a:tr h="490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수면패턴이상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 최근 평균 취침 시작 시각 대비 </a:t>
                      </a:r>
                      <a:r>
                        <a:rPr lang="en-US" altLang="ko-KR" sz="1600" dirty="0" smtClean="0"/>
                        <a:t>2</a:t>
                      </a:r>
                      <a:r>
                        <a:rPr lang="ko-KR" altLang="en-US" sz="1600" dirty="0" smtClean="0"/>
                        <a:t>시간 이상 지연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야간 시간대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활동량 급증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수면 시간 총량이 최근 평균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대비 </a:t>
                      </a:r>
                      <a:r>
                        <a:rPr lang="en-US" altLang="ko-KR" sz="1600" dirty="0" smtClean="0"/>
                        <a:t>30%</a:t>
                      </a:r>
                      <a:r>
                        <a:rPr lang="ko-KR" altLang="en-US" sz="1600" dirty="0" smtClean="0"/>
                        <a:t>이상 감소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107478"/>
                  </a:ext>
                </a:extLst>
              </a:tr>
              <a:tr h="490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지속짖음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과다 울음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 smtClean="0"/>
                        <a:t>1</a:t>
                      </a:r>
                      <a:r>
                        <a:rPr lang="ko-KR" altLang="en-US" sz="1600" dirty="0" smtClean="0"/>
                        <a:t>분 이상 연속 소리 감지 </a:t>
                      </a:r>
                      <a:r>
                        <a:rPr lang="en-US" altLang="ko-KR" sz="1600" dirty="0" smtClean="0"/>
                        <a:t>/ 10</a:t>
                      </a:r>
                      <a:r>
                        <a:rPr lang="ko-KR" altLang="en-US" sz="1600" dirty="0" smtClean="0"/>
                        <a:t>분 내 </a:t>
                      </a:r>
                      <a:r>
                        <a:rPr lang="en-US" altLang="ko-KR" sz="1600" dirty="0" smtClean="0"/>
                        <a:t>5</a:t>
                      </a:r>
                      <a:r>
                        <a:rPr lang="ko-KR" altLang="en-US" sz="1600" dirty="0" smtClean="0"/>
                        <a:t>회 이상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반복 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021296"/>
                  </a:ext>
                </a:extLst>
              </a:tr>
              <a:tr h="384241"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err="1" smtClean="0"/>
                        <a:t>이상배변</a:t>
                      </a:r>
                      <a:r>
                        <a:rPr lang="ko-KR" altLang="en-US" sz="1600" dirty="0" smtClean="0"/>
                        <a:t> 의심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마킹의심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err="1" smtClean="0"/>
                        <a:t>마킹</a:t>
                      </a:r>
                      <a:r>
                        <a:rPr lang="ko-KR" altLang="en-US" sz="1600" dirty="0" smtClean="0"/>
                        <a:t> 의심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en-US" altLang="ko-KR" sz="1600" dirty="0" err="1" smtClean="0"/>
                        <a:t>Marking_suspected</a:t>
                      </a:r>
                      <a:r>
                        <a:rPr lang="en-US" altLang="ko-KR" sz="1600" dirty="0" smtClean="0"/>
                        <a:t>): </a:t>
                      </a:r>
                      <a:r>
                        <a:rPr lang="ko-KR" altLang="en-US" sz="1600" dirty="0" smtClean="0"/>
                        <a:t>지정 배변 구역 밖에서 배뇨 자세 감지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짧은 배뇨 행동 반복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498507"/>
                  </a:ext>
                </a:extLst>
              </a:tr>
              <a:tr h="384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배변이상의심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묽은 형태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비정상 크기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반복 배변 중 </a:t>
                      </a:r>
                      <a:r>
                        <a:rPr lang="en-US" altLang="ko-KR" sz="1600" dirty="0" smtClean="0"/>
                        <a:t>1</a:t>
                      </a:r>
                      <a:r>
                        <a:rPr lang="ko-KR" altLang="en-US" sz="1600" dirty="0" smtClean="0"/>
                        <a:t>개 이상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감지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81908"/>
                  </a:ext>
                </a:extLst>
              </a:tr>
              <a:tr h="384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반복 </a:t>
                      </a:r>
                      <a:r>
                        <a:rPr lang="ko-KR" altLang="en-US" sz="1600" dirty="0" err="1" smtClean="0"/>
                        <a:t>똥꼬스키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엉덩이를 바닥에 붙인 낮은 자세 이동</a:t>
                      </a:r>
                      <a:r>
                        <a:rPr lang="en-US" altLang="ko-KR" sz="1600" dirty="0" smtClean="0"/>
                        <a:t>, 24</a:t>
                      </a:r>
                      <a:r>
                        <a:rPr lang="ko-KR" altLang="en-US" sz="1600" dirty="0" smtClean="0"/>
                        <a:t>시간 내 </a:t>
                      </a:r>
                      <a:r>
                        <a:rPr lang="en-US" altLang="ko-KR" sz="1600" dirty="0" smtClean="0"/>
                        <a:t>2</a:t>
                      </a:r>
                      <a:r>
                        <a:rPr lang="ko-KR" altLang="en-US" sz="1600" dirty="0" smtClean="0"/>
                        <a:t>회 이상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반복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96825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307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 smtClean="0"/>
              <a:t>별첨</a:t>
            </a:r>
            <a:r>
              <a:rPr lang="en-US" altLang="ko-KR" sz="1800" dirty="0" smtClean="0"/>
              <a:t>1 – </a:t>
            </a:r>
            <a:r>
              <a:rPr lang="ko-KR" altLang="en-US" sz="1800" dirty="0" smtClean="0"/>
              <a:t>이벤트 판단기준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22818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746589"/>
              </p:ext>
            </p:extLst>
          </p:nvPr>
        </p:nvGraphicFramePr>
        <p:xfrm>
          <a:off x="339436" y="1121575"/>
          <a:ext cx="11520000" cy="4805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073603">
                <a:tc rowSpan="4">
                  <a:txBody>
                    <a:bodyPr/>
                    <a:lstStyle/>
                    <a:p>
                      <a:r>
                        <a:rPr lang="ko-KR" altLang="en-US" dirty="0"/>
                        <a:t>데이터 보관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상태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상태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데이터는 최근 기록 우선으로 조회한다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시간순 정렬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알림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발생한 알림은 삭제하지 않고 기록으로 보관한다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alert log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조치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자동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수동 조치 이력은 모두 기록한다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action log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미디어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하이라이트 이미지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영상은 더미 파일 또는 저장 경로 기준으로 관리한다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실제 카메라 연동 아님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4170993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5113139"/>
              </p:ext>
            </p:extLst>
          </p:nvPr>
        </p:nvGraphicFramePr>
        <p:xfrm>
          <a:off x="281247" y="494852"/>
          <a:ext cx="11520000" cy="51909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</a:t>
                      </a:r>
                      <a:r>
                        <a:rPr lang="ko-KR" altLang="en-US" dirty="0" smtClean="0"/>
                        <a:t>표기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모든 기록 시각은 </a:t>
                      </a:r>
                      <a:r>
                        <a:rPr lang="en-US" altLang="ko-KR" dirty="0"/>
                        <a:t>KST(GMT+09:00) </a:t>
                      </a:r>
                      <a:r>
                        <a:rPr lang="ko-KR" altLang="en-US" dirty="0"/>
                        <a:t>기준으로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YYYY-MM-DD HH:mm:ss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연락처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연락처는 숫자만 저장하고 화면에서는 하이픈을 포함해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010-1234-5678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반려동물 위치는 </a:t>
                      </a:r>
                      <a:r>
                        <a:rPr lang="en-US" altLang="ko-KR" dirty="0"/>
                        <a:t>GPS</a:t>
                      </a:r>
                      <a:r>
                        <a:rPr lang="ko-KR" altLang="en-US" dirty="0"/>
                        <a:t>가 아닌 실내 </a:t>
                      </a:r>
                      <a:r>
                        <a:rPr lang="ko-KR" altLang="en-US" dirty="0" err="1"/>
                        <a:t>구역명</a:t>
                      </a:r>
                      <a:r>
                        <a:rPr lang="ko-KR" altLang="en-US" dirty="0"/>
                        <a:t> 기준으로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거실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주방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언어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화면 내 기본 언어는 한국어로 통일한다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필요 시 영어 확장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1241546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361737"/>
              </p:ext>
            </p:extLst>
          </p:nvPr>
        </p:nvGraphicFramePr>
        <p:xfrm>
          <a:off x="755073" y="529951"/>
          <a:ext cx="10515603" cy="5120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381626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466852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26288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18872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UI/UX </a:t>
                      </a:r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해상도 기준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모바일</a:t>
                      </a:r>
                      <a:r>
                        <a:rPr lang="en-US" altLang="ko-KR" dirty="0" smtClean="0"/>
                        <a:t>(iPhone</a:t>
                      </a:r>
                      <a:r>
                        <a:rPr lang="en-US" altLang="ko-KR" baseline="0" dirty="0" smtClean="0"/>
                        <a:t> 14, 393x852px)</a:t>
                      </a:r>
                      <a:r>
                        <a:rPr lang="ko-KR" altLang="en-US" baseline="0" dirty="0" smtClean="0"/>
                        <a:t>을 기본으로 하며</a:t>
                      </a:r>
                      <a:r>
                        <a:rPr lang="en-US" altLang="ko-KR" baseline="0" dirty="0" smtClean="0"/>
                        <a:t>, ??</a:t>
                      </a:r>
                      <a:r>
                        <a:rPr lang="ko-KR" altLang="en-US" baseline="0" dirty="0" err="1" smtClean="0"/>
                        <a:t>반응형</a:t>
                      </a:r>
                      <a:r>
                        <a:rPr lang="ko-KR" altLang="en-US" baseline="0" dirty="0" smtClean="0"/>
                        <a:t> 여부는 팀원의 결정에 따른다</a:t>
                      </a:r>
                      <a:r>
                        <a:rPr lang="en-US" altLang="ko-KR" baseline="0" dirty="0" smtClean="0"/>
                        <a:t>??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aseline="0" dirty="0" smtClean="0"/>
                        <a:t>단</a:t>
                      </a:r>
                      <a:r>
                        <a:rPr lang="en-US" altLang="ko-KR" baseline="0" dirty="0" smtClean="0"/>
                        <a:t>, </a:t>
                      </a:r>
                      <a:r>
                        <a:rPr lang="ko-KR" altLang="en-US" baseline="0" dirty="0" smtClean="0"/>
                        <a:t>관리자 페이지는 예외적으로 </a:t>
                      </a:r>
                      <a:r>
                        <a:rPr lang="ko-KR" altLang="en-US" baseline="0" dirty="0" err="1" smtClean="0"/>
                        <a:t>데스크탑</a:t>
                      </a:r>
                      <a:r>
                        <a:rPr lang="ko-KR" altLang="en-US" baseline="0" dirty="0" smtClean="0"/>
                        <a:t> 전용 페이지로 구성한다</a:t>
                      </a:r>
                      <a:r>
                        <a:rPr lang="en-US" altLang="ko-KR" baseline="0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1887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톤앤매너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메인 컬러와 서브 컬러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18872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협업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버전 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관리 정책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브랜치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smtClean="0"/>
                        <a:t>GitHub</a:t>
                      </a:r>
                      <a:r>
                        <a:rPr lang="ko-KR" altLang="en-US" baseline="0" dirty="0" smtClean="0"/>
                        <a:t> 활용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aseline="0" dirty="0" smtClean="0"/>
                        <a:t>main, develop </a:t>
                      </a:r>
                      <a:r>
                        <a:rPr lang="ko-KR" altLang="en-US" baseline="0" dirty="0" smtClean="0"/>
                        <a:t>직접 </a:t>
                      </a:r>
                      <a:r>
                        <a:rPr lang="ko-KR" altLang="en-US" baseline="0" dirty="0" err="1" smtClean="0"/>
                        <a:t>수정금지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aseline="0" dirty="0" smtClean="0"/>
                        <a:t>main</a:t>
                      </a:r>
                      <a:r>
                        <a:rPr lang="ko-KR" altLang="en-US" baseline="0" dirty="0" smtClean="0"/>
                        <a:t>은 </a:t>
                      </a:r>
                      <a:r>
                        <a:rPr lang="ko-KR" altLang="en-US" baseline="0" dirty="0" err="1" smtClean="0"/>
                        <a:t>버전관리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aseline="0" dirty="0" smtClean="0"/>
                        <a:t>기능 개발 시 </a:t>
                      </a:r>
                      <a:r>
                        <a:rPr lang="en-US" altLang="ko-KR" baseline="0" dirty="0" smtClean="0"/>
                        <a:t>feat-</a:t>
                      </a:r>
                      <a:r>
                        <a:rPr lang="ko-KR" altLang="en-US" baseline="0" dirty="0" err="1" smtClean="0"/>
                        <a:t>기능명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ko-KR" altLang="en-US" baseline="0" dirty="0" err="1" smtClean="0"/>
                        <a:t>브랜치</a:t>
                      </a:r>
                      <a:r>
                        <a:rPr lang="ko-KR" altLang="en-US" baseline="0" dirty="0" smtClean="0"/>
                        <a:t> 생성</a:t>
                      </a:r>
                      <a:endParaRPr lang="en-US" altLang="ko-KR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11887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문서 관리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모든 회의록과 일정 관리는 </a:t>
                      </a:r>
                      <a:r>
                        <a:rPr lang="en-US" altLang="ko-KR" dirty="0" smtClean="0"/>
                        <a:t>Notion</a:t>
                      </a:r>
                      <a:r>
                        <a:rPr lang="ko-KR" altLang="en-US" dirty="0" smtClean="0"/>
                        <a:t>을 통해 공유하며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최종 산출물은 </a:t>
                      </a:r>
                      <a:r>
                        <a:rPr lang="en-US" altLang="ko-KR" dirty="0" smtClean="0"/>
                        <a:t>GitHub</a:t>
                      </a:r>
                      <a:r>
                        <a:rPr lang="ko-KR" altLang="en-US" dirty="0" smtClean="0"/>
                        <a:t>에 정리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52067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221429"/>
          <a:ext cx="10515595" cy="4754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42164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440493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0834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798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중구분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랜딩페이지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메인페이지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로그인페이지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회원가입페이지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  <a:tr h="3653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4767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45209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37251739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221429"/>
          <a:ext cx="10515595" cy="4754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42164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440493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0834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798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중구분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랜딩페이지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메인페이지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로그인페이지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회원가입페이지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  <a:tr h="3653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4767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45209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531068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062154" y="543452"/>
          <a:ext cx="9367996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5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7365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문구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처리 시나리오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시 입력값이 비어있을 경우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“</a:t>
                      </a:r>
                      <a:r>
                        <a:rPr lang="ko-KR" altLang="en-US" sz="1400"/>
                        <a:t>아이디 또는 비밀번호를 입력해주세요</a:t>
                      </a:r>
                      <a:r>
                        <a:rPr lang="en-US" altLang="ko-KR" sz="1400"/>
                        <a:t>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버튼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로그인 시 아이디 또는 비밀번호 불일치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“아이디 또는 비밀번호가 일치하지 않습니다.”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버튼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회원가입 시 필수 항목 </a:t>
                      </a:r>
                      <a:r>
                        <a:rPr lang="ko-KR" altLang="en-US" sz="1400" dirty="0" err="1"/>
                        <a:t>미입력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“필수 항목을 입력해주세요.”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미입력 항목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4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5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>
                          <a:latin typeface="맑은고딕"/>
                        </a:rPr>
                        <a:t>이메일 인증번호가 일치하지 않는 경우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>
                          <a:latin typeface="맑은고딕"/>
                        </a:rPr>
                        <a:t>“인증번호가 일치하지 않습니다.”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 err="1">
                          <a:latin typeface="맑은고딕"/>
                        </a:rPr>
                        <a:t>Alert로</a:t>
                      </a:r>
                      <a:r>
                        <a:rPr lang="ko-KR" altLang="en-US" sz="1400" dirty="0">
                          <a:latin typeface="맑은고딕"/>
                        </a:rPr>
                        <a:t> 오류 문구를 출력하고 인증 실패 처리, 타이머는 유지한다.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 smtClean="0"/>
                        <a:t>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반려동물 등록 시 이름</a:t>
                      </a:r>
                      <a:r>
                        <a:rPr lang="en-US" altLang="ko-KR" sz="1400" dirty="0">
                          <a:latin typeface="맑은고딕"/>
                        </a:rPr>
                        <a:t>, </a:t>
                      </a:r>
                      <a:r>
                        <a:rPr lang="ko-KR" altLang="en-US" sz="1400" dirty="0">
                          <a:latin typeface="맑은고딕"/>
                        </a:rPr>
                        <a:t>종</a:t>
                      </a:r>
                      <a:r>
                        <a:rPr lang="en-US" altLang="ko-KR" sz="1400" dirty="0">
                          <a:latin typeface="맑은고딕"/>
                        </a:rPr>
                        <a:t>, </a:t>
                      </a:r>
                      <a:r>
                        <a:rPr lang="ko-KR" altLang="en-US" sz="1400" dirty="0">
                          <a:latin typeface="맑은고딕"/>
                        </a:rPr>
                        <a:t>나이 등 </a:t>
                      </a:r>
                      <a:r>
                        <a:rPr lang="ko-KR" altLang="en-US" sz="1400" dirty="0" err="1">
                          <a:latin typeface="맑은고딕"/>
                        </a:rPr>
                        <a:t>필수값이</a:t>
                      </a:r>
                      <a:r>
                        <a:rPr lang="ko-KR" altLang="en-US" sz="1400" dirty="0">
                          <a:latin typeface="맑은고딕"/>
                        </a:rPr>
                        <a:t> 비어 있는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 smtClean="0">
                          <a:latin typeface="맑은고딕"/>
                        </a:rPr>
                        <a:t>“필수 입력 항목을 확인해주세요</a:t>
                      </a:r>
                      <a:r>
                        <a:rPr lang="en-US" altLang="ko-KR" sz="1400" dirty="0" smtClean="0">
                          <a:latin typeface="맑은고딕"/>
                        </a:rPr>
                        <a:t>.”</a:t>
                      </a:r>
                      <a:endParaRPr lang="ko-KR" altLang="en-US" sz="1400" dirty="0">
                        <a:latin typeface="맑은고딕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 smtClean="0">
                          <a:latin typeface="맑은고딕"/>
                        </a:rPr>
                        <a:t>저장 버튼 동작 차단</a:t>
                      </a:r>
                      <a:endParaRPr lang="ko-KR" altLang="en-US" sz="1400" dirty="0">
                        <a:latin typeface="맑은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323016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유효성 검사</a:t>
            </a:r>
          </a:p>
        </p:txBody>
      </p:sp>
    </p:spTree>
    <p:extLst>
      <p:ext uri="{BB962C8B-B14F-4D97-AF65-F5344CB8AC3E}">
        <p14:creationId xmlns:p14="http://schemas.microsoft.com/office/powerpoint/2010/main" val="285078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1908</TotalTime>
  <Words>2404</Words>
  <Application>Microsoft Office PowerPoint</Application>
  <PresentationFormat>와이드스크린</PresentationFormat>
  <Paragraphs>968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1" baseType="lpstr">
      <vt:lpstr>Malgun Gothic</vt:lpstr>
      <vt:lpstr>Malgun Gothic</vt:lpstr>
      <vt:lpstr>맑은고딕</vt:lpstr>
      <vt:lpstr>Arial</vt:lpstr>
      <vt:lpstr>Office 테마</vt:lpstr>
      <vt:lpstr>PowerPoint 프레젠테이션</vt:lpstr>
      <vt:lpstr>히스토리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DW-203</cp:lastModifiedBy>
  <cp:revision>95</cp:revision>
  <dcterms:created xsi:type="dcterms:W3CDTF">2023-07-14T02:26:15Z</dcterms:created>
  <dcterms:modified xsi:type="dcterms:W3CDTF">2026-03-23T10:26:54Z</dcterms:modified>
</cp:coreProperties>
</file>