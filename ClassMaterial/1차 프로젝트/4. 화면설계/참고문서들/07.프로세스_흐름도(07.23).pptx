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70" r:id="rId13"/>
    <p:sldId id="271" r:id="rId14"/>
    <p:sldId id="272" r:id="rId15"/>
    <p:sldId id="275" r:id="rId16"/>
    <p:sldId id="276" r:id="rId17"/>
    <p:sldId id="278" r:id="rId18"/>
    <p:sldId id="279" r:id="rId19"/>
    <p:sldId id="280" r:id="rId20"/>
    <p:sldId id="281" r:id="rId21"/>
    <p:sldId id="282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1" r:id="rId30"/>
    <p:sldId id="269" r:id="rId31"/>
    <p:sldId id="292" r:id="rId32"/>
  </p:sldIdLst>
  <p:sldSz cx="18288000" cy="10287000"/>
  <p:notesSz cx="6858000" cy="9144000"/>
  <p:embeddedFontLst>
    <p:embeddedFont>
      <p:font typeface="Calibri" panose="020F0502020204030204" pitchFamily="34" charset="0"/>
      <p:regular r:id="rId34"/>
      <p:bold r:id="rId35"/>
      <p:italic r:id="rId36"/>
      <p:boldItalic r:id="rId37"/>
    </p:embeddedFont>
    <p:embeddedFont>
      <p:font typeface="Gothic A1 Bold" panose="020B0600000101010101" charset="-127"/>
      <p:regular r:id="rId38"/>
    </p:embeddedFont>
    <p:embeddedFont>
      <p:font typeface="Helios Extended Bold" panose="020B0600000101010101" charset="0"/>
      <p:regular r:id="rId39"/>
    </p:embeddedFont>
    <p:embeddedFont>
      <p:font typeface="맑은 고딕" panose="020B0503020000020004" pitchFamily="50" charset="-127"/>
      <p:regular r:id="rId40"/>
      <p:bold r:id="rId41"/>
    </p:embeddedFont>
    <p:embeddedFont>
      <p:font typeface="Glacial Indifference Bold" panose="020B0600000101010101" charset="0"/>
      <p:regular r:id="rId42"/>
    </p:embeddedFont>
    <p:embeddedFont>
      <p:font typeface="Gothic A1 Ultra-Bold" panose="020B0600000101010101" charset="-127"/>
      <p:regular r:id="rId43"/>
    </p:embeddedFont>
    <p:embeddedFont>
      <p:font typeface="Glacial Indifference" panose="020B0600000101010101" charset="0"/>
      <p:regular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6E69"/>
    <a:srgbClr val="F1F1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03" autoAdjust="0"/>
    <p:restoredTop sz="94622" autoAdjust="0"/>
  </p:normalViewPr>
  <p:slideViewPr>
    <p:cSldViewPr>
      <p:cViewPr varScale="1">
        <p:scale>
          <a:sx n="61" d="100"/>
          <a:sy n="61" d="100"/>
        </p:scale>
        <p:origin x="186" y="2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194FFA-6818-4BC9-9FE7-AD3062911492}" type="datetimeFigureOut">
              <a:rPr lang="ko-KR" altLang="en-US" smtClean="0"/>
              <a:t>2025-07-23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F981CE-4D97-4BB7-8791-1482D038E3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7478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F981CE-4D97-4BB7-8791-1482D038E3E5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020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787891" y="2017067"/>
            <a:ext cx="0" cy="2136120"/>
          </a:xfrm>
          <a:prstGeom prst="line">
            <a:avLst/>
          </a:prstGeom>
          <a:ln w="9525" cap="flat">
            <a:solidFill>
              <a:srgbClr val="0B6E6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Box 3"/>
          <p:cNvSpPr txBox="1"/>
          <p:nvPr/>
        </p:nvSpPr>
        <p:spPr>
          <a:xfrm>
            <a:off x="1973629" y="1851300"/>
            <a:ext cx="6713170" cy="22313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715"/>
              </a:lnSpc>
            </a:pPr>
            <a:r>
              <a:rPr lang="en-US" sz="7449" b="1" spc="-655" dirty="0">
                <a:solidFill>
                  <a:srgbClr val="0B6E69"/>
                </a:solidFill>
                <a:latin typeface="Gothic A1 Ultra-Bold"/>
                <a:ea typeface="Gothic A1 Ultra-Bold"/>
                <a:cs typeface="Gothic A1 Ultra-Bold"/>
                <a:sym typeface="Gothic A1 Ultra-Bold"/>
              </a:rPr>
              <a:t>Motive-On</a:t>
            </a:r>
          </a:p>
          <a:p>
            <a:pPr algn="l">
              <a:lnSpc>
                <a:spcPts val="8715"/>
              </a:lnSpc>
            </a:pPr>
            <a:r>
              <a:rPr lang="en-US" sz="7449" b="1" spc="-655" dirty="0" err="1">
                <a:solidFill>
                  <a:srgbClr val="0B6E69"/>
                </a:solidFill>
                <a:latin typeface="Gothic A1 Ultra-Bold"/>
                <a:ea typeface="Gothic A1 Ultra-Bold"/>
                <a:cs typeface="Gothic A1 Ultra-Bold"/>
                <a:sym typeface="Gothic A1 Ultra-Bold"/>
              </a:rPr>
              <a:t>프로세스</a:t>
            </a:r>
            <a:r>
              <a:rPr lang="en-US" sz="7449" b="1" spc="-655" dirty="0">
                <a:solidFill>
                  <a:srgbClr val="0B6E69"/>
                </a:solidFill>
                <a:latin typeface="Gothic A1 Ultra-Bold"/>
                <a:ea typeface="Gothic A1 Ultra-Bold"/>
                <a:cs typeface="Gothic A1 Ultra-Bold"/>
                <a:sym typeface="Gothic A1 Ultra-Bold"/>
              </a:rPr>
              <a:t> </a:t>
            </a:r>
            <a:r>
              <a:rPr lang="en-US" sz="7449" b="1" spc="-655" dirty="0" err="1">
                <a:solidFill>
                  <a:srgbClr val="0B6E69"/>
                </a:solidFill>
                <a:latin typeface="Gothic A1 Ultra-Bold"/>
                <a:ea typeface="Gothic A1 Ultra-Bold"/>
                <a:cs typeface="Gothic A1 Ultra-Bold"/>
                <a:sym typeface="Gothic A1 Ultra-Bold"/>
              </a:rPr>
              <a:t>흐름도</a:t>
            </a:r>
            <a:endParaRPr lang="en-US" sz="7449" b="1" spc="-655" dirty="0">
              <a:solidFill>
                <a:srgbClr val="0B6E69"/>
              </a:solidFill>
              <a:latin typeface="Gothic A1 Ultra-Bold"/>
              <a:ea typeface="Gothic A1 Ultra-Bold"/>
              <a:cs typeface="Gothic A1 Ultra-Bold"/>
              <a:sym typeface="Gothic A1 Ultra-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199111" y="2013225"/>
            <a:ext cx="398794" cy="1898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9"/>
              </a:lnSpc>
            </a:pPr>
            <a:r>
              <a:rPr lang="en-US" sz="2638" b="1">
                <a:solidFill>
                  <a:srgbClr val="0B6E69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PROJECT</a:t>
            </a:r>
          </a:p>
        </p:txBody>
      </p:sp>
      <p:sp>
        <p:nvSpPr>
          <p:cNvPr id="5" name="Freeform 5"/>
          <p:cNvSpPr/>
          <p:nvPr/>
        </p:nvSpPr>
        <p:spPr>
          <a:xfrm rot="-5400000">
            <a:off x="8388767" y="-524953"/>
            <a:ext cx="9275845" cy="13450749"/>
          </a:xfrm>
          <a:custGeom>
            <a:avLst/>
            <a:gdLst/>
            <a:ahLst/>
            <a:cxnLst/>
            <a:rect l="l" t="t" r="r" b="b"/>
            <a:pathLst>
              <a:path w="9275845" h="13450749">
                <a:moveTo>
                  <a:pt x="0" y="0"/>
                </a:moveTo>
                <a:lnTo>
                  <a:pt x="9275845" y="0"/>
                </a:lnTo>
                <a:lnTo>
                  <a:pt x="9275845" y="13450750"/>
                </a:lnTo>
                <a:lnTo>
                  <a:pt x="0" y="13450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t="-17630" b="-17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6"/>
          <p:cNvSpPr txBox="1"/>
          <p:nvPr/>
        </p:nvSpPr>
        <p:spPr>
          <a:xfrm>
            <a:off x="15544799" y="9105900"/>
            <a:ext cx="1927519" cy="319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2799"/>
              </a:lnSpc>
            </a:pPr>
            <a:r>
              <a:rPr lang="en-US" sz="1999" b="1" spc="-125" dirty="0" err="1">
                <a:solidFill>
                  <a:srgbClr val="0B6E69"/>
                </a:solidFill>
                <a:latin typeface="Gothic A1 Bold"/>
                <a:ea typeface="Gothic A1 Bold"/>
                <a:cs typeface="Gothic A1 Bold"/>
                <a:sym typeface="Gothic A1 Bold"/>
              </a:rPr>
              <a:t>중간</a:t>
            </a:r>
            <a:r>
              <a:rPr lang="en-US" sz="1999" b="1" spc="-125" dirty="0">
                <a:solidFill>
                  <a:srgbClr val="0B6E69"/>
                </a:solidFill>
                <a:latin typeface="Gothic A1 Bold"/>
                <a:ea typeface="Gothic A1 Bold"/>
                <a:cs typeface="Gothic A1 Bold"/>
                <a:sym typeface="Gothic A1 Bold"/>
              </a:rPr>
              <a:t> </a:t>
            </a:r>
            <a:r>
              <a:rPr lang="en-US" sz="1999" b="1" spc="-125" dirty="0" err="1">
                <a:solidFill>
                  <a:srgbClr val="0B6E69"/>
                </a:solidFill>
                <a:latin typeface="Gothic A1 Bold"/>
                <a:ea typeface="Gothic A1 Bold"/>
                <a:cs typeface="Gothic A1 Bold"/>
                <a:sym typeface="Gothic A1 Bold"/>
              </a:rPr>
              <a:t>프로젝트</a:t>
            </a:r>
            <a:r>
              <a:rPr lang="en-US" sz="1999" b="1" spc="-125" dirty="0">
                <a:solidFill>
                  <a:srgbClr val="0B6E69"/>
                </a:solidFill>
                <a:latin typeface="Gothic A1 Bold"/>
                <a:ea typeface="Gothic A1 Bold"/>
                <a:cs typeface="Gothic A1 Bold"/>
                <a:sym typeface="Gothic A1 Bold"/>
              </a:rPr>
              <a:t> 2팀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1612018" y="426661"/>
          <a:ext cx="15063964" cy="1301164"/>
        </p:xfrm>
        <a:graphic>
          <a:graphicData uri="http://schemas.openxmlformats.org/drawingml/2006/table">
            <a:tbl>
              <a:tblPr/>
              <a:tblGrid>
                <a:gridCol w="2750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1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44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974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0582"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ko-KR" altLang="en-US" sz="2084" b="1" dirty="0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단위 프로세스 </a:t>
                      </a:r>
                      <a:r>
                        <a:rPr lang="en-US" altLang="ko-KR" sz="2084" b="1" dirty="0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ID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UT-A01-001 ~ 005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프로세스명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로그인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582"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작성일자</a:t>
                      </a:r>
                      <a:endParaRPr lang="en-US" sz="1100"/>
                    </a:p>
                  </a:txBody>
                  <a:tcPr marL="9525" marR="9525" marT="9525" marB="9525" anchor="ctr">
                    <a:lnL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2025.07.17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작성자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박기범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" name="Group 3"/>
          <p:cNvGrpSpPr/>
          <p:nvPr/>
        </p:nvGrpSpPr>
        <p:grpSpPr>
          <a:xfrm>
            <a:off x="1904424" y="2413626"/>
            <a:ext cx="2759293" cy="885254"/>
            <a:chOff x="0" y="0"/>
            <a:chExt cx="726694" cy="23317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14300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로그인 화면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993926" y="2413626"/>
            <a:ext cx="2759293" cy="885254"/>
            <a:chOff x="0" y="0"/>
            <a:chExt cx="726694" cy="23317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14300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ID / 비밀번호 입력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083429" y="2413626"/>
            <a:ext cx="2759293" cy="885254"/>
            <a:chOff x="0" y="0"/>
            <a:chExt cx="726694" cy="2331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14300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메인 화면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172931" y="2413626"/>
            <a:ext cx="2759293" cy="885254"/>
            <a:chOff x="0" y="0"/>
            <a:chExt cx="726694" cy="23317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14300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로그아웃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979225" y="4604637"/>
            <a:ext cx="2788694" cy="1798692"/>
            <a:chOff x="-7743" y="-59076"/>
            <a:chExt cx="734437" cy="47376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26694" cy="368993"/>
            </a:xfrm>
            <a:custGeom>
              <a:avLst/>
              <a:gdLst/>
              <a:ahLst/>
              <a:cxnLst/>
              <a:rect l="l" t="t" r="r" b="b"/>
              <a:pathLst>
                <a:path w="726694" h="368993">
                  <a:moveTo>
                    <a:pt x="726694" y="72950"/>
                  </a:moveTo>
                  <a:lnTo>
                    <a:pt x="726694" y="296043"/>
                  </a:lnTo>
                  <a:cubicBezTo>
                    <a:pt x="726694" y="315390"/>
                    <a:pt x="719008" y="333946"/>
                    <a:pt x="705327" y="347626"/>
                  </a:cubicBezTo>
                  <a:cubicBezTo>
                    <a:pt x="691647" y="361307"/>
                    <a:pt x="673092" y="368993"/>
                    <a:pt x="653744" y="368993"/>
                  </a:cubicBezTo>
                  <a:lnTo>
                    <a:pt x="72950" y="368993"/>
                  </a:lnTo>
                  <a:cubicBezTo>
                    <a:pt x="32661" y="368993"/>
                    <a:pt x="0" y="336332"/>
                    <a:pt x="0" y="296043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-7743" y="-59076"/>
              <a:ext cx="726694" cy="4737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2"/>
                </a:lnSpc>
              </a:pPr>
              <a:r>
                <a:rPr lang="en-US" sz="21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최초</a:t>
              </a:r>
              <a:r>
                <a:rPr lang="en-US" sz="21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1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로그인</a:t>
              </a:r>
              <a:r>
                <a:rPr lang="en-US" sz="21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시</a:t>
              </a:r>
            </a:p>
            <a:p>
              <a:pPr algn="ctr">
                <a:lnSpc>
                  <a:spcPts val="3692"/>
                </a:lnSpc>
              </a:pPr>
              <a:r>
                <a:rPr lang="en-US" sz="21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마이페이지</a:t>
              </a:r>
              <a:endParaRPr lang="en-US" sz="2184" dirty="0">
                <a:solidFill>
                  <a:srgbClr val="F1F1F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  <a:p>
              <a:pPr algn="ctr">
                <a:lnSpc>
                  <a:spcPts val="3692"/>
                </a:lnSpc>
              </a:pPr>
              <a:r>
                <a:rPr lang="en-US" sz="21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개인정보</a:t>
              </a:r>
              <a:r>
                <a:rPr lang="en-US" sz="21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1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수정</a:t>
              </a:r>
              <a:r>
                <a:rPr lang="en-US" sz="21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1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화면</a:t>
              </a:r>
              <a:endParaRPr lang="en-US" sz="2184" dirty="0">
                <a:solidFill>
                  <a:srgbClr val="F1F1F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904424" y="5081347"/>
            <a:ext cx="2759293" cy="885254"/>
            <a:chOff x="0" y="0"/>
            <a:chExt cx="726694" cy="23317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114300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비밀번호 찾기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904424" y="7748427"/>
            <a:ext cx="2759293" cy="885254"/>
            <a:chOff x="0" y="0"/>
            <a:chExt cx="726694" cy="23317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114300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사번 / 이메일 입력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993926" y="7748427"/>
            <a:ext cx="2759293" cy="885254"/>
            <a:chOff x="0" y="0"/>
            <a:chExt cx="726694" cy="23317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14300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이메일로 본인 인증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0086720" y="7748427"/>
            <a:ext cx="2759293" cy="934182"/>
            <a:chOff x="0" y="0"/>
            <a:chExt cx="726694" cy="24605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26694" cy="246059"/>
            </a:xfrm>
            <a:custGeom>
              <a:avLst/>
              <a:gdLst/>
              <a:ahLst/>
              <a:cxnLst/>
              <a:rect l="l" t="t" r="r" b="b"/>
              <a:pathLst>
                <a:path w="726694" h="246059">
                  <a:moveTo>
                    <a:pt x="726694" y="72950"/>
                  </a:moveTo>
                  <a:lnTo>
                    <a:pt x="726694" y="173110"/>
                  </a:lnTo>
                  <a:cubicBezTo>
                    <a:pt x="726694" y="213399"/>
                    <a:pt x="694033" y="246059"/>
                    <a:pt x="653744" y="246059"/>
                  </a:cubicBezTo>
                  <a:lnTo>
                    <a:pt x="72950" y="246059"/>
                  </a:lnTo>
                  <a:cubicBezTo>
                    <a:pt x="53602" y="246059"/>
                    <a:pt x="35047" y="238374"/>
                    <a:pt x="21367" y="224693"/>
                  </a:cubicBezTo>
                  <a:cubicBezTo>
                    <a:pt x="7686" y="211012"/>
                    <a:pt x="0" y="192457"/>
                    <a:pt x="0" y="173110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104775"/>
              <a:ext cx="726694" cy="350834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3692"/>
                </a:lnSpc>
              </a:pPr>
              <a:r>
                <a:rPr lang="en-US" sz="21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비밀번호</a:t>
              </a:r>
              <a:endParaRPr lang="en-US" sz="2184" dirty="0">
                <a:solidFill>
                  <a:srgbClr val="F1F1F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  <a:p>
              <a:pPr algn="ctr">
                <a:lnSpc>
                  <a:spcPts val="3692"/>
                </a:lnSpc>
              </a:pPr>
              <a:r>
                <a:rPr lang="en-US" sz="21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재설정</a:t>
              </a:r>
              <a:r>
                <a:rPr lang="en-US" sz="21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1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화면</a:t>
              </a:r>
              <a:endParaRPr lang="en-US" sz="2184" dirty="0">
                <a:solidFill>
                  <a:srgbClr val="F1F1F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</p:txBody>
        </p:sp>
      </p:grpSp>
      <p:sp>
        <p:nvSpPr>
          <p:cNvPr id="30" name="AutoShape 30"/>
          <p:cNvSpPr/>
          <p:nvPr/>
        </p:nvSpPr>
        <p:spPr>
          <a:xfrm flipH="1">
            <a:off x="3284071" y="6224427"/>
            <a:ext cx="0" cy="1251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AutoShape 31"/>
          <p:cNvSpPr/>
          <p:nvPr/>
        </p:nvSpPr>
        <p:spPr>
          <a:xfrm flipH="1">
            <a:off x="3265021" y="3553641"/>
            <a:ext cx="0" cy="1251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AutoShape 32"/>
          <p:cNvSpPr/>
          <p:nvPr/>
        </p:nvSpPr>
        <p:spPr>
          <a:xfrm>
            <a:off x="4910210" y="2875303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AutoShape 33"/>
          <p:cNvSpPr/>
          <p:nvPr/>
        </p:nvSpPr>
        <p:spPr>
          <a:xfrm>
            <a:off x="4910210" y="8234568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AutoShape 34"/>
          <p:cNvSpPr/>
          <p:nvPr/>
        </p:nvSpPr>
        <p:spPr>
          <a:xfrm>
            <a:off x="9001358" y="8172004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AutoShape 35"/>
          <p:cNvSpPr/>
          <p:nvPr/>
        </p:nvSpPr>
        <p:spPr>
          <a:xfrm>
            <a:off x="9001358" y="2894353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AutoShape 36"/>
          <p:cNvSpPr/>
          <p:nvPr/>
        </p:nvSpPr>
        <p:spPr>
          <a:xfrm>
            <a:off x="13089215" y="2913403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AutoShape 37"/>
          <p:cNvSpPr/>
          <p:nvPr/>
        </p:nvSpPr>
        <p:spPr>
          <a:xfrm>
            <a:off x="7373573" y="3598863"/>
            <a:ext cx="0" cy="92467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AutoShape 38"/>
          <p:cNvSpPr/>
          <p:nvPr/>
        </p:nvSpPr>
        <p:spPr>
          <a:xfrm flipV="1">
            <a:off x="9001358" y="3565625"/>
            <a:ext cx="1528439" cy="157787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AutoShape 39"/>
          <p:cNvSpPr/>
          <p:nvPr/>
        </p:nvSpPr>
        <p:spPr>
          <a:xfrm flipH="1" flipV="1">
            <a:off x="11452684" y="3734599"/>
            <a:ext cx="10392" cy="353876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6450734-0E36-1B88-3417-7E2BB220DA5B}"/>
              </a:ext>
            </a:extLst>
          </p:cNvPr>
          <p:cNvSpPr>
            <a:spLocks/>
          </p:cNvSpPr>
          <p:nvPr/>
        </p:nvSpPr>
        <p:spPr>
          <a:xfrm>
            <a:off x="0" y="-38100"/>
            <a:ext cx="1364366" cy="10287000"/>
          </a:xfrm>
          <a:prstGeom prst="rect">
            <a:avLst/>
          </a:prstGeom>
          <a:solidFill>
            <a:srgbClr val="0B6E6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b"/>
          <a:lstStyle/>
          <a:p>
            <a:pPr algn="just"/>
            <a:r>
              <a:rPr lang="ko-KR" altLang="en-US" sz="6000" dirty="0"/>
              <a:t>　로그인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1612018" y="426661"/>
          <a:ext cx="15063964" cy="1301164"/>
        </p:xfrm>
        <a:graphic>
          <a:graphicData uri="http://schemas.openxmlformats.org/drawingml/2006/table">
            <a:tbl>
              <a:tblPr/>
              <a:tblGrid>
                <a:gridCol w="2750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1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44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974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0582"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ko-KR" altLang="en-US" sz="2084" b="1" dirty="0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단위 프로세스 </a:t>
                      </a:r>
                      <a:r>
                        <a:rPr lang="en-US" altLang="ko-KR" sz="2084" b="1" dirty="0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ID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UT-A03-001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프로세스명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일정등록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582"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작성일자</a:t>
                      </a:r>
                      <a:endParaRPr lang="en-US" sz="1100"/>
                    </a:p>
                  </a:txBody>
                  <a:tcPr marL="9525" marR="9525" marT="9525" marB="9525" anchor="ctr">
                    <a:lnL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2025.07.17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작성자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조수빈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" name="Group 3"/>
          <p:cNvGrpSpPr/>
          <p:nvPr/>
        </p:nvGrpSpPr>
        <p:grpSpPr>
          <a:xfrm>
            <a:off x="3486856" y="3187642"/>
            <a:ext cx="2759293" cy="885254"/>
            <a:chOff x="0" y="0"/>
            <a:chExt cx="726694" cy="23317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14300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일정등록 버튼 클릭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576358" y="3187642"/>
            <a:ext cx="2759293" cy="885254"/>
            <a:chOff x="0" y="0"/>
            <a:chExt cx="726694" cy="23317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14300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3861"/>
                </a:lnSpc>
              </a:pPr>
              <a:r>
                <a:rPr lang="en-US" sz="22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캘린더에서 날짜 클릭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665861" y="3187642"/>
            <a:ext cx="2759293" cy="885254"/>
            <a:chOff x="0" y="0"/>
            <a:chExt cx="726694" cy="2331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14300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일정 데이터 입력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665861" y="5474354"/>
            <a:ext cx="2759293" cy="885254"/>
            <a:chOff x="0" y="0"/>
            <a:chExt cx="726694" cy="23317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14300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참조자 선택창 클릭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576846" y="5474889"/>
            <a:ext cx="2759293" cy="885254"/>
            <a:chOff x="0" y="0"/>
            <a:chExt cx="726694" cy="23317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14300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주소록 목록 추가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486856" y="5474354"/>
            <a:ext cx="2759293" cy="885254"/>
            <a:chOff x="0" y="0"/>
            <a:chExt cx="726694" cy="23317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104775"/>
              <a:ext cx="726694" cy="337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2"/>
                </a:lnSpc>
              </a:pPr>
              <a:r>
                <a:rPr lang="en-US" sz="21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일정 등록</a:t>
              </a:r>
            </a:p>
          </p:txBody>
        </p:sp>
      </p:grpSp>
      <p:sp>
        <p:nvSpPr>
          <p:cNvPr id="21" name="AutoShape 21"/>
          <p:cNvSpPr/>
          <p:nvPr/>
        </p:nvSpPr>
        <p:spPr>
          <a:xfrm>
            <a:off x="6492642" y="3649318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AutoShape 22"/>
          <p:cNvSpPr/>
          <p:nvPr/>
        </p:nvSpPr>
        <p:spPr>
          <a:xfrm>
            <a:off x="10583790" y="3668368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AutoShape 23"/>
          <p:cNvSpPr/>
          <p:nvPr/>
        </p:nvSpPr>
        <p:spPr>
          <a:xfrm flipH="1">
            <a:off x="10583790" y="5916981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AutoShape 24"/>
          <p:cNvSpPr/>
          <p:nvPr/>
        </p:nvSpPr>
        <p:spPr>
          <a:xfrm>
            <a:off x="13064557" y="4311555"/>
            <a:ext cx="0" cy="92467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AutoShape 25"/>
          <p:cNvSpPr/>
          <p:nvPr/>
        </p:nvSpPr>
        <p:spPr>
          <a:xfrm flipH="1">
            <a:off x="6473592" y="5939475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EC4ED4F-3AF5-C10C-D856-C43EE5A01020}"/>
              </a:ext>
            </a:extLst>
          </p:cNvPr>
          <p:cNvSpPr>
            <a:spLocks/>
          </p:cNvSpPr>
          <p:nvPr/>
        </p:nvSpPr>
        <p:spPr>
          <a:xfrm>
            <a:off x="0" y="0"/>
            <a:ext cx="1364366" cy="10287000"/>
          </a:xfrm>
          <a:prstGeom prst="rect">
            <a:avLst/>
          </a:prstGeom>
          <a:solidFill>
            <a:srgbClr val="0B6E6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b"/>
          <a:lstStyle/>
          <a:p>
            <a:pPr algn="just"/>
            <a:r>
              <a:rPr lang="ko-KR" altLang="en-US" sz="6000" dirty="0"/>
              <a:t>　일정관리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1612018" y="426661"/>
          <a:ext cx="15063964" cy="1301164"/>
        </p:xfrm>
        <a:graphic>
          <a:graphicData uri="http://schemas.openxmlformats.org/drawingml/2006/table">
            <a:tbl>
              <a:tblPr/>
              <a:tblGrid>
                <a:gridCol w="2750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1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44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974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0582"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ko-KR" altLang="en-US" sz="2084" b="1" dirty="0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단위 프로세스 </a:t>
                      </a:r>
                      <a:r>
                        <a:rPr lang="en-US" altLang="ko-KR" sz="2084" b="1" dirty="0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ID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UT-A03-002~005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프로세스명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일정 조회/수정/삭제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582"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작성일자</a:t>
                      </a:r>
                      <a:endParaRPr lang="en-US" sz="1100"/>
                    </a:p>
                  </a:txBody>
                  <a:tcPr marL="9525" marR="9525" marT="9525" marB="9525" anchor="ctr">
                    <a:lnL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2025.07.17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작성자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조수빈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" name="Group 3"/>
          <p:cNvGrpSpPr/>
          <p:nvPr/>
        </p:nvGrpSpPr>
        <p:grpSpPr>
          <a:xfrm>
            <a:off x="1612018" y="2465227"/>
            <a:ext cx="2759293" cy="885254"/>
            <a:chOff x="0" y="0"/>
            <a:chExt cx="726694" cy="23317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14300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일정 클릭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701521" y="2465227"/>
            <a:ext cx="2759293" cy="885254"/>
            <a:chOff x="0" y="0"/>
            <a:chExt cx="726694" cy="23317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14300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상세보기 창 출력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791023" y="2465227"/>
            <a:ext cx="2759293" cy="885254"/>
            <a:chOff x="0" y="0"/>
            <a:chExt cx="726694" cy="2331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14300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상세보기 화면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12018" y="4258247"/>
            <a:ext cx="2759293" cy="885254"/>
            <a:chOff x="0" y="0"/>
            <a:chExt cx="726694" cy="23317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14300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삭제 완료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612018" y="6048375"/>
            <a:ext cx="2759293" cy="885254"/>
            <a:chOff x="0" y="0"/>
            <a:chExt cx="726694" cy="23317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14300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완료 알림창 출력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701521" y="4258246"/>
            <a:ext cx="2759293" cy="885254"/>
            <a:chOff x="0" y="0"/>
            <a:chExt cx="726694" cy="23317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104775"/>
              <a:ext cx="726694" cy="337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2"/>
                </a:lnSpc>
              </a:pPr>
              <a:r>
                <a:rPr lang="en-US" sz="21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삭제 버튼 클릭</a:t>
              </a:r>
            </a:p>
          </p:txBody>
        </p:sp>
      </p:grpSp>
      <p:sp>
        <p:nvSpPr>
          <p:cNvPr id="21" name="AutoShape 21"/>
          <p:cNvSpPr/>
          <p:nvPr/>
        </p:nvSpPr>
        <p:spPr>
          <a:xfrm>
            <a:off x="4617804" y="2926904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AutoShape 22"/>
          <p:cNvSpPr/>
          <p:nvPr/>
        </p:nvSpPr>
        <p:spPr>
          <a:xfrm>
            <a:off x="8708952" y="2945954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AutoShape 23"/>
          <p:cNvSpPr/>
          <p:nvPr/>
        </p:nvSpPr>
        <p:spPr>
          <a:xfrm flipH="1">
            <a:off x="4617804" y="4719923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AutoShape 24"/>
          <p:cNvSpPr/>
          <p:nvPr/>
        </p:nvSpPr>
        <p:spPr>
          <a:xfrm flipH="1">
            <a:off x="8708952" y="3589140"/>
            <a:ext cx="1210993" cy="66910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AutoShape 25"/>
          <p:cNvSpPr/>
          <p:nvPr/>
        </p:nvSpPr>
        <p:spPr>
          <a:xfrm flipH="1">
            <a:off x="3010715" y="5400206"/>
            <a:ext cx="0" cy="39146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AutoShape 26"/>
          <p:cNvSpPr/>
          <p:nvPr/>
        </p:nvSpPr>
        <p:spPr>
          <a:xfrm flipH="1">
            <a:off x="11189720" y="3693415"/>
            <a:ext cx="0" cy="39146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27" name="Group 27"/>
          <p:cNvGrpSpPr/>
          <p:nvPr/>
        </p:nvGrpSpPr>
        <p:grpSpPr>
          <a:xfrm>
            <a:off x="9919944" y="4277297"/>
            <a:ext cx="2759293" cy="885254"/>
            <a:chOff x="0" y="0"/>
            <a:chExt cx="726694" cy="23317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114300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수정 버튼 클릭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915437" y="6048375"/>
            <a:ext cx="2759293" cy="885254"/>
            <a:chOff x="0" y="0"/>
            <a:chExt cx="726694" cy="23317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114300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내용 기입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829256" y="7677150"/>
            <a:ext cx="2759293" cy="885254"/>
            <a:chOff x="0" y="0"/>
            <a:chExt cx="726694" cy="23317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114300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완료 알림창 출력</a:t>
              </a:r>
            </a:p>
          </p:txBody>
        </p:sp>
      </p:grpSp>
      <p:sp>
        <p:nvSpPr>
          <p:cNvPr id="36" name="AutoShape 36"/>
          <p:cNvSpPr/>
          <p:nvPr/>
        </p:nvSpPr>
        <p:spPr>
          <a:xfrm flipH="1">
            <a:off x="11337691" y="5400206"/>
            <a:ext cx="0" cy="39146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AutoShape 37"/>
          <p:cNvSpPr/>
          <p:nvPr/>
        </p:nvSpPr>
        <p:spPr>
          <a:xfrm flipH="1">
            <a:off x="8597762" y="6991370"/>
            <a:ext cx="1210993" cy="66910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AutoShape 38"/>
          <p:cNvSpPr/>
          <p:nvPr/>
        </p:nvSpPr>
        <p:spPr>
          <a:xfrm>
            <a:off x="12905968" y="2888804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39" name="Group 39"/>
          <p:cNvGrpSpPr/>
          <p:nvPr/>
        </p:nvGrpSpPr>
        <p:grpSpPr>
          <a:xfrm>
            <a:off x="14095617" y="2484277"/>
            <a:ext cx="2759293" cy="885254"/>
            <a:chOff x="0" y="0"/>
            <a:chExt cx="726694" cy="233172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114300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알림 받기 버튼 클릭</a:t>
              </a:r>
            </a:p>
          </p:txBody>
        </p:sp>
      </p:grpSp>
      <p:sp>
        <p:nvSpPr>
          <p:cNvPr id="42" name="AutoShape 42"/>
          <p:cNvSpPr/>
          <p:nvPr/>
        </p:nvSpPr>
        <p:spPr>
          <a:xfrm flipH="1">
            <a:off x="15494314" y="3589140"/>
            <a:ext cx="0" cy="39146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Group 43"/>
          <p:cNvGrpSpPr/>
          <p:nvPr/>
        </p:nvGrpSpPr>
        <p:grpSpPr>
          <a:xfrm>
            <a:off x="14136563" y="4199679"/>
            <a:ext cx="2759293" cy="885254"/>
            <a:chOff x="0" y="0"/>
            <a:chExt cx="726694" cy="233172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114300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알림</a:t>
              </a:r>
            </a:p>
          </p:txBody>
        </p:sp>
      </p:grp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ED33C2EC-7A0C-C129-3DD5-70B23D16D578}"/>
              </a:ext>
            </a:extLst>
          </p:cNvPr>
          <p:cNvSpPr>
            <a:spLocks/>
          </p:cNvSpPr>
          <p:nvPr/>
        </p:nvSpPr>
        <p:spPr>
          <a:xfrm>
            <a:off x="0" y="0"/>
            <a:ext cx="1364366" cy="10287000"/>
          </a:xfrm>
          <a:prstGeom prst="rect">
            <a:avLst/>
          </a:prstGeom>
          <a:solidFill>
            <a:srgbClr val="0B6E6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b"/>
          <a:lstStyle/>
          <a:p>
            <a:pPr algn="just"/>
            <a:r>
              <a:rPr lang="ko-KR" altLang="en-US" sz="6000" dirty="0"/>
              <a:t>　일정관리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1612018" y="426661"/>
          <a:ext cx="15063964" cy="1301164"/>
        </p:xfrm>
        <a:graphic>
          <a:graphicData uri="http://schemas.openxmlformats.org/drawingml/2006/table">
            <a:tbl>
              <a:tblPr/>
              <a:tblGrid>
                <a:gridCol w="2750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1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44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974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0582"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ko-KR" altLang="en-US" sz="2084" b="1" dirty="0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단위 프로세스 </a:t>
                      </a:r>
                      <a:r>
                        <a:rPr lang="en-US" altLang="ko-KR" sz="2084" b="1" dirty="0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ID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UT-A04-001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프로세스명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업무 대쉬보드 페이지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582"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작성일자</a:t>
                      </a:r>
                      <a:endParaRPr lang="en-US" sz="1100"/>
                    </a:p>
                  </a:txBody>
                  <a:tcPr marL="9525" marR="9525" marT="9525" marB="9525" anchor="ctr">
                    <a:lnL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2025.07.17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작성자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조수빈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" name="Group 3"/>
          <p:cNvGrpSpPr/>
          <p:nvPr/>
        </p:nvGrpSpPr>
        <p:grpSpPr>
          <a:xfrm>
            <a:off x="1904424" y="2413626"/>
            <a:ext cx="2759293" cy="968827"/>
            <a:chOff x="0" y="0"/>
            <a:chExt cx="726694" cy="25518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26694" cy="255185"/>
            </a:xfrm>
            <a:custGeom>
              <a:avLst/>
              <a:gdLst/>
              <a:ahLst/>
              <a:cxnLst/>
              <a:rect l="l" t="t" r="r" b="b"/>
              <a:pathLst>
                <a:path w="726694" h="255185">
                  <a:moveTo>
                    <a:pt x="726694" y="72950"/>
                  </a:moveTo>
                  <a:lnTo>
                    <a:pt x="726694" y="182235"/>
                  </a:lnTo>
                  <a:cubicBezTo>
                    <a:pt x="726694" y="201583"/>
                    <a:pt x="719008" y="220138"/>
                    <a:pt x="705327" y="233818"/>
                  </a:cubicBezTo>
                  <a:cubicBezTo>
                    <a:pt x="691647" y="247499"/>
                    <a:pt x="673092" y="255185"/>
                    <a:pt x="653744" y="255185"/>
                  </a:cubicBezTo>
                  <a:lnTo>
                    <a:pt x="72950" y="255185"/>
                  </a:lnTo>
                  <a:cubicBezTo>
                    <a:pt x="53602" y="255185"/>
                    <a:pt x="35047" y="247499"/>
                    <a:pt x="21367" y="233818"/>
                  </a:cubicBezTo>
                  <a:cubicBezTo>
                    <a:pt x="7686" y="220138"/>
                    <a:pt x="0" y="201583"/>
                    <a:pt x="0" y="182235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 anchor="b"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14300"/>
              <a:ext cx="726694" cy="369485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3861"/>
                </a:lnSpc>
              </a:pPr>
              <a:r>
                <a:rPr lang="en-US" sz="22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업무 대쉬보드</a:t>
              </a:r>
            </a:p>
            <a:p>
              <a:pPr algn="ctr">
                <a:lnSpc>
                  <a:spcPts val="3861"/>
                </a:lnSpc>
              </a:pPr>
              <a:r>
                <a:rPr lang="en-US" sz="22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페이지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993926" y="2413626"/>
            <a:ext cx="2759293" cy="885254"/>
            <a:chOff x="0" y="0"/>
            <a:chExt cx="726694" cy="23317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14300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업무 현황 조회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083429" y="2413626"/>
            <a:ext cx="2759293" cy="885254"/>
            <a:chOff x="0" y="0"/>
            <a:chExt cx="726694" cy="2331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14300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원형 그래프 출력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993926" y="5081027"/>
            <a:ext cx="2759293" cy="968827"/>
            <a:chOff x="0" y="0"/>
            <a:chExt cx="726694" cy="25518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26694" cy="255185"/>
            </a:xfrm>
            <a:custGeom>
              <a:avLst/>
              <a:gdLst/>
              <a:ahLst/>
              <a:cxnLst/>
              <a:rect l="l" t="t" r="r" b="b"/>
              <a:pathLst>
                <a:path w="726694" h="255185">
                  <a:moveTo>
                    <a:pt x="726694" y="72950"/>
                  </a:moveTo>
                  <a:lnTo>
                    <a:pt x="726694" y="182235"/>
                  </a:lnTo>
                  <a:cubicBezTo>
                    <a:pt x="726694" y="201583"/>
                    <a:pt x="719008" y="220138"/>
                    <a:pt x="705327" y="233818"/>
                  </a:cubicBezTo>
                  <a:cubicBezTo>
                    <a:pt x="691647" y="247499"/>
                    <a:pt x="673092" y="255185"/>
                    <a:pt x="653744" y="255185"/>
                  </a:cubicBezTo>
                  <a:lnTo>
                    <a:pt x="72950" y="255185"/>
                  </a:lnTo>
                  <a:cubicBezTo>
                    <a:pt x="53602" y="255185"/>
                    <a:pt x="35047" y="247499"/>
                    <a:pt x="21367" y="233818"/>
                  </a:cubicBezTo>
                  <a:cubicBezTo>
                    <a:pt x="7686" y="220138"/>
                    <a:pt x="0" y="201583"/>
                    <a:pt x="0" y="182235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 anchor="b"/>
            <a:lstStyle/>
            <a:p>
              <a:endParaRPr lang="ko-KR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14300"/>
              <a:ext cx="726694" cy="369485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3861"/>
                </a:lnSpc>
              </a:pPr>
              <a:r>
                <a:rPr lang="en-US" sz="22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나를 언급한 멘션</a:t>
              </a:r>
            </a:p>
            <a:p>
              <a:pPr algn="ctr">
                <a:lnSpc>
                  <a:spcPts val="3861"/>
                </a:lnSpc>
              </a:pPr>
              <a:r>
                <a:rPr lang="en-US" sz="22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목록 확인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4174089" y="2413626"/>
            <a:ext cx="2759293" cy="885254"/>
            <a:chOff x="0" y="0"/>
            <a:chExt cx="726694" cy="23317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14300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업무 진척도 출력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329921" y="5098349"/>
            <a:ext cx="2759293" cy="934182"/>
            <a:chOff x="0" y="0"/>
            <a:chExt cx="726694" cy="24605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26694" cy="246059"/>
            </a:xfrm>
            <a:custGeom>
              <a:avLst/>
              <a:gdLst/>
              <a:ahLst/>
              <a:cxnLst/>
              <a:rect l="l" t="t" r="r" b="b"/>
              <a:pathLst>
                <a:path w="726694" h="246059">
                  <a:moveTo>
                    <a:pt x="726694" y="72950"/>
                  </a:moveTo>
                  <a:lnTo>
                    <a:pt x="726694" y="173110"/>
                  </a:lnTo>
                  <a:cubicBezTo>
                    <a:pt x="726694" y="213399"/>
                    <a:pt x="694033" y="246059"/>
                    <a:pt x="653744" y="246059"/>
                  </a:cubicBezTo>
                  <a:lnTo>
                    <a:pt x="72950" y="246059"/>
                  </a:lnTo>
                  <a:cubicBezTo>
                    <a:pt x="53602" y="246059"/>
                    <a:pt x="35047" y="238374"/>
                    <a:pt x="21367" y="224693"/>
                  </a:cubicBezTo>
                  <a:cubicBezTo>
                    <a:pt x="7686" y="211012"/>
                    <a:pt x="0" y="192457"/>
                    <a:pt x="0" y="173110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 anchor="b"/>
            <a:lstStyle/>
            <a:p>
              <a:endParaRPr lang="ko-KR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104775"/>
              <a:ext cx="726694" cy="350834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3692"/>
                </a:lnSpc>
              </a:pPr>
              <a:r>
                <a:rPr lang="en-US" sz="21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답변 작성된 질문</a:t>
              </a:r>
            </a:p>
            <a:p>
              <a:pPr algn="ctr">
                <a:lnSpc>
                  <a:spcPts val="3692"/>
                </a:lnSpc>
              </a:pPr>
              <a:r>
                <a:rPr lang="en-US" sz="21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목록 확인</a:t>
              </a:r>
            </a:p>
          </p:txBody>
        </p:sp>
      </p:grpSp>
      <p:sp>
        <p:nvSpPr>
          <p:cNvPr id="21" name="AutoShape 21"/>
          <p:cNvSpPr/>
          <p:nvPr/>
        </p:nvSpPr>
        <p:spPr>
          <a:xfrm>
            <a:off x="8772270" y="3382453"/>
            <a:ext cx="1066312" cy="1141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AutoShape 22"/>
          <p:cNvSpPr/>
          <p:nvPr/>
        </p:nvSpPr>
        <p:spPr>
          <a:xfrm>
            <a:off x="4910210" y="2875303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AutoShape 23"/>
          <p:cNvSpPr/>
          <p:nvPr/>
        </p:nvSpPr>
        <p:spPr>
          <a:xfrm>
            <a:off x="9001358" y="2894353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AutoShape 24"/>
          <p:cNvSpPr/>
          <p:nvPr/>
        </p:nvSpPr>
        <p:spPr>
          <a:xfrm>
            <a:off x="13089215" y="2913403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AutoShape 25"/>
          <p:cNvSpPr/>
          <p:nvPr/>
        </p:nvSpPr>
        <p:spPr>
          <a:xfrm>
            <a:off x="7373573" y="3598863"/>
            <a:ext cx="0" cy="92467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411CC12-DB57-F2D8-A0A8-93E9B6B4B5B8}"/>
              </a:ext>
            </a:extLst>
          </p:cNvPr>
          <p:cNvSpPr>
            <a:spLocks/>
          </p:cNvSpPr>
          <p:nvPr/>
        </p:nvSpPr>
        <p:spPr>
          <a:xfrm>
            <a:off x="0" y="0"/>
            <a:ext cx="1364366" cy="10287000"/>
          </a:xfrm>
          <a:prstGeom prst="rect">
            <a:avLst/>
          </a:prstGeom>
          <a:solidFill>
            <a:srgbClr val="0B6E6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b"/>
          <a:lstStyle/>
          <a:p>
            <a:pPr algn="just"/>
            <a:r>
              <a:rPr lang="ko-KR" altLang="en-US" sz="6000" dirty="0"/>
              <a:t>　업무관리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1612018" y="426661"/>
          <a:ext cx="15063964" cy="1301164"/>
        </p:xfrm>
        <a:graphic>
          <a:graphicData uri="http://schemas.openxmlformats.org/drawingml/2006/table">
            <a:tbl>
              <a:tblPr/>
              <a:tblGrid>
                <a:gridCol w="2750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1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44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974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0582"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ko-KR" altLang="en-US" sz="2084" b="1" dirty="0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단위 프로세스 </a:t>
                      </a:r>
                      <a:r>
                        <a:rPr lang="en-US" altLang="ko-KR" sz="2084" b="1" dirty="0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ID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UT-A04-002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프로세스명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업무 제안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582"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작성일자</a:t>
                      </a:r>
                      <a:endParaRPr lang="en-US" sz="1100"/>
                    </a:p>
                  </a:txBody>
                  <a:tcPr marL="9525" marR="9525" marT="9525" marB="9525" anchor="ctr">
                    <a:lnL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2025.07.17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작성자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조수빈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" name="Group 3"/>
          <p:cNvGrpSpPr/>
          <p:nvPr/>
        </p:nvGrpSpPr>
        <p:grpSpPr>
          <a:xfrm>
            <a:off x="1904424" y="2413626"/>
            <a:ext cx="2759293" cy="885254"/>
            <a:chOff x="0" y="0"/>
            <a:chExt cx="726694" cy="23317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14300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업무 요청 버튼 클릭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993926" y="2413626"/>
            <a:ext cx="2759293" cy="885254"/>
            <a:chOff x="0" y="0"/>
            <a:chExt cx="726694" cy="23317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14300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업무 내용 작성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083429" y="2413626"/>
            <a:ext cx="2759293" cy="885254"/>
            <a:chOff x="0" y="0"/>
            <a:chExt cx="726694" cy="2331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14300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업무 추가 버튼 클릭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174089" y="2161773"/>
            <a:ext cx="2759293" cy="1137107"/>
            <a:chOff x="0" y="0"/>
            <a:chExt cx="726694" cy="23317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 anchor="b"/>
            <a:lstStyle/>
            <a:p>
              <a:endParaRPr lang="ko-KR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14300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3861"/>
                </a:lnSpc>
              </a:pPr>
              <a:r>
                <a:rPr lang="en-US" sz="22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새 </a:t>
              </a: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화면에서</a:t>
              </a:r>
              <a:r>
                <a:rPr lang="en-US" sz="22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업무</a:t>
              </a:r>
              <a:r>
                <a:rPr lang="en-US" sz="22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</a:p>
            <a:p>
              <a:pPr algn="ctr">
                <a:lnSpc>
                  <a:spcPts val="3861"/>
                </a:lnSpc>
              </a:pP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입력</a:t>
              </a:r>
              <a:endParaRPr lang="en-US" sz="2284" dirty="0">
                <a:solidFill>
                  <a:srgbClr val="F1F1F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</p:txBody>
        </p:sp>
      </p:grpSp>
      <p:sp>
        <p:nvSpPr>
          <p:cNvPr id="15" name="AutoShape 15"/>
          <p:cNvSpPr/>
          <p:nvPr/>
        </p:nvSpPr>
        <p:spPr>
          <a:xfrm>
            <a:off x="4910210" y="2875303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AutoShape 16"/>
          <p:cNvSpPr/>
          <p:nvPr/>
        </p:nvSpPr>
        <p:spPr>
          <a:xfrm>
            <a:off x="9001358" y="2894353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AutoShape 17"/>
          <p:cNvSpPr/>
          <p:nvPr/>
        </p:nvSpPr>
        <p:spPr>
          <a:xfrm>
            <a:off x="13089215" y="2913403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AutoShape 18"/>
          <p:cNvSpPr/>
          <p:nvPr/>
        </p:nvSpPr>
        <p:spPr>
          <a:xfrm>
            <a:off x="7373573" y="3598863"/>
            <a:ext cx="0" cy="92467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9" name="Group 19"/>
          <p:cNvGrpSpPr/>
          <p:nvPr/>
        </p:nvGrpSpPr>
        <p:grpSpPr>
          <a:xfrm>
            <a:off x="14178050" y="4966164"/>
            <a:ext cx="2759293" cy="885254"/>
            <a:chOff x="0" y="0"/>
            <a:chExt cx="726694" cy="23317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114300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업무 내용 저장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12976" y="4966164"/>
            <a:ext cx="2759293" cy="968827"/>
            <a:chOff x="0" y="0"/>
            <a:chExt cx="726694" cy="25518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26694" cy="255185"/>
            </a:xfrm>
            <a:custGeom>
              <a:avLst/>
              <a:gdLst/>
              <a:ahLst/>
              <a:cxnLst/>
              <a:rect l="l" t="t" r="r" b="b"/>
              <a:pathLst>
                <a:path w="726694" h="255185">
                  <a:moveTo>
                    <a:pt x="726694" y="72950"/>
                  </a:moveTo>
                  <a:lnTo>
                    <a:pt x="726694" y="182235"/>
                  </a:lnTo>
                  <a:cubicBezTo>
                    <a:pt x="726694" y="201583"/>
                    <a:pt x="719008" y="220138"/>
                    <a:pt x="705327" y="233818"/>
                  </a:cubicBezTo>
                  <a:cubicBezTo>
                    <a:pt x="691647" y="247499"/>
                    <a:pt x="673092" y="255185"/>
                    <a:pt x="653744" y="255185"/>
                  </a:cubicBezTo>
                  <a:lnTo>
                    <a:pt x="72950" y="255185"/>
                  </a:lnTo>
                  <a:cubicBezTo>
                    <a:pt x="53602" y="255185"/>
                    <a:pt x="35047" y="247499"/>
                    <a:pt x="21367" y="233818"/>
                  </a:cubicBezTo>
                  <a:cubicBezTo>
                    <a:pt x="7686" y="220138"/>
                    <a:pt x="0" y="201583"/>
                    <a:pt x="0" y="182235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 anchor="b"/>
            <a:lstStyle/>
            <a:p>
              <a:endParaRPr lang="ko-KR" alt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114300"/>
              <a:ext cx="726694" cy="369485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3861"/>
                </a:lnSpc>
              </a:pPr>
              <a:r>
                <a:rPr lang="en-US" sz="22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업무 요청 부서 지정</a:t>
              </a:r>
            </a:p>
            <a:p>
              <a:pPr algn="ctr">
                <a:lnSpc>
                  <a:spcPts val="3861"/>
                </a:lnSpc>
              </a:pPr>
              <a:r>
                <a:rPr lang="en-US" sz="22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버튼 클릭</a:t>
              </a:r>
            </a:p>
          </p:txBody>
        </p:sp>
      </p:grpSp>
      <p:sp>
        <p:nvSpPr>
          <p:cNvPr id="25" name="AutoShape 25"/>
          <p:cNvSpPr/>
          <p:nvPr/>
        </p:nvSpPr>
        <p:spPr>
          <a:xfrm>
            <a:off x="7411673" y="6296914"/>
            <a:ext cx="0" cy="92467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26" name="Group 26"/>
          <p:cNvGrpSpPr/>
          <p:nvPr/>
        </p:nvGrpSpPr>
        <p:grpSpPr>
          <a:xfrm>
            <a:off x="5993926" y="7583538"/>
            <a:ext cx="2759293" cy="885254"/>
            <a:chOff x="0" y="0"/>
            <a:chExt cx="726694" cy="23317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114300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승인 대기 상태</a:t>
              </a:r>
            </a:p>
          </p:txBody>
        </p:sp>
      </p:grpSp>
      <p:sp>
        <p:nvSpPr>
          <p:cNvPr id="29" name="AutoShape 29"/>
          <p:cNvSpPr/>
          <p:nvPr/>
        </p:nvSpPr>
        <p:spPr>
          <a:xfrm flipH="1">
            <a:off x="9144000" y="5408791"/>
            <a:ext cx="47864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30" name="Group 30"/>
          <p:cNvGrpSpPr/>
          <p:nvPr/>
        </p:nvGrpSpPr>
        <p:grpSpPr>
          <a:xfrm>
            <a:off x="10086232" y="7583538"/>
            <a:ext cx="2759293" cy="885254"/>
            <a:chOff x="0" y="0"/>
            <a:chExt cx="726694" cy="23317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114300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업무 요청 완료</a:t>
              </a:r>
            </a:p>
          </p:txBody>
        </p:sp>
      </p:grpSp>
      <p:sp>
        <p:nvSpPr>
          <p:cNvPr id="33" name="AutoShape 33"/>
          <p:cNvSpPr/>
          <p:nvPr/>
        </p:nvSpPr>
        <p:spPr>
          <a:xfrm>
            <a:off x="9001358" y="8026165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AutoShape 34"/>
          <p:cNvSpPr/>
          <p:nvPr/>
        </p:nvSpPr>
        <p:spPr>
          <a:xfrm>
            <a:off x="13093175" y="8026165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35" name="Group 35"/>
          <p:cNvGrpSpPr/>
          <p:nvPr/>
        </p:nvGrpSpPr>
        <p:grpSpPr>
          <a:xfrm>
            <a:off x="14178050" y="7583538"/>
            <a:ext cx="2759293" cy="885254"/>
            <a:chOff x="0" y="0"/>
            <a:chExt cx="726694" cy="23317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114300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알림 발송</a:t>
              </a:r>
            </a:p>
          </p:txBody>
        </p:sp>
      </p:grpSp>
      <p:sp>
        <p:nvSpPr>
          <p:cNvPr id="38" name="AutoShape 38"/>
          <p:cNvSpPr/>
          <p:nvPr/>
        </p:nvSpPr>
        <p:spPr>
          <a:xfrm>
            <a:off x="15557696" y="3670185"/>
            <a:ext cx="0" cy="92467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68001C5E-F0F9-6930-E0B2-5B767B8B4212}"/>
              </a:ext>
            </a:extLst>
          </p:cNvPr>
          <p:cNvSpPr>
            <a:spLocks/>
          </p:cNvSpPr>
          <p:nvPr/>
        </p:nvSpPr>
        <p:spPr>
          <a:xfrm>
            <a:off x="0" y="0"/>
            <a:ext cx="1364366" cy="10287000"/>
          </a:xfrm>
          <a:prstGeom prst="rect">
            <a:avLst/>
          </a:prstGeom>
          <a:solidFill>
            <a:srgbClr val="0B6E6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b"/>
          <a:lstStyle/>
          <a:p>
            <a:pPr algn="just"/>
            <a:r>
              <a:rPr lang="ko-KR" altLang="en-US" sz="6000" dirty="0"/>
              <a:t>　업무관리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1612018" y="426661"/>
          <a:ext cx="15063964" cy="1301164"/>
        </p:xfrm>
        <a:graphic>
          <a:graphicData uri="http://schemas.openxmlformats.org/drawingml/2006/table">
            <a:tbl>
              <a:tblPr/>
              <a:tblGrid>
                <a:gridCol w="2750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1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44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974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0582"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ko-KR" altLang="en-US" sz="2084" b="1" dirty="0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단위 프로세스 </a:t>
                      </a:r>
                      <a:r>
                        <a:rPr lang="en-US" altLang="ko-KR" sz="2084" b="1" dirty="0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ID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UT-A04-003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프로세스명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업무 등록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582"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작성일자</a:t>
                      </a:r>
                      <a:endParaRPr lang="en-US" sz="1100"/>
                    </a:p>
                  </a:txBody>
                  <a:tcPr marL="9525" marR="9525" marT="9525" marB="9525" anchor="ctr">
                    <a:lnL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2025.07.17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작성자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 err="1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조수빈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" name="Group 3"/>
          <p:cNvGrpSpPr/>
          <p:nvPr/>
        </p:nvGrpSpPr>
        <p:grpSpPr>
          <a:xfrm>
            <a:off x="1904424" y="2413626"/>
            <a:ext cx="2759293" cy="885254"/>
            <a:chOff x="0" y="0"/>
            <a:chExt cx="726694" cy="23317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14300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업무 등록 버튼 클릭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993926" y="2413626"/>
            <a:ext cx="2759293" cy="885254"/>
            <a:chOff x="0" y="0"/>
            <a:chExt cx="726694" cy="23317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14300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업무 내용 작성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083429" y="2413626"/>
            <a:ext cx="2759293" cy="885254"/>
            <a:chOff x="0" y="0"/>
            <a:chExt cx="726694" cy="2331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14300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업무 추가 버튼 클릭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174089" y="1943890"/>
            <a:ext cx="2759293" cy="1370810"/>
            <a:chOff x="0" y="-82219"/>
            <a:chExt cx="726694" cy="31539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 anchor="b"/>
            <a:lstStyle/>
            <a:p>
              <a:endParaRPr lang="ko-KR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82219"/>
              <a:ext cx="726694" cy="315391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3861"/>
                </a:lnSpc>
              </a:pPr>
              <a:r>
                <a:rPr lang="en-US" sz="22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새 </a:t>
              </a: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화면에서</a:t>
              </a:r>
              <a:r>
                <a:rPr lang="en-US" sz="22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업무</a:t>
              </a:r>
              <a:r>
                <a:rPr lang="en-US" sz="22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</a:p>
            <a:p>
              <a:pPr algn="ctr">
                <a:lnSpc>
                  <a:spcPts val="3861"/>
                </a:lnSpc>
              </a:pP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입력</a:t>
              </a:r>
              <a:endParaRPr lang="en-US" sz="2284" dirty="0">
                <a:solidFill>
                  <a:srgbClr val="F1F1F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</p:txBody>
        </p:sp>
      </p:grpSp>
      <p:sp>
        <p:nvSpPr>
          <p:cNvPr id="15" name="AutoShape 15"/>
          <p:cNvSpPr/>
          <p:nvPr/>
        </p:nvSpPr>
        <p:spPr>
          <a:xfrm>
            <a:off x="4910210" y="2875303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AutoShape 16"/>
          <p:cNvSpPr/>
          <p:nvPr/>
        </p:nvSpPr>
        <p:spPr>
          <a:xfrm>
            <a:off x="9001358" y="2894353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AutoShape 17"/>
          <p:cNvSpPr/>
          <p:nvPr/>
        </p:nvSpPr>
        <p:spPr>
          <a:xfrm>
            <a:off x="13089215" y="2913403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AutoShape 18"/>
          <p:cNvSpPr/>
          <p:nvPr/>
        </p:nvSpPr>
        <p:spPr>
          <a:xfrm>
            <a:off x="7392623" y="3532188"/>
            <a:ext cx="0" cy="4820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9" name="Group 19"/>
          <p:cNvGrpSpPr/>
          <p:nvPr/>
        </p:nvGrpSpPr>
        <p:grpSpPr>
          <a:xfrm>
            <a:off x="14178050" y="4213056"/>
            <a:ext cx="2759293" cy="885254"/>
            <a:chOff x="0" y="0"/>
            <a:chExt cx="726694" cy="23317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114300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업무 내용 저장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12976" y="4258247"/>
            <a:ext cx="2759293" cy="885254"/>
            <a:chOff x="0" y="0"/>
            <a:chExt cx="726694" cy="23317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114300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단계 추가 버튼 클릭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12976" y="6220322"/>
            <a:ext cx="2759293" cy="885254"/>
            <a:chOff x="0" y="0"/>
            <a:chExt cx="726694" cy="23317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114300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담당자 지정</a:t>
              </a:r>
            </a:p>
          </p:txBody>
        </p:sp>
      </p:grpSp>
      <p:sp>
        <p:nvSpPr>
          <p:cNvPr id="28" name="AutoShape 28"/>
          <p:cNvSpPr/>
          <p:nvPr/>
        </p:nvSpPr>
        <p:spPr>
          <a:xfrm>
            <a:off x="9144000" y="6662949"/>
            <a:ext cx="4782439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Group 29"/>
          <p:cNvGrpSpPr/>
          <p:nvPr/>
        </p:nvGrpSpPr>
        <p:grpSpPr>
          <a:xfrm>
            <a:off x="14174089" y="6193641"/>
            <a:ext cx="2759293" cy="885254"/>
            <a:chOff x="0" y="0"/>
            <a:chExt cx="726694" cy="23317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114300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업무 등록 완료</a:t>
              </a:r>
            </a:p>
          </p:txBody>
        </p:sp>
      </p:grpSp>
      <p:sp>
        <p:nvSpPr>
          <p:cNvPr id="32" name="AutoShape 32"/>
          <p:cNvSpPr/>
          <p:nvPr/>
        </p:nvSpPr>
        <p:spPr>
          <a:xfrm>
            <a:off x="15538646" y="3514944"/>
            <a:ext cx="0" cy="4820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AutoShape 33"/>
          <p:cNvSpPr/>
          <p:nvPr/>
        </p:nvSpPr>
        <p:spPr>
          <a:xfrm flipH="1">
            <a:off x="9144000" y="4636632"/>
            <a:ext cx="47864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AutoShape 34"/>
          <p:cNvSpPr/>
          <p:nvPr/>
        </p:nvSpPr>
        <p:spPr>
          <a:xfrm>
            <a:off x="7411673" y="5370222"/>
            <a:ext cx="0" cy="4820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AutoShape 35"/>
          <p:cNvSpPr/>
          <p:nvPr/>
        </p:nvSpPr>
        <p:spPr>
          <a:xfrm>
            <a:off x="15519596" y="5370222"/>
            <a:ext cx="0" cy="4820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AutoShape 36"/>
          <p:cNvSpPr/>
          <p:nvPr/>
        </p:nvSpPr>
        <p:spPr>
          <a:xfrm>
            <a:off x="15576746" y="7380259"/>
            <a:ext cx="0" cy="4820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37" name="Group 37"/>
          <p:cNvGrpSpPr/>
          <p:nvPr/>
        </p:nvGrpSpPr>
        <p:grpSpPr>
          <a:xfrm>
            <a:off x="14139950" y="8373047"/>
            <a:ext cx="2759293" cy="885254"/>
            <a:chOff x="0" y="0"/>
            <a:chExt cx="726694" cy="233172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114300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알림 발송</a:t>
              </a:r>
            </a:p>
          </p:txBody>
        </p:sp>
      </p:grp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972A7069-423B-FF0B-2959-F005C06BF40A}"/>
              </a:ext>
            </a:extLst>
          </p:cNvPr>
          <p:cNvSpPr>
            <a:spLocks/>
          </p:cNvSpPr>
          <p:nvPr/>
        </p:nvSpPr>
        <p:spPr>
          <a:xfrm>
            <a:off x="0" y="0"/>
            <a:ext cx="1364366" cy="10287000"/>
          </a:xfrm>
          <a:prstGeom prst="rect">
            <a:avLst/>
          </a:prstGeom>
          <a:solidFill>
            <a:srgbClr val="0B6E6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b"/>
          <a:lstStyle/>
          <a:p>
            <a:pPr algn="just"/>
            <a:r>
              <a:rPr lang="ko-KR" altLang="en-US" sz="6000" dirty="0"/>
              <a:t>　업무관리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1923778"/>
              </p:ext>
            </p:extLst>
          </p:nvPr>
        </p:nvGraphicFramePr>
        <p:xfrm>
          <a:off x="1612018" y="426661"/>
          <a:ext cx="15063964" cy="1301164"/>
        </p:xfrm>
        <a:graphic>
          <a:graphicData uri="http://schemas.openxmlformats.org/drawingml/2006/table">
            <a:tbl>
              <a:tblPr/>
              <a:tblGrid>
                <a:gridCol w="2750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1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44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974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0582"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ko-KR" altLang="en-US" sz="2084" b="1" dirty="0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단위 프로세스 </a:t>
                      </a:r>
                      <a:r>
                        <a:rPr lang="en-US" altLang="ko-KR" sz="2084" b="1" dirty="0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ID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UT-A04-004~6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프로세스명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업무 목록/상세/수정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582"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작성일자</a:t>
                      </a:r>
                      <a:endParaRPr lang="en-US" sz="1100"/>
                    </a:p>
                  </a:txBody>
                  <a:tcPr marL="9525" marR="9525" marT="9525" marB="9525" anchor="ctr">
                    <a:lnL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2025.07.17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작성자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 err="1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조수빈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" name="Group 3"/>
          <p:cNvGrpSpPr/>
          <p:nvPr/>
        </p:nvGrpSpPr>
        <p:grpSpPr>
          <a:xfrm>
            <a:off x="1904424" y="2144859"/>
            <a:ext cx="2771580" cy="1319202"/>
            <a:chOff x="0" y="-70792"/>
            <a:chExt cx="729930" cy="34747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236" y="-70792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업무</a:t>
              </a:r>
              <a:r>
                <a:rPr lang="en-US" sz="22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목록</a:t>
              </a:r>
              <a:r>
                <a:rPr lang="en-US" sz="22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버튼</a:t>
              </a:r>
              <a:r>
                <a:rPr lang="en-US" sz="22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클릭</a:t>
              </a:r>
              <a:endParaRPr lang="en-US" sz="2284" dirty="0">
                <a:solidFill>
                  <a:srgbClr val="F1F1F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993926" y="2144859"/>
            <a:ext cx="2773228" cy="1319202"/>
            <a:chOff x="0" y="-70792"/>
            <a:chExt cx="730364" cy="34747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670" y="-70792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업무</a:t>
              </a:r>
              <a:r>
                <a:rPr lang="en-US" sz="22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클릭</a:t>
              </a:r>
              <a:endParaRPr lang="en-US" sz="2284" dirty="0">
                <a:solidFill>
                  <a:srgbClr val="F1F1F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120300" y="2362744"/>
            <a:ext cx="2759293" cy="1101318"/>
            <a:chOff x="0" y="0"/>
            <a:chExt cx="726694" cy="2331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 anchor="b"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14300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3861"/>
                </a:lnSpc>
              </a:pP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업무</a:t>
              </a:r>
              <a:r>
                <a:rPr lang="en-US" sz="22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상세정보</a:t>
              </a:r>
              <a:r>
                <a:rPr lang="en-US" sz="22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창 </a:t>
              </a:r>
            </a:p>
            <a:p>
              <a:pPr algn="ctr">
                <a:lnSpc>
                  <a:spcPts val="3861"/>
                </a:lnSpc>
              </a:pP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출력</a:t>
              </a:r>
              <a:endParaRPr lang="en-US" sz="2284" dirty="0">
                <a:solidFill>
                  <a:srgbClr val="F1F1F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174089" y="2169689"/>
            <a:ext cx="2759293" cy="1319202"/>
            <a:chOff x="0" y="-64252"/>
            <a:chExt cx="726694" cy="34747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64252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업무</a:t>
              </a:r>
              <a:r>
                <a:rPr lang="en-US" sz="22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수정</a:t>
              </a:r>
              <a:r>
                <a:rPr lang="en-US" sz="22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버튼</a:t>
              </a:r>
              <a:r>
                <a:rPr lang="en-US" sz="22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클릭</a:t>
              </a:r>
              <a:endParaRPr lang="en-US" sz="2284" dirty="0">
                <a:solidFill>
                  <a:srgbClr val="F1F1F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</p:txBody>
        </p:sp>
      </p:grpSp>
      <p:sp>
        <p:nvSpPr>
          <p:cNvPr id="15" name="AutoShape 15"/>
          <p:cNvSpPr/>
          <p:nvPr/>
        </p:nvSpPr>
        <p:spPr>
          <a:xfrm>
            <a:off x="4910210" y="2875303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AutoShape 16"/>
          <p:cNvSpPr/>
          <p:nvPr/>
        </p:nvSpPr>
        <p:spPr>
          <a:xfrm>
            <a:off x="9001358" y="2894353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AutoShape 17"/>
          <p:cNvSpPr/>
          <p:nvPr/>
        </p:nvSpPr>
        <p:spPr>
          <a:xfrm>
            <a:off x="13089215" y="2913403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8" name="Group 18"/>
          <p:cNvGrpSpPr/>
          <p:nvPr/>
        </p:nvGrpSpPr>
        <p:grpSpPr>
          <a:xfrm>
            <a:off x="14139950" y="3955603"/>
            <a:ext cx="2797393" cy="1319202"/>
            <a:chOff x="-10034" y="-67812"/>
            <a:chExt cx="736728" cy="34747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-10034" y="-67812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내용</a:t>
              </a:r>
              <a:r>
                <a:rPr lang="en-US" sz="22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기입</a:t>
              </a:r>
              <a:endParaRPr lang="en-US" sz="2284" dirty="0">
                <a:solidFill>
                  <a:srgbClr val="F1F1F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4174089" y="5931530"/>
            <a:ext cx="2759293" cy="1319202"/>
            <a:chOff x="0" y="-69039"/>
            <a:chExt cx="726694" cy="34747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69039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수정</a:t>
              </a:r>
              <a:r>
                <a:rPr lang="en-US" sz="22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완료</a:t>
              </a:r>
              <a:endParaRPr lang="en-US" sz="2284" dirty="0">
                <a:solidFill>
                  <a:srgbClr val="F1F1F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</p:txBody>
        </p:sp>
      </p:grpSp>
      <p:sp>
        <p:nvSpPr>
          <p:cNvPr id="24" name="AutoShape 24"/>
          <p:cNvSpPr/>
          <p:nvPr/>
        </p:nvSpPr>
        <p:spPr>
          <a:xfrm>
            <a:off x="15538646" y="3514944"/>
            <a:ext cx="0" cy="4820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AutoShape 25"/>
          <p:cNvSpPr/>
          <p:nvPr/>
        </p:nvSpPr>
        <p:spPr>
          <a:xfrm>
            <a:off x="15519596" y="5370222"/>
            <a:ext cx="0" cy="4820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AutoShape 26"/>
          <p:cNvSpPr/>
          <p:nvPr/>
        </p:nvSpPr>
        <p:spPr>
          <a:xfrm>
            <a:off x="15576746" y="7380259"/>
            <a:ext cx="0" cy="4820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27" name="Group 27"/>
          <p:cNvGrpSpPr/>
          <p:nvPr/>
        </p:nvGrpSpPr>
        <p:grpSpPr>
          <a:xfrm>
            <a:off x="14197100" y="7952211"/>
            <a:ext cx="2786332" cy="1319202"/>
            <a:chOff x="0" y="-66638"/>
            <a:chExt cx="733815" cy="34747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121" y="-66638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완료</a:t>
              </a:r>
              <a:r>
                <a:rPr lang="en-US" sz="22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알림창</a:t>
              </a:r>
              <a:r>
                <a:rPr lang="en-US" sz="22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출력</a:t>
              </a:r>
              <a:endParaRPr lang="en-US" sz="2284" dirty="0">
                <a:solidFill>
                  <a:srgbClr val="F1F1F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07AAB76-B4C3-B81B-0C0F-EF00695AD58B}"/>
              </a:ext>
            </a:extLst>
          </p:cNvPr>
          <p:cNvSpPr>
            <a:spLocks/>
          </p:cNvSpPr>
          <p:nvPr/>
        </p:nvSpPr>
        <p:spPr>
          <a:xfrm>
            <a:off x="0" y="0"/>
            <a:ext cx="1364366" cy="10287000"/>
          </a:xfrm>
          <a:prstGeom prst="rect">
            <a:avLst/>
          </a:prstGeom>
          <a:solidFill>
            <a:srgbClr val="0B6E6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b"/>
          <a:lstStyle/>
          <a:p>
            <a:pPr algn="just"/>
            <a:r>
              <a:rPr lang="ko-KR" altLang="en-US" sz="6000" dirty="0"/>
              <a:t>　업무관리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1612018" y="426661"/>
          <a:ext cx="15063964" cy="1301164"/>
        </p:xfrm>
        <a:graphic>
          <a:graphicData uri="http://schemas.openxmlformats.org/drawingml/2006/table">
            <a:tbl>
              <a:tblPr/>
              <a:tblGrid>
                <a:gridCol w="2750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1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44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974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0582"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ko-KR" altLang="en-US" sz="2084" b="1" dirty="0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단위 프로세스 </a:t>
                      </a:r>
                      <a:r>
                        <a:rPr lang="en-US" altLang="ko-KR" sz="2084" b="1" dirty="0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ID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UT-A04-012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프로세스명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웹 오피스 페이지 구현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582"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작성일자</a:t>
                      </a:r>
                      <a:endParaRPr lang="en-US" sz="1100"/>
                    </a:p>
                  </a:txBody>
                  <a:tcPr marL="9525" marR="9525" marT="9525" marB="9525" anchor="ctr">
                    <a:lnL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2025.07.17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작성자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조수빈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" name="Group 3"/>
          <p:cNvGrpSpPr/>
          <p:nvPr/>
        </p:nvGrpSpPr>
        <p:grpSpPr>
          <a:xfrm>
            <a:off x="1904424" y="2429446"/>
            <a:ext cx="2759293" cy="885254"/>
            <a:chOff x="0" y="0"/>
            <a:chExt cx="726694" cy="23317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 anchor="b"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14300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3861"/>
                </a:lnSpc>
              </a:pPr>
              <a:r>
                <a:rPr lang="en-US" sz="22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마이 오피스 메뉴 선택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993926" y="2413626"/>
            <a:ext cx="2759293" cy="885254"/>
            <a:chOff x="0" y="0"/>
            <a:chExt cx="726694" cy="23317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14300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작성 파일 목록 출력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083429" y="2413626"/>
            <a:ext cx="2759293" cy="885254"/>
            <a:chOff x="0" y="0"/>
            <a:chExt cx="726694" cy="2331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14300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파일 선택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174089" y="2413626"/>
            <a:ext cx="2759293" cy="885254"/>
            <a:chOff x="0" y="0"/>
            <a:chExt cx="726694" cy="23317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14300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파일 작성 화면 이동</a:t>
              </a:r>
            </a:p>
          </p:txBody>
        </p:sp>
      </p:grpSp>
      <p:sp>
        <p:nvSpPr>
          <p:cNvPr id="15" name="AutoShape 15"/>
          <p:cNvSpPr/>
          <p:nvPr/>
        </p:nvSpPr>
        <p:spPr>
          <a:xfrm>
            <a:off x="4910210" y="2875303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AutoShape 16"/>
          <p:cNvSpPr/>
          <p:nvPr/>
        </p:nvSpPr>
        <p:spPr>
          <a:xfrm>
            <a:off x="9001358" y="2894353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AutoShape 17"/>
          <p:cNvSpPr/>
          <p:nvPr/>
        </p:nvSpPr>
        <p:spPr>
          <a:xfrm>
            <a:off x="13089215" y="2913403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8" name="Group 18"/>
          <p:cNvGrpSpPr/>
          <p:nvPr/>
        </p:nvGrpSpPr>
        <p:grpSpPr>
          <a:xfrm>
            <a:off x="14178050" y="4213056"/>
            <a:ext cx="2759293" cy="885254"/>
            <a:chOff x="0" y="0"/>
            <a:chExt cx="726694" cy="23317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114300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작성 버튼 클릭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105282" y="4213056"/>
            <a:ext cx="2759293" cy="885254"/>
            <a:chOff x="0" y="0"/>
            <a:chExt cx="726694" cy="23317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114300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삭제 버튼 클릭</a:t>
              </a:r>
            </a:p>
          </p:txBody>
        </p:sp>
      </p:grpSp>
      <p:sp>
        <p:nvSpPr>
          <p:cNvPr id="24" name="AutoShape 24"/>
          <p:cNvSpPr/>
          <p:nvPr/>
        </p:nvSpPr>
        <p:spPr>
          <a:xfrm>
            <a:off x="15538646" y="3514944"/>
            <a:ext cx="0" cy="4820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25" name="Group 25"/>
          <p:cNvGrpSpPr/>
          <p:nvPr/>
        </p:nvGrpSpPr>
        <p:grpSpPr>
          <a:xfrm>
            <a:off x="10083429" y="7904954"/>
            <a:ext cx="2759293" cy="885254"/>
            <a:chOff x="0" y="0"/>
            <a:chExt cx="726694" cy="23317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114300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저장 완료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031539" y="4213056"/>
            <a:ext cx="2759293" cy="885254"/>
            <a:chOff x="0" y="0"/>
            <a:chExt cx="726694" cy="23317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114300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삭제 완료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4195942" y="6105525"/>
            <a:ext cx="2759293" cy="885254"/>
            <a:chOff x="0" y="0"/>
            <a:chExt cx="726694" cy="23317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114300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내용 기입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4199903" y="7904954"/>
            <a:ext cx="2759293" cy="885254"/>
            <a:chOff x="0" y="0"/>
            <a:chExt cx="726694" cy="23317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114300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저장 버튼 클릭</a:t>
              </a:r>
            </a:p>
          </p:txBody>
        </p:sp>
      </p:grpSp>
      <p:sp>
        <p:nvSpPr>
          <p:cNvPr id="37" name="AutoShape 37"/>
          <p:cNvSpPr/>
          <p:nvPr/>
        </p:nvSpPr>
        <p:spPr>
          <a:xfrm>
            <a:off x="15560500" y="7206843"/>
            <a:ext cx="0" cy="4820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AutoShape 38"/>
          <p:cNvSpPr/>
          <p:nvPr/>
        </p:nvSpPr>
        <p:spPr>
          <a:xfrm>
            <a:off x="15598600" y="5360893"/>
            <a:ext cx="0" cy="4820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AutoShape 39"/>
          <p:cNvSpPr/>
          <p:nvPr/>
        </p:nvSpPr>
        <p:spPr>
          <a:xfrm flipH="1">
            <a:off x="13102700" y="4674732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AutoShape 40"/>
          <p:cNvSpPr/>
          <p:nvPr/>
        </p:nvSpPr>
        <p:spPr>
          <a:xfrm flipH="1">
            <a:off x="9029445" y="4636632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AutoShape 41"/>
          <p:cNvSpPr/>
          <p:nvPr/>
        </p:nvSpPr>
        <p:spPr>
          <a:xfrm flipH="1">
            <a:off x="13102700" y="8366631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0808F5A9-F83A-1902-E26A-643719A473D2}"/>
              </a:ext>
            </a:extLst>
          </p:cNvPr>
          <p:cNvSpPr>
            <a:spLocks/>
          </p:cNvSpPr>
          <p:nvPr/>
        </p:nvSpPr>
        <p:spPr>
          <a:xfrm>
            <a:off x="0" y="0"/>
            <a:ext cx="1364366" cy="10287000"/>
          </a:xfrm>
          <a:prstGeom prst="rect">
            <a:avLst/>
          </a:prstGeom>
          <a:solidFill>
            <a:srgbClr val="0B6E6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b"/>
          <a:lstStyle/>
          <a:p>
            <a:pPr algn="just"/>
            <a:r>
              <a:rPr lang="ko-KR" altLang="en-US" sz="6000" dirty="0"/>
              <a:t>　업무관리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1612018" y="426661"/>
          <a:ext cx="15063964" cy="1329740"/>
        </p:xfrm>
        <a:graphic>
          <a:graphicData uri="http://schemas.openxmlformats.org/drawingml/2006/table">
            <a:tbl>
              <a:tblPr/>
              <a:tblGrid>
                <a:gridCol w="2750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1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44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974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0479"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ko-KR" altLang="en-US" sz="2084" b="1" dirty="0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단위 프로세스 </a:t>
                      </a:r>
                      <a:r>
                        <a:rPr lang="en-US" altLang="ko-KR" sz="2084" b="1" dirty="0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ID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UT-A05-013~019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프로세스명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전자결재 대쉬보드/문서함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9261"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작성일자</a:t>
                      </a:r>
                      <a:endParaRPr lang="en-US" sz="1100"/>
                    </a:p>
                  </a:txBody>
                  <a:tcPr marL="9525" marR="9525" marT="9525" marB="9525" anchor="ctr">
                    <a:lnL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2025.07.17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작성자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이세진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" name="Group 3"/>
          <p:cNvGrpSpPr/>
          <p:nvPr/>
        </p:nvGrpSpPr>
        <p:grpSpPr>
          <a:xfrm>
            <a:off x="1904424" y="2413626"/>
            <a:ext cx="2759293" cy="934182"/>
            <a:chOff x="0" y="0"/>
            <a:chExt cx="726694" cy="24605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26694" cy="246059"/>
            </a:xfrm>
            <a:custGeom>
              <a:avLst/>
              <a:gdLst/>
              <a:ahLst/>
              <a:cxnLst/>
              <a:rect l="l" t="t" r="r" b="b"/>
              <a:pathLst>
                <a:path w="726694" h="246059">
                  <a:moveTo>
                    <a:pt x="726694" y="72950"/>
                  </a:moveTo>
                  <a:lnTo>
                    <a:pt x="726694" y="173110"/>
                  </a:lnTo>
                  <a:cubicBezTo>
                    <a:pt x="726694" y="213399"/>
                    <a:pt x="694033" y="246059"/>
                    <a:pt x="653744" y="246059"/>
                  </a:cubicBezTo>
                  <a:lnTo>
                    <a:pt x="72950" y="246059"/>
                  </a:lnTo>
                  <a:cubicBezTo>
                    <a:pt x="53602" y="246059"/>
                    <a:pt x="35047" y="238374"/>
                    <a:pt x="21367" y="224693"/>
                  </a:cubicBezTo>
                  <a:cubicBezTo>
                    <a:pt x="7686" y="211012"/>
                    <a:pt x="0" y="192457"/>
                    <a:pt x="0" y="173110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 anchor="b"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04775"/>
              <a:ext cx="726694" cy="350834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3692"/>
                </a:lnSpc>
              </a:pPr>
              <a:r>
                <a:rPr lang="en-US" sz="21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전자결재 대쉬보드</a:t>
              </a:r>
            </a:p>
            <a:p>
              <a:pPr algn="ctr">
                <a:lnSpc>
                  <a:spcPts val="3692"/>
                </a:lnSpc>
              </a:pPr>
              <a:r>
                <a:rPr lang="en-US" sz="21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페이지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992769" y="2305604"/>
            <a:ext cx="2759293" cy="1101297"/>
            <a:chOff x="0" y="0"/>
            <a:chExt cx="726694" cy="23317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 anchor="b"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14300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3861"/>
                </a:lnSpc>
              </a:pP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문서함</a:t>
              </a:r>
              <a:r>
                <a:rPr lang="en-US" sz="22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필드</a:t>
              </a:r>
              <a:r>
                <a:rPr lang="en-US" sz="22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버튼</a:t>
              </a:r>
              <a:r>
                <a:rPr lang="en-US" sz="22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</a:p>
            <a:p>
              <a:pPr algn="ctr">
                <a:lnSpc>
                  <a:spcPts val="3861"/>
                </a:lnSpc>
              </a:pP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클릭</a:t>
              </a:r>
              <a:endParaRPr lang="en-US" sz="2284" dirty="0">
                <a:solidFill>
                  <a:srgbClr val="F1F1F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083429" y="2413626"/>
            <a:ext cx="2759293" cy="885254"/>
            <a:chOff x="0" y="0"/>
            <a:chExt cx="726694" cy="2331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14300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문서함 유형 선택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174089" y="2413626"/>
            <a:ext cx="2759293" cy="934182"/>
            <a:chOff x="0" y="0"/>
            <a:chExt cx="726694" cy="24605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26694" cy="246059"/>
            </a:xfrm>
            <a:custGeom>
              <a:avLst/>
              <a:gdLst/>
              <a:ahLst/>
              <a:cxnLst/>
              <a:rect l="l" t="t" r="r" b="b"/>
              <a:pathLst>
                <a:path w="726694" h="246059">
                  <a:moveTo>
                    <a:pt x="726694" y="72950"/>
                  </a:moveTo>
                  <a:lnTo>
                    <a:pt x="726694" y="173110"/>
                  </a:lnTo>
                  <a:cubicBezTo>
                    <a:pt x="726694" y="213399"/>
                    <a:pt x="694033" y="246059"/>
                    <a:pt x="653744" y="246059"/>
                  </a:cubicBezTo>
                  <a:lnTo>
                    <a:pt x="72950" y="246059"/>
                  </a:lnTo>
                  <a:cubicBezTo>
                    <a:pt x="53602" y="246059"/>
                    <a:pt x="35047" y="238374"/>
                    <a:pt x="21367" y="224693"/>
                  </a:cubicBezTo>
                  <a:cubicBezTo>
                    <a:pt x="7686" y="211012"/>
                    <a:pt x="0" y="192457"/>
                    <a:pt x="0" y="173110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 anchor="b"/>
            <a:lstStyle/>
            <a:p>
              <a:endParaRPr lang="ko-KR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04775"/>
              <a:ext cx="726694" cy="350834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3692"/>
                </a:lnSpc>
              </a:pPr>
              <a:r>
                <a:rPr lang="en-US" sz="21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문서 클릭시</a:t>
              </a:r>
            </a:p>
            <a:p>
              <a:pPr algn="ctr">
                <a:lnSpc>
                  <a:spcPts val="3692"/>
                </a:lnSpc>
              </a:pPr>
              <a:r>
                <a:rPr lang="en-US" sz="21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상세정보 출력</a:t>
              </a:r>
            </a:p>
          </p:txBody>
        </p:sp>
      </p:grpSp>
      <p:sp>
        <p:nvSpPr>
          <p:cNvPr id="15" name="AutoShape 15"/>
          <p:cNvSpPr/>
          <p:nvPr/>
        </p:nvSpPr>
        <p:spPr>
          <a:xfrm>
            <a:off x="4910210" y="2875303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 anchor="b"/>
          <a:lstStyle/>
          <a:p>
            <a:endParaRPr lang="ko-KR" altLang="en-US"/>
          </a:p>
        </p:txBody>
      </p:sp>
      <p:sp>
        <p:nvSpPr>
          <p:cNvPr id="16" name="AutoShape 16"/>
          <p:cNvSpPr/>
          <p:nvPr/>
        </p:nvSpPr>
        <p:spPr>
          <a:xfrm>
            <a:off x="9001358" y="2894353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AutoShape 17"/>
          <p:cNvSpPr/>
          <p:nvPr/>
        </p:nvSpPr>
        <p:spPr>
          <a:xfrm>
            <a:off x="13089215" y="2913403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8" name="Group 18"/>
          <p:cNvGrpSpPr/>
          <p:nvPr/>
        </p:nvGrpSpPr>
        <p:grpSpPr>
          <a:xfrm>
            <a:off x="14178050" y="4213056"/>
            <a:ext cx="2759293" cy="885254"/>
            <a:chOff x="0" y="0"/>
            <a:chExt cx="726694" cy="23317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114300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첨부파일 클릭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083429" y="6105525"/>
            <a:ext cx="2759293" cy="885254"/>
            <a:chOff x="0" y="0"/>
            <a:chExt cx="726694" cy="23317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114300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인쇄 클릭</a:t>
              </a:r>
            </a:p>
          </p:txBody>
        </p:sp>
      </p:grpSp>
      <p:sp>
        <p:nvSpPr>
          <p:cNvPr id="24" name="AutoShape 24"/>
          <p:cNvSpPr/>
          <p:nvPr/>
        </p:nvSpPr>
        <p:spPr>
          <a:xfrm>
            <a:off x="15538646" y="3514944"/>
            <a:ext cx="0" cy="4820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25" name="Group 25"/>
          <p:cNvGrpSpPr/>
          <p:nvPr/>
        </p:nvGrpSpPr>
        <p:grpSpPr>
          <a:xfrm>
            <a:off x="10083429" y="7904954"/>
            <a:ext cx="2759293" cy="885254"/>
            <a:chOff x="0" y="0"/>
            <a:chExt cx="726694" cy="23317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114300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인쇄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083429" y="3779108"/>
            <a:ext cx="2773224" cy="1506378"/>
            <a:chOff x="0" y="-111832"/>
            <a:chExt cx="730363" cy="34747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 anchor="b"/>
            <a:lstStyle/>
            <a:p>
              <a:endParaRPr lang="ko-KR" alt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669" y="-111832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3861"/>
                </a:lnSpc>
              </a:pP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결재</a:t>
              </a:r>
              <a:r>
                <a:rPr lang="en-US" sz="22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/</a:t>
              </a: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반려</a:t>
              </a:r>
              <a:r>
                <a:rPr lang="en-US" sz="22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/</a:t>
              </a: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보류</a:t>
              </a:r>
              <a:r>
                <a:rPr lang="en-US" sz="22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</a:p>
            <a:p>
              <a:pPr algn="ctr">
                <a:lnSpc>
                  <a:spcPts val="3861"/>
                </a:lnSpc>
              </a:pP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선택</a:t>
              </a:r>
              <a:endParaRPr lang="en-US" sz="2284" dirty="0">
                <a:solidFill>
                  <a:srgbClr val="F1F1F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4195942" y="6105525"/>
            <a:ext cx="2759293" cy="885254"/>
            <a:chOff x="0" y="0"/>
            <a:chExt cx="726694" cy="23317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114300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첨부파일 다운로드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4199903" y="7904954"/>
            <a:ext cx="2759293" cy="885254"/>
            <a:chOff x="0" y="0"/>
            <a:chExt cx="726694" cy="23317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114300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저장 버튼 클릭</a:t>
              </a:r>
            </a:p>
          </p:txBody>
        </p:sp>
      </p:grpSp>
      <p:sp>
        <p:nvSpPr>
          <p:cNvPr id="37" name="AutoShape 37"/>
          <p:cNvSpPr/>
          <p:nvPr/>
        </p:nvSpPr>
        <p:spPr>
          <a:xfrm>
            <a:off x="15560500" y="7206843"/>
            <a:ext cx="0" cy="4820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AutoShape 38"/>
          <p:cNvSpPr/>
          <p:nvPr/>
        </p:nvSpPr>
        <p:spPr>
          <a:xfrm>
            <a:off x="15598600" y="5360893"/>
            <a:ext cx="0" cy="4820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AutoShape 39"/>
          <p:cNvSpPr/>
          <p:nvPr/>
        </p:nvSpPr>
        <p:spPr>
          <a:xfrm flipH="1">
            <a:off x="13089215" y="3514944"/>
            <a:ext cx="837224" cy="5700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AutoShape 40"/>
          <p:cNvSpPr/>
          <p:nvPr/>
        </p:nvSpPr>
        <p:spPr>
          <a:xfrm flipH="1">
            <a:off x="12892327" y="4514117"/>
            <a:ext cx="1236117" cy="217559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AutoShape 41"/>
          <p:cNvSpPr/>
          <p:nvPr/>
        </p:nvSpPr>
        <p:spPr>
          <a:xfrm>
            <a:off x="11444025" y="7206843"/>
            <a:ext cx="0" cy="4820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D6F7B2EA-B219-CACD-951D-B5D2FAFD5D62}"/>
              </a:ext>
            </a:extLst>
          </p:cNvPr>
          <p:cNvSpPr>
            <a:spLocks/>
          </p:cNvSpPr>
          <p:nvPr/>
        </p:nvSpPr>
        <p:spPr>
          <a:xfrm>
            <a:off x="0" y="0"/>
            <a:ext cx="1364366" cy="10287000"/>
          </a:xfrm>
          <a:prstGeom prst="rect">
            <a:avLst/>
          </a:prstGeom>
          <a:solidFill>
            <a:srgbClr val="0B6E6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b"/>
          <a:lstStyle/>
          <a:p>
            <a:pPr algn="just"/>
            <a:r>
              <a:rPr lang="ko-KR" altLang="en-US" sz="6000" dirty="0"/>
              <a:t>　</a:t>
            </a:r>
            <a:r>
              <a:rPr lang="ko-KR" altLang="en-US" sz="6000" dirty="0" smtClean="0"/>
              <a:t>전자결재</a:t>
            </a:r>
            <a:endParaRPr lang="ko-KR" altLang="en-US" sz="6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1612018" y="426661"/>
          <a:ext cx="15063964" cy="1329740"/>
        </p:xfrm>
        <a:graphic>
          <a:graphicData uri="http://schemas.openxmlformats.org/drawingml/2006/table">
            <a:tbl>
              <a:tblPr/>
              <a:tblGrid>
                <a:gridCol w="2750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1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44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974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0479"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ko-KR" altLang="en-US" sz="2084" b="1" dirty="0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단위 프로세스 </a:t>
                      </a:r>
                      <a:r>
                        <a:rPr lang="en-US" altLang="ko-KR" sz="2084" b="1" dirty="0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ID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UT-A05-020~21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프로세스명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새 결재 작성/알림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9261"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작성일자</a:t>
                      </a:r>
                      <a:endParaRPr lang="en-US" sz="1100"/>
                    </a:p>
                  </a:txBody>
                  <a:tcPr marL="9525" marR="9525" marT="9525" marB="9525" anchor="ctr">
                    <a:lnL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2025.07.17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작성자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 err="1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이세진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" name="Group 3"/>
          <p:cNvGrpSpPr/>
          <p:nvPr/>
        </p:nvGrpSpPr>
        <p:grpSpPr>
          <a:xfrm>
            <a:off x="4191000" y="1866900"/>
            <a:ext cx="2759293" cy="1283040"/>
            <a:chOff x="0" y="-69507"/>
            <a:chExt cx="726694" cy="3379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69507"/>
              <a:ext cx="726694" cy="337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2"/>
                </a:lnSpc>
              </a:pPr>
              <a:r>
                <a:rPr lang="en-US" sz="21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새 </a:t>
              </a:r>
              <a:r>
                <a:rPr lang="en-US" sz="21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결재</a:t>
              </a:r>
              <a:r>
                <a:rPr lang="en-US" sz="21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1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버튼</a:t>
              </a:r>
              <a:r>
                <a:rPr lang="en-US" sz="21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1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클릭</a:t>
              </a:r>
              <a:endParaRPr lang="en-US" sz="2184" dirty="0">
                <a:solidFill>
                  <a:srgbClr val="F1F1F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280502" y="2130787"/>
            <a:ext cx="2759781" cy="1072237"/>
            <a:chOff x="0" y="0"/>
            <a:chExt cx="726822" cy="23317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26822" cy="233172"/>
            </a:xfrm>
            <a:custGeom>
              <a:avLst/>
              <a:gdLst/>
              <a:ahLst/>
              <a:cxnLst/>
              <a:rect l="l" t="t" r="r" b="b"/>
              <a:pathLst>
                <a:path w="726822" h="233172">
                  <a:moveTo>
                    <a:pt x="726822" y="72937"/>
                  </a:moveTo>
                  <a:lnTo>
                    <a:pt x="726822" y="160235"/>
                  </a:lnTo>
                  <a:cubicBezTo>
                    <a:pt x="726822" y="179579"/>
                    <a:pt x="719138" y="198131"/>
                    <a:pt x="705460" y="211809"/>
                  </a:cubicBezTo>
                  <a:cubicBezTo>
                    <a:pt x="691781" y="225488"/>
                    <a:pt x="673230" y="233172"/>
                    <a:pt x="653886" y="233172"/>
                  </a:cubicBezTo>
                  <a:lnTo>
                    <a:pt x="72937" y="233172"/>
                  </a:lnTo>
                  <a:cubicBezTo>
                    <a:pt x="53593" y="233172"/>
                    <a:pt x="35041" y="225488"/>
                    <a:pt x="21363" y="211809"/>
                  </a:cubicBezTo>
                  <a:cubicBezTo>
                    <a:pt x="7684" y="198131"/>
                    <a:pt x="0" y="179579"/>
                    <a:pt x="0" y="160235"/>
                  </a:cubicBezTo>
                  <a:lnTo>
                    <a:pt x="0" y="72937"/>
                  </a:lnTo>
                  <a:cubicBezTo>
                    <a:pt x="0" y="53593"/>
                    <a:pt x="7684" y="35041"/>
                    <a:pt x="21363" y="21363"/>
                  </a:cubicBezTo>
                  <a:cubicBezTo>
                    <a:pt x="35041" y="7684"/>
                    <a:pt x="53593" y="0"/>
                    <a:pt x="72937" y="0"/>
                  </a:cubicBezTo>
                  <a:lnTo>
                    <a:pt x="653886" y="0"/>
                  </a:lnTo>
                  <a:cubicBezTo>
                    <a:pt x="673230" y="0"/>
                    <a:pt x="691781" y="7684"/>
                    <a:pt x="705460" y="21363"/>
                  </a:cubicBezTo>
                  <a:cubicBezTo>
                    <a:pt x="719138" y="35041"/>
                    <a:pt x="726822" y="53593"/>
                    <a:pt x="726822" y="72937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 anchor="b"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14300"/>
              <a:ext cx="726822" cy="347472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3861"/>
                </a:lnSpc>
              </a:pP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결재양식</a:t>
              </a:r>
              <a:r>
                <a:rPr lang="en-US" sz="22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선택창</a:t>
              </a:r>
              <a:r>
                <a:rPr lang="en-US" sz="22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</a:p>
            <a:p>
              <a:pPr algn="ctr">
                <a:lnSpc>
                  <a:spcPts val="3861"/>
                </a:lnSpc>
              </a:pP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출력</a:t>
              </a:r>
              <a:endParaRPr lang="en-US" sz="2284" dirty="0">
                <a:solidFill>
                  <a:srgbClr val="F1F1F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370005" y="2130788"/>
            <a:ext cx="2759293" cy="934182"/>
            <a:chOff x="0" y="0"/>
            <a:chExt cx="726694" cy="24605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26694" cy="246059"/>
            </a:xfrm>
            <a:custGeom>
              <a:avLst/>
              <a:gdLst/>
              <a:ahLst/>
              <a:cxnLst/>
              <a:rect l="l" t="t" r="r" b="b"/>
              <a:pathLst>
                <a:path w="726694" h="246059">
                  <a:moveTo>
                    <a:pt x="726694" y="72950"/>
                  </a:moveTo>
                  <a:lnTo>
                    <a:pt x="726694" y="173110"/>
                  </a:lnTo>
                  <a:cubicBezTo>
                    <a:pt x="726694" y="213399"/>
                    <a:pt x="694033" y="246059"/>
                    <a:pt x="653744" y="246059"/>
                  </a:cubicBezTo>
                  <a:lnTo>
                    <a:pt x="72950" y="246059"/>
                  </a:lnTo>
                  <a:cubicBezTo>
                    <a:pt x="53602" y="246059"/>
                    <a:pt x="35047" y="238374"/>
                    <a:pt x="21367" y="224693"/>
                  </a:cubicBezTo>
                  <a:cubicBezTo>
                    <a:pt x="7686" y="211012"/>
                    <a:pt x="0" y="192457"/>
                    <a:pt x="0" y="173110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 anchor="b"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04775"/>
              <a:ext cx="726694" cy="350834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3692"/>
                </a:lnSpc>
              </a:pPr>
              <a:r>
                <a:rPr lang="en-US" sz="21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결재양식 선택 후 </a:t>
              </a:r>
            </a:p>
            <a:p>
              <a:pPr algn="ctr">
                <a:lnSpc>
                  <a:spcPts val="3692"/>
                </a:lnSpc>
              </a:pPr>
              <a:r>
                <a:rPr lang="en-US" sz="21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확인 버튼 클릭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280990" y="3165900"/>
            <a:ext cx="2759293" cy="1283040"/>
            <a:chOff x="0" y="-94439"/>
            <a:chExt cx="726694" cy="33794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 anchor="b"/>
            <a:lstStyle/>
            <a:p>
              <a:endParaRPr lang="ko-KR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4439"/>
              <a:ext cx="726694" cy="337947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3692"/>
                </a:lnSpc>
              </a:pPr>
              <a:r>
                <a:rPr lang="en-US" sz="21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결재</a:t>
              </a:r>
              <a:r>
                <a:rPr lang="en-US" sz="21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1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작성</a:t>
              </a:r>
              <a:r>
                <a:rPr lang="en-US" sz="21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1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페이지</a:t>
              </a:r>
              <a:r>
                <a:rPr lang="en-US" sz="21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</a:p>
            <a:p>
              <a:pPr algn="ctr">
                <a:lnSpc>
                  <a:spcPts val="3692"/>
                </a:lnSpc>
              </a:pPr>
              <a:r>
                <a:rPr lang="en-US" sz="21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출력</a:t>
              </a:r>
              <a:endParaRPr lang="en-US" sz="2184" dirty="0">
                <a:solidFill>
                  <a:srgbClr val="F1F1F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</p:txBody>
        </p:sp>
      </p:grpSp>
      <p:sp>
        <p:nvSpPr>
          <p:cNvPr id="15" name="AutoShape 15"/>
          <p:cNvSpPr/>
          <p:nvPr/>
        </p:nvSpPr>
        <p:spPr>
          <a:xfrm>
            <a:off x="7196786" y="2592465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AutoShape 16"/>
          <p:cNvSpPr/>
          <p:nvPr/>
        </p:nvSpPr>
        <p:spPr>
          <a:xfrm>
            <a:off x="11287934" y="2611515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 anchor="b"/>
          <a:lstStyle/>
          <a:p>
            <a:endParaRPr lang="ko-KR" altLang="en-US"/>
          </a:p>
        </p:txBody>
      </p:sp>
      <p:grpSp>
        <p:nvGrpSpPr>
          <p:cNvPr id="17" name="Group 17"/>
          <p:cNvGrpSpPr/>
          <p:nvPr/>
        </p:nvGrpSpPr>
        <p:grpSpPr>
          <a:xfrm>
            <a:off x="14798118" y="4379954"/>
            <a:ext cx="2759293" cy="1319202"/>
            <a:chOff x="0" y="-75128"/>
            <a:chExt cx="726694" cy="34747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75128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결재</a:t>
              </a:r>
              <a:r>
                <a:rPr lang="en-US" sz="22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정보</a:t>
              </a:r>
              <a:r>
                <a:rPr lang="en-US" sz="22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클릭</a:t>
              </a:r>
              <a:endParaRPr lang="en-US" sz="2284" dirty="0">
                <a:solidFill>
                  <a:srgbClr val="F1F1F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864097" y="5796721"/>
            <a:ext cx="2759293" cy="1319202"/>
            <a:chOff x="0" y="-70978"/>
            <a:chExt cx="726694" cy="34747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 anchor="ctr"/>
            <a:lstStyle/>
            <a:p>
              <a:endParaRPr lang="ko-KR" alt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70978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결재</a:t>
              </a:r>
              <a:r>
                <a:rPr lang="en-US" sz="22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요청</a:t>
              </a:r>
              <a:r>
                <a:rPr lang="en-US" sz="22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버튼</a:t>
              </a:r>
              <a:r>
                <a:rPr lang="en-US" sz="22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클릭</a:t>
              </a:r>
              <a:endParaRPr lang="en-US" sz="2284" dirty="0">
                <a:solidFill>
                  <a:srgbClr val="F1F1F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</p:txBody>
        </p:sp>
      </p:grpSp>
      <p:sp>
        <p:nvSpPr>
          <p:cNvPr id="23" name="AutoShape 23"/>
          <p:cNvSpPr/>
          <p:nvPr/>
        </p:nvSpPr>
        <p:spPr>
          <a:xfrm>
            <a:off x="11346572" y="4060542"/>
            <a:ext cx="3285266" cy="47424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24" name="Group 24"/>
          <p:cNvGrpSpPr/>
          <p:nvPr/>
        </p:nvGrpSpPr>
        <p:grpSpPr>
          <a:xfrm>
            <a:off x="1864097" y="4409698"/>
            <a:ext cx="2759293" cy="934182"/>
            <a:chOff x="0" y="0"/>
            <a:chExt cx="726694" cy="24605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26694" cy="246059"/>
            </a:xfrm>
            <a:custGeom>
              <a:avLst/>
              <a:gdLst/>
              <a:ahLst/>
              <a:cxnLst/>
              <a:rect l="l" t="t" r="r" b="b"/>
              <a:pathLst>
                <a:path w="726694" h="246059">
                  <a:moveTo>
                    <a:pt x="726694" y="72950"/>
                  </a:moveTo>
                  <a:lnTo>
                    <a:pt x="726694" y="173110"/>
                  </a:lnTo>
                  <a:cubicBezTo>
                    <a:pt x="726694" y="213399"/>
                    <a:pt x="694033" y="246059"/>
                    <a:pt x="653744" y="246059"/>
                  </a:cubicBezTo>
                  <a:lnTo>
                    <a:pt x="72950" y="246059"/>
                  </a:lnTo>
                  <a:cubicBezTo>
                    <a:pt x="53602" y="246059"/>
                    <a:pt x="35047" y="238374"/>
                    <a:pt x="21367" y="224693"/>
                  </a:cubicBezTo>
                  <a:cubicBezTo>
                    <a:pt x="7686" y="211012"/>
                    <a:pt x="0" y="192457"/>
                    <a:pt x="0" y="173110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 anchor="b"/>
            <a:lstStyle/>
            <a:p>
              <a:endParaRPr lang="ko-KR" alt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04775"/>
              <a:ext cx="726694" cy="350834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3692"/>
                </a:lnSpc>
              </a:pPr>
              <a:r>
                <a:rPr lang="en-US" sz="21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문서 데이터 입력 후</a:t>
              </a:r>
            </a:p>
            <a:p>
              <a:pPr algn="ctr">
                <a:lnSpc>
                  <a:spcPts val="3692"/>
                </a:lnSpc>
              </a:pPr>
              <a:r>
                <a:rPr lang="en-US" sz="21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알림 설정 선택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4816010" y="6289728"/>
            <a:ext cx="2759293" cy="1319202"/>
            <a:chOff x="0" y="-70570"/>
            <a:chExt cx="726694" cy="34747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70570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조직도에서</a:t>
              </a:r>
              <a:r>
                <a:rPr lang="en-US" sz="22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선택</a:t>
              </a:r>
              <a:endParaRPr lang="en-US" sz="2284" dirty="0">
                <a:solidFill>
                  <a:srgbClr val="F1F1F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4691302" y="8353361"/>
            <a:ext cx="2993577" cy="1099898"/>
            <a:chOff x="0" y="0"/>
            <a:chExt cx="726694" cy="24605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726694" cy="246059"/>
            </a:xfrm>
            <a:custGeom>
              <a:avLst/>
              <a:gdLst/>
              <a:ahLst/>
              <a:cxnLst/>
              <a:rect l="l" t="t" r="r" b="b"/>
              <a:pathLst>
                <a:path w="726694" h="246059">
                  <a:moveTo>
                    <a:pt x="726694" y="72950"/>
                  </a:moveTo>
                  <a:lnTo>
                    <a:pt x="726694" y="173110"/>
                  </a:lnTo>
                  <a:cubicBezTo>
                    <a:pt x="726694" y="213399"/>
                    <a:pt x="694033" y="246059"/>
                    <a:pt x="653744" y="246059"/>
                  </a:cubicBezTo>
                  <a:lnTo>
                    <a:pt x="72950" y="246059"/>
                  </a:lnTo>
                  <a:cubicBezTo>
                    <a:pt x="53602" y="246059"/>
                    <a:pt x="35047" y="238374"/>
                    <a:pt x="21367" y="224693"/>
                  </a:cubicBezTo>
                  <a:cubicBezTo>
                    <a:pt x="7686" y="211012"/>
                    <a:pt x="0" y="192457"/>
                    <a:pt x="0" y="173110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 anchor="b"/>
            <a:lstStyle/>
            <a:p>
              <a:endParaRPr lang="ko-KR" alt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104775"/>
              <a:ext cx="726694" cy="350834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3692"/>
                </a:lnSpc>
              </a:pPr>
              <a:r>
                <a:rPr lang="en-US" sz="21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결재선</a:t>
              </a:r>
              <a:r>
                <a:rPr lang="en-US" sz="21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/</a:t>
              </a:r>
              <a:r>
                <a:rPr lang="en-US" sz="21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참조자</a:t>
              </a:r>
              <a:r>
                <a:rPr lang="en-US" sz="21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/</a:t>
              </a:r>
              <a:r>
                <a:rPr lang="en-US" sz="21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열람자</a:t>
              </a:r>
              <a:r>
                <a:rPr lang="en-US" sz="21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1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등록</a:t>
              </a:r>
              <a:endParaRPr lang="en-US" sz="2184" dirty="0">
                <a:solidFill>
                  <a:srgbClr val="F1F1F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</p:txBody>
        </p:sp>
      </p:grpSp>
      <p:sp>
        <p:nvSpPr>
          <p:cNvPr id="33" name="AutoShape 33"/>
          <p:cNvSpPr/>
          <p:nvPr/>
        </p:nvSpPr>
        <p:spPr>
          <a:xfrm>
            <a:off x="16180568" y="7658970"/>
            <a:ext cx="0" cy="4820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AutoShape 34"/>
          <p:cNvSpPr/>
          <p:nvPr/>
        </p:nvSpPr>
        <p:spPr>
          <a:xfrm>
            <a:off x="16218668" y="5813021"/>
            <a:ext cx="0" cy="4820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AutoShape 35"/>
          <p:cNvSpPr/>
          <p:nvPr/>
        </p:nvSpPr>
        <p:spPr>
          <a:xfrm flipH="1">
            <a:off x="11287934" y="3352407"/>
            <a:ext cx="826503" cy="2850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 anchor="b"/>
          <a:lstStyle/>
          <a:p>
            <a:endParaRPr lang="ko-KR" altLang="en-US"/>
          </a:p>
        </p:txBody>
      </p:sp>
      <p:sp>
        <p:nvSpPr>
          <p:cNvPr id="36" name="AutoShape 36"/>
          <p:cNvSpPr/>
          <p:nvPr/>
        </p:nvSpPr>
        <p:spPr>
          <a:xfrm flipH="1">
            <a:off x="4928737" y="4079534"/>
            <a:ext cx="2759467" cy="43376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AutoShape 37"/>
          <p:cNvSpPr/>
          <p:nvPr/>
        </p:nvSpPr>
        <p:spPr>
          <a:xfrm>
            <a:off x="3224693" y="5464013"/>
            <a:ext cx="0" cy="4820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 anchor="b"/>
          <a:lstStyle/>
          <a:p>
            <a:endParaRPr lang="ko-KR" altLang="en-US"/>
          </a:p>
        </p:txBody>
      </p:sp>
      <p:grpSp>
        <p:nvGrpSpPr>
          <p:cNvPr id="38" name="Group 38"/>
          <p:cNvGrpSpPr/>
          <p:nvPr/>
        </p:nvGrpSpPr>
        <p:grpSpPr>
          <a:xfrm>
            <a:off x="1864097" y="7826106"/>
            <a:ext cx="2759293" cy="934182"/>
            <a:chOff x="0" y="0"/>
            <a:chExt cx="726694" cy="246059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726694" cy="246059"/>
            </a:xfrm>
            <a:custGeom>
              <a:avLst/>
              <a:gdLst/>
              <a:ahLst/>
              <a:cxnLst/>
              <a:rect l="l" t="t" r="r" b="b"/>
              <a:pathLst>
                <a:path w="726694" h="246059">
                  <a:moveTo>
                    <a:pt x="726694" y="72950"/>
                  </a:moveTo>
                  <a:lnTo>
                    <a:pt x="726694" y="173110"/>
                  </a:lnTo>
                  <a:cubicBezTo>
                    <a:pt x="726694" y="213399"/>
                    <a:pt x="694033" y="246059"/>
                    <a:pt x="653744" y="246059"/>
                  </a:cubicBezTo>
                  <a:lnTo>
                    <a:pt x="72950" y="246059"/>
                  </a:lnTo>
                  <a:cubicBezTo>
                    <a:pt x="53602" y="246059"/>
                    <a:pt x="35047" y="238374"/>
                    <a:pt x="21367" y="224693"/>
                  </a:cubicBezTo>
                  <a:cubicBezTo>
                    <a:pt x="7686" y="211012"/>
                    <a:pt x="0" y="192457"/>
                    <a:pt x="0" y="173110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 anchor="b"/>
            <a:lstStyle/>
            <a:p>
              <a:endParaRPr lang="ko-KR" alt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104775"/>
              <a:ext cx="726694" cy="350834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3692"/>
                </a:lnSpc>
              </a:pPr>
              <a:r>
                <a:rPr lang="en-US" sz="21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결재 대기 문서 등록 및 알림 발송</a:t>
              </a:r>
            </a:p>
          </p:txBody>
        </p:sp>
      </p:grpSp>
      <p:sp>
        <p:nvSpPr>
          <p:cNvPr id="41" name="AutoShape 41"/>
          <p:cNvSpPr/>
          <p:nvPr/>
        </p:nvSpPr>
        <p:spPr>
          <a:xfrm>
            <a:off x="3205643" y="7147753"/>
            <a:ext cx="0" cy="4820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 anchor="b"/>
          <a:lstStyle/>
          <a:p>
            <a:endParaRPr lang="ko-KR" altLang="en-US"/>
          </a:p>
        </p:txBody>
      </p:sp>
      <p:grpSp>
        <p:nvGrpSpPr>
          <p:cNvPr id="42" name="Group 42"/>
          <p:cNvGrpSpPr/>
          <p:nvPr/>
        </p:nvGrpSpPr>
        <p:grpSpPr>
          <a:xfrm>
            <a:off x="6083398" y="4890836"/>
            <a:ext cx="2778719" cy="1319202"/>
            <a:chOff x="0" y="-73212"/>
            <a:chExt cx="731810" cy="347472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116" y="-73212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임시저장</a:t>
              </a:r>
              <a:r>
                <a:rPr lang="en-US" sz="22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버튼</a:t>
              </a:r>
              <a:r>
                <a:rPr lang="en-US" sz="22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클릭</a:t>
              </a:r>
              <a:endParaRPr lang="en-US" sz="2284" dirty="0">
                <a:solidFill>
                  <a:srgbClr val="F1F1F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</p:txBody>
        </p:sp>
      </p:grpSp>
      <p:sp>
        <p:nvSpPr>
          <p:cNvPr id="45" name="AutoShape 45"/>
          <p:cNvSpPr/>
          <p:nvPr/>
        </p:nvSpPr>
        <p:spPr>
          <a:xfrm flipH="1">
            <a:off x="7503948" y="4513300"/>
            <a:ext cx="530062" cy="36348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46" name="Group 46"/>
          <p:cNvGrpSpPr/>
          <p:nvPr/>
        </p:nvGrpSpPr>
        <p:grpSpPr>
          <a:xfrm>
            <a:off x="6101291" y="6797622"/>
            <a:ext cx="2759293" cy="1319202"/>
            <a:chOff x="0" y="-69441"/>
            <a:chExt cx="726694" cy="347472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69441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임시저장함에</a:t>
              </a:r>
              <a:r>
                <a:rPr lang="en-US" sz="22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저장</a:t>
              </a:r>
              <a:endParaRPr lang="en-US" sz="2284" dirty="0">
                <a:solidFill>
                  <a:srgbClr val="F1F1F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</p:txBody>
        </p:sp>
      </p:grpSp>
      <p:sp>
        <p:nvSpPr>
          <p:cNvPr id="49" name="AutoShape 49"/>
          <p:cNvSpPr/>
          <p:nvPr/>
        </p:nvSpPr>
        <p:spPr>
          <a:xfrm>
            <a:off x="7503948" y="6316629"/>
            <a:ext cx="0" cy="4820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50" name="Group 50"/>
          <p:cNvGrpSpPr/>
          <p:nvPr/>
        </p:nvGrpSpPr>
        <p:grpSpPr>
          <a:xfrm>
            <a:off x="10532353" y="4970526"/>
            <a:ext cx="2777185" cy="1319202"/>
            <a:chOff x="0" y="-63448"/>
            <a:chExt cx="731406" cy="347472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712" y="-63448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관련</a:t>
              </a:r>
              <a:r>
                <a:rPr lang="en-US" sz="22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문서</a:t>
              </a:r>
              <a:r>
                <a:rPr lang="en-US" sz="22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검색</a:t>
              </a:r>
              <a:r>
                <a:rPr lang="en-US" sz="22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클릭</a:t>
              </a:r>
              <a:endParaRPr lang="en-US" sz="2284" dirty="0">
                <a:solidFill>
                  <a:srgbClr val="F1F1F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</p:txBody>
        </p:sp>
      </p:grpSp>
      <p:sp>
        <p:nvSpPr>
          <p:cNvPr id="53" name="AutoShape 53"/>
          <p:cNvSpPr/>
          <p:nvPr/>
        </p:nvSpPr>
        <p:spPr>
          <a:xfrm>
            <a:off x="10613471" y="4534786"/>
            <a:ext cx="412808" cy="4476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54" name="Group 54"/>
          <p:cNvGrpSpPr/>
          <p:nvPr/>
        </p:nvGrpSpPr>
        <p:grpSpPr>
          <a:xfrm>
            <a:off x="10550245" y="6806116"/>
            <a:ext cx="2759293" cy="1319202"/>
            <a:chOff x="0" y="-78430"/>
            <a:chExt cx="726694" cy="347472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78430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문서</a:t>
              </a:r>
              <a:r>
                <a:rPr lang="en-US" sz="22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검색창</a:t>
              </a:r>
              <a:r>
                <a:rPr lang="en-US" sz="22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출력</a:t>
              </a:r>
              <a:endParaRPr lang="en-US" sz="2284" dirty="0">
                <a:solidFill>
                  <a:srgbClr val="F1F1F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0554206" y="8903310"/>
            <a:ext cx="2759293" cy="934182"/>
            <a:chOff x="0" y="0"/>
            <a:chExt cx="726694" cy="246059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726694" cy="246059"/>
            </a:xfrm>
            <a:custGeom>
              <a:avLst/>
              <a:gdLst/>
              <a:ahLst/>
              <a:cxnLst/>
              <a:rect l="l" t="t" r="r" b="b"/>
              <a:pathLst>
                <a:path w="726694" h="246059">
                  <a:moveTo>
                    <a:pt x="726694" y="72950"/>
                  </a:moveTo>
                  <a:lnTo>
                    <a:pt x="726694" y="173110"/>
                  </a:lnTo>
                  <a:cubicBezTo>
                    <a:pt x="726694" y="213399"/>
                    <a:pt x="694033" y="246059"/>
                    <a:pt x="653744" y="246059"/>
                  </a:cubicBezTo>
                  <a:lnTo>
                    <a:pt x="72950" y="246059"/>
                  </a:lnTo>
                  <a:cubicBezTo>
                    <a:pt x="53602" y="246059"/>
                    <a:pt x="35047" y="238374"/>
                    <a:pt x="21367" y="224693"/>
                  </a:cubicBezTo>
                  <a:cubicBezTo>
                    <a:pt x="7686" y="211012"/>
                    <a:pt x="0" y="192457"/>
                    <a:pt x="0" y="173110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 anchor="b"/>
            <a:lstStyle/>
            <a:p>
              <a:endParaRPr lang="ko-KR" altLang="en-US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-104775"/>
              <a:ext cx="726694" cy="350834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3692"/>
                </a:lnSpc>
              </a:pPr>
              <a:r>
                <a:rPr lang="en-US" sz="21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문서 상세정보</a:t>
              </a:r>
            </a:p>
            <a:p>
              <a:pPr algn="ctr">
                <a:lnSpc>
                  <a:spcPts val="3692"/>
                </a:lnSpc>
              </a:pPr>
              <a:r>
                <a:rPr lang="en-US" sz="21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새 창 출력</a:t>
              </a:r>
            </a:p>
          </p:txBody>
        </p:sp>
      </p:grpSp>
      <p:sp>
        <p:nvSpPr>
          <p:cNvPr id="60" name="AutoShape 60"/>
          <p:cNvSpPr/>
          <p:nvPr/>
        </p:nvSpPr>
        <p:spPr>
          <a:xfrm>
            <a:off x="11914803" y="8205199"/>
            <a:ext cx="0" cy="4820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 anchor="b"/>
          <a:lstStyle/>
          <a:p>
            <a:endParaRPr lang="ko-KR" altLang="en-US"/>
          </a:p>
        </p:txBody>
      </p:sp>
      <p:sp>
        <p:nvSpPr>
          <p:cNvPr id="61" name="AutoShape 61"/>
          <p:cNvSpPr/>
          <p:nvPr/>
        </p:nvSpPr>
        <p:spPr>
          <a:xfrm>
            <a:off x="11952903" y="6359249"/>
            <a:ext cx="0" cy="4820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7CCE217F-39DB-48CF-1C94-CDB23F96338A}"/>
              </a:ext>
            </a:extLst>
          </p:cNvPr>
          <p:cNvSpPr>
            <a:spLocks/>
          </p:cNvSpPr>
          <p:nvPr/>
        </p:nvSpPr>
        <p:spPr>
          <a:xfrm>
            <a:off x="0" y="0"/>
            <a:ext cx="1364366" cy="10287000"/>
          </a:xfrm>
          <a:prstGeom prst="rect">
            <a:avLst/>
          </a:prstGeom>
          <a:solidFill>
            <a:srgbClr val="0B6E6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b"/>
          <a:lstStyle/>
          <a:p>
            <a:pPr algn="just"/>
            <a:r>
              <a:rPr lang="ko-KR" altLang="en-US" sz="6000" dirty="0"/>
              <a:t>　</a:t>
            </a:r>
            <a:r>
              <a:rPr lang="ko-KR" altLang="en-US" sz="6000" dirty="0" smtClean="0"/>
              <a:t>전자결재</a:t>
            </a:r>
            <a:endParaRPr lang="ko-KR" altLang="en-US" sz="6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168261"/>
              </p:ext>
            </p:extLst>
          </p:nvPr>
        </p:nvGraphicFramePr>
        <p:xfrm>
          <a:off x="1612018" y="426661"/>
          <a:ext cx="15063964" cy="1301164"/>
        </p:xfrm>
        <a:graphic>
          <a:graphicData uri="http://schemas.openxmlformats.org/drawingml/2006/table">
            <a:tbl>
              <a:tblPr/>
              <a:tblGrid>
                <a:gridCol w="2750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1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44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974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0582"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ko-KR" altLang="en-US" sz="2084" b="1" dirty="0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단위 프로세스 </a:t>
                      </a:r>
                      <a:r>
                        <a:rPr lang="en-US" altLang="ko-KR" sz="2084" b="1" dirty="0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ID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 smtClean="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UT-A06-017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프로세스명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출근 누락 알림 기능 구현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582"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작성일자</a:t>
                      </a:r>
                      <a:endParaRPr lang="en-US" sz="1100"/>
                    </a:p>
                  </a:txBody>
                  <a:tcPr marL="9525" marR="9525" marT="9525" marB="9525" anchor="ctr">
                    <a:lnL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2025.07.17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작성자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 err="1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이세진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" name="Group 3"/>
          <p:cNvGrpSpPr/>
          <p:nvPr/>
        </p:nvGrpSpPr>
        <p:grpSpPr>
          <a:xfrm>
            <a:off x="1779441" y="2133283"/>
            <a:ext cx="2818766" cy="1319202"/>
            <a:chOff x="0" y="-73841"/>
            <a:chExt cx="742357" cy="34747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5663" y="-73841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지정</a:t>
              </a:r>
              <a:r>
                <a:rPr lang="en-US" sz="22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출근</a:t>
              </a:r>
              <a:r>
                <a:rPr lang="en-US" sz="22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시간</a:t>
              </a:r>
              <a:r>
                <a:rPr lang="en-US" sz="22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인식</a:t>
              </a:r>
              <a:endParaRPr lang="en-US" sz="2284" dirty="0">
                <a:solidFill>
                  <a:srgbClr val="F1F1F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749000" y="1736428"/>
            <a:ext cx="3918999" cy="1806872"/>
            <a:chOff x="0" y="-139778"/>
            <a:chExt cx="948660" cy="3729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48660" cy="233172"/>
            </a:xfrm>
            <a:custGeom>
              <a:avLst/>
              <a:gdLst/>
              <a:ahLst/>
              <a:cxnLst/>
              <a:rect l="l" t="t" r="r" b="b"/>
              <a:pathLst>
                <a:path w="948660" h="233172">
                  <a:moveTo>
                    <a:pt x="948660" y="55881"/>
                  </a:moveTo>
                  <a:lnTo>
                    <a:pt x="948660" y="177291"/>
                  </a:lnTo>
                  <a:cubicBezTo>
                    <a:pt x="948660" y="192111"/>
                    <a:pt x="942773" y="206325"/>
                    <a:pt x="932293" y="216805"/>
                  </a:cubicBezTo>
                  <a:cubicBezTo>
                    <a:pt x="921813" y="227285"/>
                    <a:pt x="907600" y="233172"/>
                    <a:pt x="892779" y="233172"/>
                  </a:cubicBezTo>
                  <a:lnTo>
                    <a:pt x="55881" y="233172"/>
                  </a:lnTo>
                  <a:cubicBezTo>
                    <a:pt x="41061" y="233172"/>
                    <a:pt x="26847" y="227285"/>
                    <a:pt x="16367" y="216805"/>
                  </a:cubicBezTo>
                  <a:cubicBezTo>
                    <a:pt x="5887" y="206325"/>
                    <a:pt x="0" y="192111"/>
                    <a:pt x="0" y="177291"/>
                  </a:cubicBezTo>
                  <a:lnTo>
                    <a:pt x="0" y="55881"/>
                  </a:lnTo>
                  <a:cubicBezTo>
                    <a:pt x="0" y="41061"/>
                    <a:pt x="5887" y="26847"/>
                    <a:pt x="16367" y="16367"/>
                  </a:cubicBezTo>
                  <a:cubicBezTo>
                    <a:pt x="26847" y="5887"/>
                    <a:pt x="41061" y="0"/>
                    <a:pt x="55881" y="0"/>
                  </a:cubicBezTo>
                  <a:lnTo>
                    <a:pt x="892779" y="0"/>
                  </a:lnTo>
                  <a:cubicBezTo>
                    <a:pt x="923641" y="0"/>
                    <a:pt x="948660" y="25019"/>
                    <a:pt x="948660" y="55881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39778"/>
              <a:ext cx="948660" cy="337947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3354"/>
                </a:lnSpc>
              </a:pPr>
              <a:r>
                <a:rPr lang="en-US" sz="19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출근</a:t>
              </a:r>
              <a:r>
                <a:rPr lang="en-US" sz="19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19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처리가</a:t>
              </a:r>
              <a:r>
                <a:rPr lang="en-US" sz="19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19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되어있지</a:t>
              </a:r>
              <a:r>
                <a:rPr lang="en-US" sz="19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19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않을</a:t>
              </a:r>
              <a:r>
                <a:rPr lang="en-US" sz="19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</a:p>
            <a:p>
              <a:pPr algn="ctr">
                <a:lnSpc>
                  <a:spcPts val="3354"/>
                </a:lnSpc>
              </a:pPr>
              <a:r>
                <a:rPr lang="en-US" sz="19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경우</a:t>
              </a:r>
              <a:r>
                <a:rPr lang="en-US" sz="19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19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해당</a:t>
              </a:r>
              <a:r>
                <a:rPr lang="en-US" sz="19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19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사원에게</a:t>
              </a:r>
              <a:r>
                <a:rPr lang="en-US" sz="19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19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알림</a:t>
              </a:r>
              <a:r>
                <a:rPr lang="en-US" sz="19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19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출력</a:t>
              </a:r>
              <a:endParaRPr lang="en-US" sz="1984" dirty="0">
                <a:solidFill>
                  <a:srgbClr val="F1F1F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838456" y="1804936"/>
            <a:ext cx="3837526" cy="1518408"/>
            <a:chOff x="0" y="-166770"/>
            <a:chExt cx="907891" cy="39994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07891" cy="233172"/>
            </a:xfrm>
            <a:custGeom>
              <a:avLst/>
              <a:gdLst/>
              <a:ahLst/>
              <a:cxnLst/>
              <a:rect l="l" t="t" r="r" b="b"/>
              <a:pathLst>
                <a:path w="907891" h="233172">
                  <a:moveTo>
                    <a:pt x="907891" y="58390"/>
                  </a:moveTo>
                  <a:lnTo>
                    <a:pt x="907891" y="174782"/>
                  </a:lnTo>
                  <a:cubicBezTo>
                    <a:pt x="907891" y="190268"/>
                    <a:pt x="901739" y="205120"/>
                    <a:pt x="890789" y="216070"/>
                  </a:cubicBezTo>
                  <a:cubicBezTo>
                    <a:pt x="879838" y="227020"/>
                    <a:pt x="864987" y="233172"/>
                    <a:pt x="849500" y="233172"/>
                  </a:cubicBezTo>
                  <a:lnTo>
                    <a:pt x="58390" y="233172"/>
                  </a:lnTo>
                  <a:cubicBezTo>
                    <a:pt x="42904" y="233172"/>
                    <a:pt x="28053" y="227020"/>
                    <a:pt x="17102" y="216070"/>
                  </a:cubicBezTo>
                  <a:cubicBezTo>
                    <a:pt x="6152" y="205120"/>
                    <a:pt x="0" y="190268"/>
                    <a:pt x="0" y="174782"/>
                  </a:cubicBezTo>
                  <a:lnTo>
                    <a:pt x="0" y="58390"/>
                  </a:lnTo>
                  <a:cubicBezTo>
                    <a:pt x="0" y="42904"/>
                    <a:pt x="6152" y="28053"/>
                    <a:pt x="17102" y="17102"/>
                  </a:cubicBezTo>
                  <a:cubicBezTo>
                    <a:pt x="28053" y="6152"/>
                    <a:pt x="42904" y="0"/>
                    <a:pt x="58390" y="0"/>
                  </a:cubicBezTo>
                  <a:lnTo>
                    <a:pt x="849500" y="0"/>
                  </a:lnTo>
                  <a:cubicBezTo>
                    <a:pt x="881749" y="0"/>
                    <a:pt x="907891" y="26142"/>
                    <a:pt x="907891" y="5839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66770"/>
              <a:ext cx="907891" cy="337947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3692"/>
                </a:lnSpc>
              </a:pPr>
              <a:r>
                <a:rPr lang="en-US" sz="21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일정</a:t>
              </a:r>
              <a:r>
                <a:rPr lang="en-US" sz="21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1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시간</a:t>
              </a:r>
              <a:r>
                <a:rPr lang="en-US" sz="21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1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경과</a:t>
              </a:r>
              <a:r>
                <a:rPr lang="en-US" sz="21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후 </a:t>
              </a:r>
              <a:r>
                <a:rPr lang="en-US" sz="21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지각</a:t>
              </a:r>
              <a:r>
                <a:rPr lang="en-US" sz="21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1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처리</a:t>
              </a:r>
              <a:endParaRPr lang="en-US" sz="2184" dirty="0">
                <a:solidFill>
                  <a:srgbClr val="F1F1F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</p:txBody>
        </p:sp>
      </p:grpSp>
      <p:sp>
        <p:nvSpPr>
          <p:cNvPr id="12" name="AutoShape 12"/>
          <p:cNvSpPr/>
          <p:nvPr/>
        </p:nvSpPr>
        <p:spPr>
          <a:xfrm>
            <a:off x="5225256" y="2837203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AutoShape 13"/>
          <p:cNvSpPr/>
          <p:nvPr/>
        </p:nvSpPr>
        <p:spPr>
          <a:xfrm>
            <a:off x="11201400" y="2856253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7B876C1-5F19-77F8-0E1F-274BD344C2A5}"/>
              </a:ext>
            </a:extLst>
          </p:cNvPr>
          <p:cNvSpPr>
            <a:spLocks/>
          </p:cNvSpPr>
          <p:nvPr/>
        </p:nvSpPr>
        <p:spPr>
          <a:xfrm>
            <a:off x="0" y="0"/>
            <a:ext cx="1364366" cy="10287000"/>
          </a:xfrm>
          <a:prstGeom prst="rect">
            <a:avLst/>
          </a:prstGeom>
          <a:solidFill>
            <a:srgbClr val="0B6E6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b"/>
          <a:lstStyle/>
          <a:p>
            <a:pPr algn="just"/>
            <a:r>
              <a:rPr lang="en-US" altLang="ko-KR" sz="6000" dirty="0"/>
              <a:t>	</a:t>
            </a:r>
            <a:r>
              <a:rPr lang="ko-KR" altLang="en-US" sz="6000" dirty="0"/>
              <a:t>근태관리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5727496"/>
              </p:ext>
            </p:extLst>
          </p:nvPr>
        </p:nvGraphicFramePr>
        <p:xfrm>
          <a:off x="1612018" y="426661"/>
          <a:ext cx="15063964" cy="1301164"/>
        </p:xfrm>
        <a:graphic>
          <a:graphicData uri="http://schemas.openxmlformats.org/drawingml/2006/table">
            <a:tbl>
              <a:tblPr/>
              <a:tblGrid>
                <a:gridCol w="2750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1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44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974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0582"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ko-KR" altLang="en-US" sz="2084" b="1" dirty="0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단위 프로세스 </a:t>
                      </a:r>
                      <a:r>
                        <a:rPr lang="en-US" altLang="ko-KR" sz="2084" b="1" dirty="0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ID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 smtClean="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UT-A06-018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프로세스명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근무상태 변경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582"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작성일자</a:t>
                      </a:r>
                      <a:endParaRPr lang="en-US" sz="1100"/>
                    </a:p>
                  </a:txBody>
                  <a:tcPr marL="9525" marR="9525" marT="9525" marB="9525" anchor="ctr">
                    <a:lnL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2025.07.17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작성자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 err="1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이세진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" name="Group 3"/>
          <p:cNvGrpSpPr/>
          <p:nvPr/>
        </p:nvGrpSpPr>
        <p:grpSpPr>
          <a:xfrm>
            <a:off x="1779441" y="2110496"/>
            <a:ext cx="2759293" cy="1319202"/>
            <a:chOff x="0" y="-79843"/>
            <a:chExt cx="726694" cy="34747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9843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근무</a:t>
              </a:r>
              <a:r>
                <a:rPr lang="en-US" sz="22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상태</a:t>
              </a:r>
              <a:r>
                <a:rPr lang="en-US" sz="22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버튼</a:t>
              </a:r>
              <a:r>
                <a:rPr lang="en-US" sz="22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클릭</a:t>
              </a:r>
              <a:endParaRPr lang="en-US" sz="2284" dirty="0">
                <a:solidFill>
                  <a:srgbClr val="F1F1F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471952" y="2125985"/>
            <a:ext cx="2759293" cy="1319202"/>
            <a:chOff x="0" y="-79843"/>
            <a:chExt cx="726694" cy="34747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79843"/>
              <a:ext cx="726694" cy="347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61"/>
                </a:lnSpc>
              </a:pP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근무</a:t>
              </a:r>
              <a:r>
                <a:rPr lang="en-US" sz="22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상태</a:t>
              </a:r>
              <a:r>
                <a:rPr lang="en-US" sz="22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2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선택</a:t>
              </a:r>
              <a:endParaRPr lang="en-US" sz="2284" dirty="0">
                <a:solidFill>
                  <a:srgbClr val="F1F1F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829800" y="4256430"/>
            <a:ext cx="3298962" cy="1428581"/>
            <a:chOff x="-2440" y="-104775"/>
            <a:chExt cx="661185" cy="35083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58745" cy="246059"/>
            </a:xfrm>
            <a:custGeom>
              <a:avLst/>
              <a:gdLst/>
              <a:ahLst/>
              <a:cxnLst/>
              <a:rect l="l" t="t" r="r" b="b"/>
              <a:pathLst>
                <a:path w="658745" h="246059">
                  <a:moveTo>
                    <a:pt x="658745" y="80475"/>
                  </a:moveTo>
                  <a:lnTo>
                    <a:pt x="658745" y="165585"/>
                  </a:lnTo>
                  <a:cubicBezTo>
                    <a:pt x="658745" y="210030"/>
                    <a:pt x="622715" y="246059"/>
                    <a:pt x="578271" y="246059"/>
                  </a:cubicBezTo>
                  <a:lnTo>
                    <a:pt x="80475" y="246059"/>
                  </a:lnTo>
                  <a:cubicBezTo>
                    <a:pt x="36030" y="246059"/>
                    <a:pt x="0" y="210030"/>
                    <a:pt x="0" y="165585"/>
                  </a:cubicBezTo>
                  <a:lnTo>
                    <a:pt x="0" y="80475"/>
                  </a:lnTo>
                  <a:cubicBezTo>
                    <a:pt x="0" y="36030"/>
                    <a:pt x="36030" y="0"/>
                    <a:pt x="80475" y="0"/>
                  </a:cubicBezTo>
                  <a:lnTo>
                    <a:pt x="578271" y="0"/>
                  </a:lnTo>
                  <a:cubicBezTo>
                    <a:pt x="622715" y="0"/>
                    <a:pt x="658745" y="36030"/>
                    <a:pt x="658745" y="80475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 anchor="b"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-2440" y="-104775"/>
              <a:ext cx="658745" cy="350834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3692"/>
                </a:lnSpc>
              </a:pPr>
              <a:r>
                <a:rPr lang="en-US" sz="21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설정한</a:t>
              </a:r>
              <a:r>
                <a:rPr lang="en-US" sz="21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1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퇴근시간에</a:t>
              </a:r>
              <a:r>
                <a:rPr lang="en-US" sz="21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1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퇴근</a:t>
              </a:r>
              <a:r>
                <a:rPr lang="en-US" sz="21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1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처리</a:t>
              </a:r>
              <a:endParaRPr lang="en-US" sz="2184" dirty="0">
                <a:solidFill>
                  <a:srgbClr val="F1F1F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092306" y="4446358"/>
            <a:ext cx="2759293" cy="1283040"/>
            <a:chOff x="0" y="-67038"/>
            <a:chExt cx="726694" cy="33794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67038"/>
              <a:ext cx="726694" cy="337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2"/>
                </a:lnSpc>
              </a:pPr>
              <a:r>
                <a:rPr lang="en-US" sz="21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외근</a:t>
              </a:r>
              <a:r>
                <a:rPr lang="en-US" sz="21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후 </a:t>
              </a:r>
              <a:r>
                <a:rPr lang="en-US" sz="21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퇴근</a:t>
              </a:r>
              <a:r>
                <a:rPr lang="en-US" sz="21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1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선택</a:t>
              </a:r>
              <a:endParaRPr lang="en-US" sz="2184" dirty="0">
                <a:solidFill>
                  <a:srgbClr val="F1F1F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</p:txBody>
        </p:sp>
      </p:grpSp>
      <p:sp>
        <p:nvSpPr>
          <p:cNvPr id="15" name="AutoShape 15"/>
          <p:cNvSpPr/>
          <p:nvPr/>
        </p:nvSpPr>
        <p:spPr>
          <a:xfrm>
            <a:off x="5092306" y="2875303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AutoShape 16"/>
          <p:cNvSpPr/>
          <p:nvPr/>
        </p:nvSpPr>
        <p:spPr>
          <a:xfrm>
            <a:off x="8394021" y="5143500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AutoShape 17"/>
          <p:cNvSpPr/>
          <p:nvPr/>
        </p:nvSpPr>
        <p:spPr>
          <a:xfrm>
            <a:off x="4538735" y="3560515"/>
            <a:ext cx="321214" cy="842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E7BEA14-BC98-3838-FD9A-089BA1BFB2EB}"/>
              </a:ext>
            </a:extLst>
          </p:cNvPr>
          <p:cNvSpPr>
            <a:spLocks/>
          </p:cNvSpPr>
          <p:nvPr/>
        </p:nvSpPr>
        <p:spPr>
          <a:xfrm>
            <a:off x="0" y="0"/>
            <a:ext cx="1364366" cy="10287000"/>
          </a:xfrm>
          <a:prstGeom prst="rect">
            <a:avLst/>
          </a:prstGeom>
          <a:solidFill>
            <a:srgbClr val="0B6E6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b"/>
          <a:lstStyle/>
          <a:p>
            <a:pPr algn="just"/>
            <a:r>
              <a:rPr lang="en-US" altLang="ko-KR" sz="6000" dirty="0"/>
              <a:t>	</a:t>
            </a:r>
            <a:r>
              <a:rPr lang="ko-KR" altLang="en-US" sz="6000" dirty="0"/>
              <a:t>근태관리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1226840"/>
              </p:ext>
            </p:extLst>
          </p:nvPr>
        </p:nvGraphicFramePr>
        <p:xfrm>
          <a:off x="1612018" y="455236"/>
          <a:ext cx="15063964" cy="1301164"/>
        </p:xfrm>
        <a:graphic>
          <a:graphicData uri="http://schemas.openxmlformats.org/drawingml/2006/table">
            <a:tbl>
              <a:tblPr/>
              <a:tblGrid>
                <a:gridCol w="2750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1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44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974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0582"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ko-KR" altLang="en-US" sz="2084" b="1" dirty="0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단위 프로세스 </a:t>
                      </a:r>
                      <a:r>
                        <a:rPr lang="en-US" altLang="ko-KR" sz="2084" b="1" dirty="0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ID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 smtClean="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UT-A06-019,</a:t>
                      </a:r>
                      <a:r>
                        <a:rPr lang="en-US" sz="2084" baseline="0" dirty="0" smtClean="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 20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프로세스명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내 근태 현황 조회/다운로드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582"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작성일자</a:t>
                      </a:r>
                      <a:endParaRPr lang="en-US" sz="1100"/>
                    </a:p>
                  </a:txBody>
                  <a:tcPr marL="9525" marR="9525" marT="9525" marB="9525" anchor="ctr">
                    <a:lnL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2025.07.17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작성자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 err="1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이세진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" name="Group 3"/>
          <p:cNvGrpSpPr/>
          <p:nvPr/>
        </p:nvGrpSpPr>
        <p:grpSpPr>
          <a:xfrm>
            <a:off x="1779441" y="2400300"/>
            <a:ext cx="2759293" cy="934182"/>
            <a:chOff x="0" y="0"/>
            <a:chExt cx="726694" cy="24605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26694" cy="246059"/>
            </a:xfrm>
            <a:custGeom>
              <a:avLst/>
              <a:gdLst/>
              <a:ahLst/>
              <a:cxnLst/>
              <a:rect l="l" t="t" r="r" b="b"/>
              <a:pathLst>
                <a:path w="726694" h="246059">
                  <a:moveTo>
                    <a:pt x="726694" y="72950"/>
                  </a:moveTo>
                  <a:lnTo>
                    <a:pt x="726694" y="173110"/>
                  </a:lnTo>
                  <a:cubicBezTo>
                    <a:pt x="726694" y="213399"/>
                    <a:pt x="694033" y="246059"/>
                    <a:pt x="653744" y="246059"/>
                  </a:cubicBezTo>
                  <a:lnTo>
                    <a:pt x="72950" y="246059"/>
                  </a:lnTo>
                  <a:cubicBezTo>
                    <a:pt x="53602" y="246059"/>
                    <a:pt x="35047" y="238374"/>
                    <a:pt x="21367" y="224693"/>
                  </a:cubicBezTo>
                  <a:cubicBezTo>
                    <a:pt x="7686" y="211012"/>
                    <a:pt x="0" y="192457"/>
                    <a:pt x="0" y="173110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04775"/>
              <a:ext cx="726694" cy="350834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3692"/>
                </a:lnSpc>
              </a:pPr>
              <a:r>
                <a:rPr lang="en-US" sz="21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근태 현황 목록</a:t>
              </a:r>
            </a:p>
            <a:p>
              <a:pPr algn="ctr">
                <a:lnSpc>
                  <a:spcPts val="3692"/>
                </a:lnSpc>
              </a:pPr>
              <a:r>
                <a:rPr lang="en-US" sz="21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화면 출력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785141" y="2400300"/>
            <a:ext cx="3491671" cy="934182"/>
            <a:chOff x="0" y="0"/>
            <a:chExt cx="808233" cy="24605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08233" cy="246059"/>
            </a:xfrm>
            <a:custGeom>
              <a:avLst/>
              <a:gdLst/>
              <a:ahLst/>
              <a:cxnLst/>
              <a:rect l="l" t="t" r="r" b="b"/>
              <a:pathLst>
                <a:path w="808233" h="246059">
                  <a:moveTo>
                    <a:pt x="808233" y="65590"/>
                  </a:moveTo>
                  <a:lnTo>
                    <a:pt x="808233" y="180469"/>
                  </a:lnTo>
                  <a:cubicBezTo>
                    <a:pt x="808233" y="216694"/>
                    <a:pt x="778867" y="246059"/>
                    <a:pt x="742642" y="246059"/>
                  </a:cubicBezTo>
                  <a:lnTo>
                    <a:pt x="65590" y="246059"/>
                  </a:lnTo>
                  <a:cubicBezTo>
                    <a:pt x="48195" y="246059"/>
                    <a:pt x="31512" y="239149"/>
                    <a:pt x="19211" y="226849"/>
                  </a:cubicBezTo>
                  <a:cubicBezTo>
                    <a:pt x="6910" y="214548"/>
                    <a:pt x="0" y="197865"/>
                    <a:pt x="0" y="180469"/>
                  </a:cubicBezTo>
                  <a:lnTo>
                    <a:pt x="0" y="65590"/>
                  </a:lnTo>
                  <a:cubicBezTo>
                    <a:pt x="0" y="48195"/>
                    <a:pt x="6910" y="31512"/>
                    <a:pt x="19211" y="19211"/>
                  </a:cubicBezTo>
                  <a:cubicBezTo>
                    <a:pt x="31512" y="6910"/>
                    <a:pt x="48195" y="0"/>
                    <a:pt x="65590" y="0"/>
                  </a:cubicBezTo>
                  <a:lnTo>
                    <a:pt x="742642" y="0"/>
                  </a:lnTo>
                  <a:cubicBezTo>
                    <a:pt x="760038" y="0"/>
                    <a:pt x="776721" y="6910"/>
                    <a:pt x="789022" y="19211"/>
                  </a:cubicBezTo>
                  <a:cubicBezTo>
                    <a:pt x="801322" y="31512"/>
                    <a:pt x="808233" y="48195"/>
                    <a:pt x="808233" y="6559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04775"/>
              <a:ext cx="808233" cy="350834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3692"/>
                </a:lnSpc>
              </a:pPr>
              <a:r>
                <a:rPr lang="en-US" sz="21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결근</a:t>
              </a:r>
              <a:r>
                <a:rPr lang="en-US" sz="21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/</a:t>
              </a:r>
              <a:r>
                <a:rPr lang="en-US" sz="21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지각</a:t>
              </a:r>
              <a:r>
                <a:rPr lang="en-US" sz="21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/</a:t>
              </a:r>
              <a:r>
                <a:rPr lang="en-US" sz="21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연차</a:t>
              </a:r>
              <a:r>
                <a:rPr lang="en-US" sz="21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1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항목별</a:t>
              </a:r>
              <a:endParaRPr lang="en-US" sz="2184" dirty="0">
                <a:solidFill>
                  <a:srgbClr val="F1F1F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  <a:p>
              <a:pPr algn="ctr">
                <a:lnSpc>
                  <a:spcPts val="3692"/>
                </a:lnSpc>
              </a:pPr>
              <a:r>
                <a:rPr lang="en-US" sz="21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리스트</a:t>
              </a:r>
              <a:r>
                <a:rPr lang="en-US" sz="21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1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출력</a:t>
              </a:r>
              <a:endParaRPr lang="en-US" sz="2184" dirty="0">
                <a:solidFill>
                  <a:srgbClr val="F1F1F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76813" y="4445466"/>
            <a:ext cx="2501288" cy="1283040"/>
            <a:chOff x="0" y="-67273"/>
            <a:chExt cx="658745" cy="33794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58745" cy="233172"/>
            </a:xfrm>
            <a:custGeom>
              <a:avLst/>
              <a:gdLst/>
              <a:ahLst/>
              <a:cxnLst/>
              <a:rect l="l" t="t" r="r" b="b"/>
              <a:pathLst>
                <a:path w="658745" h="233172">
                  <a:moveTo>
                    <a:pt x="658745" y="80475"/>
                  </a:moveTo>
                  <a:lnTo>
                    <a:pt x="658745" y="152698"/>
                  </a:lnTo>
                  <a:cubicBezTo>
                    <a:pt x="658745" y="197142"/>
                    <a:pt x="622715" y="233172"/>
                    <a:pt x="578271" y="233172"/>
                  </a:cubicBezTo>
                  <a:lnTo>
                    <a:pt x="80475" y="233172"/>
                  </a:lnTo>
                  <a:cubicBezTo>
                    <a:pt x="36030" y="233172"/>
                    <a:pt x="0" y="197142"/>
                    <a:pt x="0" y="152698"/>
                  </a:cubicBezTo>
                  <a:lnTo>
                    <a:pt x="0" y="80475"/>
                  </a:lnTo>
                  <a:cubicBezTo>
                    <a:pt x="0" y="36030"/>
                    <a:pt x="36030" y="0"/>
                    <a:pt x="80475" y="0"/>
                  </a:cubicBezTo>
                  <a:lnTo>
                    <a:pt x="578271" y="0"/>
                  </a:lnTo>
                  <a:cubicBezTo>
                    <a:pt x="622715" y="0"/>
                    <a:pt x="658745" y="36030"/>
                    <a:pt x="658745" y="80475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67273"/>
              <a:ext cx="658745" cy="337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2"/>
                </a:lnSpc>
              </a:pPr>
              <a:r>
                <a:rPr lang="en-US" sz="21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파일</a:t>
              </a:r>
              <a:r>
                <a:rPr lang="en-US" sz="21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1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다운로드</a:t>
              </a:r>
              <a:endParaRPr lang="en-US" sz="2184" dirty="0">
                <a:solidFill>
                  <a:srgbClr val="F1F1F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092306" y="4445466"/>
            <a:ext cx="2759293" cy="1283040"/>
            <a:chOff x="0" y="-67273"/>
            <a:chExt cx="726694" cy="33794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67273"/>
              <a:ext cx="726694" cy="337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2"/>
                </a:lnSpc>
              </a:pPr>
              <a:r>
                <a:rPr lang="en-US" sz="21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다운로드</a:t>
              </a:r>
              <a:r>
                <a:rPr lang="en-US" sz="21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1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버튼</a:t>
              </a:r>
              <a:r>
                <a:rPr lang="en-US" sz="21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1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클릭</a:t>
              </a:r>
              <a:endParaRPr lang="en-US" sz="2184" dirty="0">
                <a:solidFill>
                  <a:srgbClr val="F1F1F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</p:txBody>
        </p:sp>
      </p:grpSp>
      <p:sp>
        <p:nvSpPr>
          <p:cNvPr id="15" name="AutoShape 15"/>
          <p:cNvSpPr/>
          <p:nvPr/>
        </p:nvSpPr>
        <p:spPr>
          <a:xfrm>
            <a:off x="5092306" y="2861977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AutoShape 16"/>
          <p:cNvSpPr/>
          <p:nvPr/>
        </p:nvSpPr>
        <p:spPr>
          <a:xfrm>
            <a:off x="8645594" y="5162550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AutoShape 17"/>
          <p:cNvSpPr/>
          <p:nvPr/>
        </p:nvSpPr>
        <p:spPr>
          <a:xfrm>
            <a:off x="4538735" y="3560515"/>
            <a:ext cx="321214" cy="842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8CBB798-597A-75A7-4D0A-2419155D6390}"/>
              </a:ext>
            </a:extLst>
          </p:cNvPr>
          <p:cNvSpPr>
            <a:spLocks/>
          </p:cNvSpPr>
          <p:nvPr/>
        </p:nvSpPr>
        <p:spPr>
          <a:xfrm>
            <a:off x="0" y="0"/>
            <a:ext cx="1364366" cy="10287000"/>
          </a:xfrm>
          <a:prstGeom prst="rect">
            <a:avLst/>
          </a:prstGeom>
          <a:solidFill>
            <a:srgbClr val="0B6E6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b"/>
          <a:lstStyle/>
          <a:p>
            <a:pPr algn="just"/>
            <a:r>
              <a:rPr lang="en-US" altLang="ko-KR" sz="6000" dirty="0"/>
              <a:t>	</a:t>
            </a:r>
            <a:r>
              <a:rPr lang="ko-KR" altLang="en-US" sz="6000" dirty="0"/>
              <a:t>근태관리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0473365"/>
              </p:ext>
            </p:extLst>
          </p:nvPr>
        </p:nvGraphicFramePr>
        <p:xfrm>
          <a:off x="1612018" y="426661"/>
          <a:ext cx="15063964" cy="1301164"/>
        </p:xfrm>
        <a:graphic>
          <a:graphicData uri="http://schemas.openxmlformats.org/drawingml/2006/table">
            <a:tbl>
              <a:tblPr/>
              <a:tblGrid>
                <a:gridCol w="2750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1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44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974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0582"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ko-KR" altLang="en-US" sz="2084" b="1" dirty="0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단위 프로세스 </a:t>
                      </a:r>
                      <a:r>
                        <a:rPr lang="en-US" altLang="ko-KR" sz="2084" b="1" dirty="0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ID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 smtClean="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UT-A06-021,</a:t>
                      </a:r>
                      <a:r>
                        <a:rPr lang="en-US" sz="2084" baseline="0" dirty="0" smtClean="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 022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프로세스명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내 인사정보/퇴직금 조회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582"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작성일자</a:t>
                      </a:r>
                      <a:endParaRPr lang="en-US" sz="1100"/>
                    </a:p>
                  </a:txBody>
                  <a:tcPr marL="9525" marR="9525" marT="9525" marB="9525" anchor="ctr">
                    <a:lnL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2025.07.17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작성자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 err="1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이세진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" name="Group 3"/>
          <p:cNvGrpSpPr/>
          <p:nvPr/>
        </p:nvGrpSpPr>
        <p:grpSpPr>
          <a:xfrm>
            <a:off x="1779441" y="2456718"/>
            <a:ext cx="2759293" cy="934182"/>
            <a:chOff x="0" y="0"/>
            <a:chExt cx="726694" cy="24605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26694" cy="246059"/>
            </a:xfrm>
            <a:custGeom>
              <a:avLst/>
              <a:gdLst/>
              <a:ahLst/>
              <a:cxnLst/>
              <a:rect l="l" t="t" r="r" b="b"/>
              <a:pathLst>
                <a:path w="726694" h="246059">
                  <a:moveTo>
                    <a:pt x="726694" y="72950"/>
                  </a:moveTo>
                  <a:lnTo>
                    <a:pt x="726694" y="173110"/>
                  </a:lnTo>
                  <a:cubicBezTo>
                    <a:pt x="726694" y="213399"/>
                    <a:pt x="694033" y="246059"/>
                    <a:pt x="653744" y="246059"/>
                  </a:cubicBezTo>
                  <a:lnTo>
                    <a:pt x="72950" y="246059"/>
                  </a:lnTo>
                  <a:cubicBezTo>
                    <a:pt x="53602" y="246059"/>
                    <a:pt x="35047" y="238374"/>
                    <a:pt x="21367" y="224693"/>
                  </a:cubicBezTo>
                  <a:cubicBezTo>
                    <a:pt x="7686" y="211012"/>
                    <a:pt x="0" y="192457"/>
                    <a:pt x="0" y="173110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 anchor="b"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04775"/>
              <a:ext cx="726694" cy="350834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3692"/>
                </a:lnSpc>
              </a:pPr>
              <a:r>
                <a:rPr lang="en-US" sz="21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내 인사정보</a:t>
              </a:r>
            </a:p>
            <a:p>
              <a:pPr algn="ctr">
                <a:lnSpc>
                  <a:spcPts val="3692"/>
                </a:lnSpc>
              </a:pPr>
              <a:r>
                <a:rPr lang="en-US" sz="21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버튼 클릭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260059" y="2413626"/>
            <a:ext cx="2759293" cy="885254"/>
            <a:chOff x="0" y="0"/>
            <a:chExt cx="726694" cy="23317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04775"/>
              <a:ext cx="726694" cy="337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인사 정보 조회</a:t>
              </a:r>
            </a:p>
          </p:txBody>
        </p:sp>
      </p:grpSp>
      <p:sp>
        <p:nvSpPr>
          <p:cNvPr id="9" name="AutoShape 9"/>
          <p:cNvSpPr/>
          <p:nvPr/>
        </p:nvSpPr>
        <p:spPr>
          <a:xfrm>
            <a:off x="4980785" y="2899767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AutoShape 10"/>
          <p:cNvSpPr/>
          <p:nvPr/>
        </p:nvSpPr>
        <p:spPr>
          <a:xfrm>
            <a:off x="4990310" y="3533777"/>
            <a:ext cx="670275" cy="38698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1" name="Group 11"/>
          <p:cNvGrpSpPr/>
          <p:nvPr/>
        </p:nvGrpSpPr>
        <p:grpSpPr>
          <a:xfrm>
            <a:off x="6260059" y="3447471"/>
            <a:ext cx="2778343" cy="1283040"/>
            <a:chOff x="0" y="-66844"/>
            <a:chExt cx="731711" cy="33794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017" y="-66844"/>
              <a:ext cx="726694" cy="337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3"/>
                </a:lnSpc>
              </a:pPr>
              <a:r>
                <a:rPr lang="en-US" sz="20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퇴직금</a:t>
              </a:r>
              <a:r>
                <a:rPr lang="en-US" sz="20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0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조회</a:t>
              </a:r>
              <a:r>
                <a:rPr lang="en-US" sz="20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0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버튼</a:t>
              </a:r>
              <a:r>
                <a:rPr lang="en-US" sz="20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0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클릭</a:t>
              </a:r>
              <a:endParaRPr lang="en-US" sz="2084" dirty="0">
                <a:solidFill>
                  <a:srgbClr val="F1F1F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260059" y="5014697"/>
            <a:ext cx="2795547" cy="1283040"/>
            <a:chOff x="0" y="-67852"/>
            <a:chExt cx="736242" cy="33794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548" y="-67852"/>
              <a:ext cx="726694" cy="337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3"/>
                </a:lnSpc>
              </a:pPr>
              <a:r>
                <a:rPr lang="en-US" sz="20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예상</a:t>
              </a:r>
              <a:r>
                <a:rPr lang="en-US" sz="20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0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퇴직금</a:t>
              </a:r>
              <a:r>
                <a:rPr lang="en-US" sz="20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0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출력</a:t>
              </a:r>
              <a:endParaRPr lang="en-US" sz="2084" dirty="0">
                <a:solidFill>
                  <a:srgbClr val="F1F1F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</p:txBody>
        </p:sp>
      </p:grpSp>
      <p:sp>
        <p:nvSpPr>
          <p:cNvPr id="17" name="AutoShape 17"/>
          <p:cNvSpPr/>
          <p:nvPr/>
        </p:nvSpPr>
        <p:spPr>
          <a:xfrm>
            <a:off x="7658756" y="4688379"/>
            <a:ext cx="0" cy="4820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84A3380-86BC-9E7C-A724-B33138EDC65A}"/>
              </a:ext>
            </a:extLst>
          </p:cNvPr>
          <p:cNvSpPr>
            <a:spLocks/>
          </p:cNvSpPr>
          <p:nvPr/>
        </p:nvSpPr>
        <p:spPr>
          <a:xfrm>
            <a:off x="0" y="0"/>
            <a:ext cx="1364366" cy="10287000"/>
          </a:xfrm>
          <a:prstGeom prst="rect">
            <a:avLst/>
          </a:prstGeom>
          <a:solidFill>
            <a:srgbClr val="0B6E6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b"/>
          <a:lstStyle/>
          <a:p>
            <a:pPr algn="just"/>
            <a:r>
              <a:rPr lang="en-US" altLang="ko-KR" sz="6000" dirty="0"/>
              <a:t>	</a:t>
            </a:r>
            <a:r>
              <a:rPr lang="ko-KR" altLang="en-US" sz="6000" dirty="0"/>
              <a:t>근태관리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7168152"/>
              </p:ext>
            </p:extLst>
          </p:nvPr>
        </p:nvGraphicFramePr>
        <p:xfrm>
          <a:off x="1612018" y="426661"/>
          <a:ext cx="15063964" cy="1301164"/>
        </p:xfrm>
        <a:graphic>
          <a:graphicData uri="http://schemas.openxmlformats.org/drawingml/2006/table">
            <a:tbl>
              <a:tblPr/>
              <a:tblGrid>
                <a:gridCol w="2750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1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44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974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0582"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ko-KR" altLang="en-US" sz="2084" b="1" dirty="0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단위 프로세스 </a:t>
                      </a:r>
                      <a:r>
                        <a:rPr lang="en-US" altLang="ko-KR" sz="2084" b="1" dirty="0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ID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 smtClean="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UT-A06-023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프로세스명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부서 근태 관리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582"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작성일자</a:t>
                      </a:r>
                      <a:endParaRPr lang="en-US" sz="1100"/>
                    </a:p>
                  </a:txBody>
                  <a:tcPr marL="9525" marR="9525" marT="9525" marB="9525" anchor="ctr">
                    <a:lnL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2025.07.17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작성자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 err="1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이세진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" name="Group 3"/>
          <p:cNvGrpSpPr/>
          <p:nvPr/>
        </p:nvGrpSpPr>
        <p:grpSpPr>
          <a:xfrm>
            <a:off x="1779441" y="2413626"/>
            <a:ext cx="2759293" cy="885254"/>
            <a:chOff x="0" y="0"/>
            <a:chExt cx="726694" cy="23317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 anchor="b"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04775"/>
              <a:ext cx="726694" cy="337947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부서 근태 현황</a:t>
              </a:r>
            </a:p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버튼 클릭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260059" y="1809495"/>
            <a:ext cx="2759293" cy="1669225"/>
            <a:chOff x="0" y="-132257"/>
            <a:chExt cx="726694" cy="3654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 anchor="b"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32257"/>
              <a:ext cx="726694" cy="337947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3523"/>
                </a:lnSpc>
              </a:pPr>
              <a:r>
                <a:rPr lang="en-US" sz="20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부서원</a:t>
              </a:r>
              <a:r>
                <a:rPr lang="en-US" sz="20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0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근태</a:t>
              </a:r>
              <a:r>
                <a:rPr lang="en-US" sz="20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0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현황</a:t>
              </a:r>
              <a:endParaRPr lang="en-US" sz="2084" dirty="0">
                <a:solidFill>
                  <a:srgbClr val="F1F1F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  <a:p>
              <a:pPr algn="ctr">
                <a:lnSpc>
                  <a:spcPts val="3523"/>
                </a:lnSpc>
              </a:pPr>
              <a:r>
                <a:rPr lang="en-US" sz="20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리스트</a:t>
              </a:r>
              <a:r>
                <a:rPr lang="en-US" sz="20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0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형식으로</a:t>
              </a:r>
              <a:r>
                <a:rPr lang="en-US" sz="20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0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조회</a:t>
              </a:r>
              <a:endParaRPr lang="en-US" sz="2084" dirty="0">
                <a:solidFill>
                  <a:srgbClr val="F1F1F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350719" y="2195684"/>
            <a:ext cx="2769124" cy="1283040"/>
            <a:chOff x="0" y="-57405"/>
            <a:chExt cx="729283" cy="33794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589" y="-57405"/>
              <a:ext cx="726694" cy="337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3"/>
                </a:lnSpc>
              </a:pPr>
              <a:r>
                <a:rPr lang="en-US" sz="20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부서원</a:t>
              </a:r>
              <a:r>
                <a:rPr lang="en-US" sz="20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0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선택</a:t>
              </a:r>
              <a:endParaRPr lang="en-US" sz="2084" dirty="0">
                <a:solidFill>
                  <a:srgbClr val="F1F1F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</p:txBody>
        </p:sp>
      </p:grpSp>
      <p:sp>
        <p:nvSpPr>
          <p:cNvPr id="12" name="AutoShape 12"/>
          <p:cNvSpPr/>
          <p:nvPr/>
        </p:nvSpPr>
        <p:spPr>
          <a:xfrm>
            <a:off x="5177988" y="2894353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 anchor="b"/>
          <a:lstStyle/>
          <a:p>
            <a:endParaRPr lang="ko-KR" altLang="en-US"/>
          </a:p>
        </p:txBody>
      </p:sp>
      <p:sp>
        <p:nvSpPr>
          <p:cNvPr id="13" name="AutoShape 13"/>
          <p:cNvSpPr/>
          <p:nvPr/>
        </p:nvSpPr>
        <p:spPr>
          <a:xfrm>
            <a:off x="9265845" y="2913403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 anchor="b"/>
          <a:lstStyle/>
          <a:p>
            <a:endParaRPr lang="ko-KR" altLang="en-US"/>
          </a:p>
        </p:txBody>
      </p:sp>
      <p:grpSp>
        <p:nvGrpSpPr>
          <p:cNvPr id="14" name="Group 14"/>
          <p:cNvGrpSpPr/>
          <p:nvPr/>
        </p:nvGrpSpPr>
        <p:grpSpPr>
          <a:xfrm>
            <a:off x="14194887" y="2176245"/>
            <a:ext cx="2759293" cy="1283040"/>
            <a:chOff x="0" y="-62525"/>
            <a:chExt cx="726694" cy="33794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62525"/>
              <a:ext cx="726694" cy="337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3"/>
                </a:lnSpc>
              </a:pPr>
              <a:r>
                <a:rPr lang="en-US" sz="20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부서원</a:t>
              </a:r>
              <a:r>
                <a:rPr lang="en-US" sz="20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0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근태현황</a:t>
              </a:r>
              <a:r>
                <a:rPr lang="en-US" sz="20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0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조회</a:t>
              </a:r>
              <a:endParaRPr lang="en-US" sz="2084" dirty="0">
                <a:solidFill>
                  <a:srgbClr val="F1F1F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</p:txBody>
        </p:sp>
      </p:grpSp>
      <p:sp>
        <p:nvSpPr>
          <p:cNvPr id="17" name="AutoShape 17"/>
          <p:cNvSpPr/>
          <p:nvPr/>
        </p:nvSpPr>
        <p:spPr>
          <a:xfrm>
            <a:off x="13233837" y="2837203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92DAB83-99A9-F4E9-39AE-9EF888A256FB}"/>
              </a:ext>
            </a:extLst>
          </p:cNvPr>
          <p:cNvSpPr>
            <a:spLocks/>
          </p:cNvSpPr>
          <p:nvPr/>
        </p:nvSpPr>
        <p:spPr>
          <a:xfrm>
            <a:off x="0" y="0"/>
            <a:ext cx="1364366" cy="10287000"/>
          </a:xfrm>
          <a:prstGeom prst="rect">
            <a:avLst/>
          </a:prstGeom>
          <a:solidFill>
            <a:srgbClr val="0B6E6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b"/>
          <a:lstStyle/>
          <a:p>
            <a:pPr algn="just"/>
            <a:r>
              <a:rPr lang="en-US" altLang="ko-KR" sz="6000" dirty="0"/>
              <a:t>	</a:t>
            </a:r>
            <a:r>
              <a:rPr lang="ko-KR" altLang="en-US" sz="6000" dirty="0"/>
              <a:t>근태관리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6958536"/>
              </p:ext>
            </p:extLst>
          </p:nvPr>
        </p:nvGraphicFramePr>
        <p:xfrm>
          <a:off x="1612018" y="378118"/>
          <a:ext cx="15063964" cy="1301164"/>
        </p:xfrm>
        <a:graphic>
          <a:graphicData uri="http://schemas.openxmlformats.org/drawingml/2006/table">
            <a:tbl>
              <a:tblPr/>
              <a:tblGrid>
                <a:gridCol w="2750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1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44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974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0582"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ko-KR" altLang="en-US" sz="2084" b="1" dirty="0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단위 프로세스 </a:t>
                      </a:r>
                      <a:r>
                        <a:rPr lang="en-US" altLang="ko-KR" sz="2084" b="1" dirty="0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ID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 smtClean="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UT-A07-025,</a:t>
                      </a:r>
                      <a:r>
                        <a:rPr lang="en-US" sz="2084" baseline="0" dirty="0" smtClean="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 026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프로세스명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게시판 대쉬보드/목록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582"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작성일자</a:t>
                      </a:r>
                      <a:endParaRPr lang="en-US" sz="1100"/>
                    </a:p>
                  </a:txBody>
                  <a:tcPr marL="9525" marR="9525" marT="9525" marB="9525" anchor="ctr">
                    <a:lnL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2025.07.17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작성자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 err="1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이채연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" name="Group 3"/>
          <p:cNvGrpSpPr/>
          <p:nvPr/>
        </p:nvGrpSpPr>
        <p:grpSpPr>
          <a:xfrm>
            <a:off x="1764693" y="2195684"/>
            <a:ext cx="2774041" cy="1283040"/>
            <a:chOff x="-3884" y="-57405"/>
            <a:chExt cx="730578" cy="3379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-3884" y="-57405"/>
              <a:ext cx="726694" cy="337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3"/>
                </a:lnSpc>
              </a:pPr>
              <a:r>
                <a:rPr lang="en-US" sz="20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게시판</a:t>
              </a:r>
              <a:r>
                <a:rPr lang="en-US" sz="20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0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클릭</a:t>
              </a:r>
              <a:endParaRPr lang="en-US" sz="2084" dirty="0">
                <a:solidFill>
                  <a:srgbClr val="F1F1F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260059" y="2161499"/>
            <a:ext cx="2759293" cy="1283040"/>
            <a:chOff x="0" y="-66409"/>
            <a:chExt cx="726694" cy="3379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66409"/>
              <a:ext cx="726694" cy="337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3"/>
                </a:lnSpc>
              </a:pPr>
              <a:r>
                <a:rPr lang="en-US" sz="20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게시글</a:t>
              </a:r>
              <a:r>
                <a:rPr lang="en-US" sz="20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0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목록</a:t>
              </a:r>
              <a:r>
                <a:rPr lang="en-US" sz="20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0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조회</a:t>
              </a:r>
              <a:endParaRPr lang="en-US" sz="2084" dirty="0">
                <a:solidFill>
                  <a:srgbClr val="F1F1F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350719" y="2161499"/>
            <a:ext cx="2759293" cy="1283040"/>
            <a:chOff x="0" y="-66409"/>
            <a:chExt cx="726694" cy="33794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66409"/>
              <a:ext cx="726694" cy="337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3"/>
                </a:lnSpc>
              </a:pPr>
              <a:r>
                <a:rPr lang="en-US" sz="20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게시판</a:t>
              </a:r>
              <a:r>
                <a:rPr lang="en-US" sz="20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0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클릭</a:t>
              </a:r>
              <a:endParaRPr lang="en-US" sz="2084" dirty="0">
                <a:solidFill>
                  <a:srgbClr val="F1F1F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</p:txBody>
        </p:sp>
      </p:grpSp>
      <p:sp>
        <p:nvSpPr>
          <p:cNvPr id="12" name="AutoShape 12"/>
          <p:cNvSpPr/>
          <p:nvPr/>
        </p:nvSpPr>
        <p:spPr>
          <a:xfrm>
            <a:off x="5177988" y="2894353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AutoShape 13"/>
          <p:cNvSpPr/>
          <p:nvPr/>
        </p:nvSpPr>
        <p:spPr>
          <a:xfrm>
            <a:off x="9265845" y="2913403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4" name="Group 14"/>
          <p:cNvGrpSpPr/>
          <p:nvPr/>
        </p:nvGrpSpPr>
        <p:grpSpPr>
          <a:xfrm>
            <a:off x="14194887" y="2128314"/>
            <a:ext cx="2759293" cy="1283040"/>
            <a:chOff x="0" y="-75150"/>
            <a:chExt cx="726694" cy="33794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75150"/>
              <a:ext cx="726694" cy="337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3"/>
                </a:lnSpc>
              </a:pPr>
              <a:r>
                <a:rPr lang="en-US" sz="20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해당</a:t>
              </a:r>
              <a:r>
                <a:rPr lang="en-US" sz="20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0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게시판</a:t>
              </a:r>
              <a:r>
                <a:rPr lang="en-US" sz="20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0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목록</a:t>
              </a:r>
              <a:r>
                <a:rPr lang="en-US" sz="20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0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출력</a:t>
              </a:r>
              <a:endParaRPr lang="en-US" sz="2084" dirty="0">
                <a:solidFill>
                  <a:srgbClr val="F1F1F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</p:txBody>
        </p:sp>
      </p:grpSp>
      <p:sp>
        <p:nvSpPr>
          <p:cNvPr id="17" name="AutoShape 17"/>
          <p:cNvSpPr/>
          <p:nvPr/>
        </p:nvSpPr>
        <p:spPr>
          <a:xfrm>
            <a:off x="13233837" y="2837203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D9D9C23-98F6-9816-D546-15361AC734A4}"/>
              </a:ext>
            </a:extLst>
          </p:cNvPr>
          <p:cNvSpPr>
            <a:spLocks/>
          </p:cNvSpPr>
          <p:nvPr/>
        </p:nvSpPr>
        <p:spPr>
          <a:xfrm>
            <a:off x="0" y="0"/>
            <a:ext cx="1364366" cy="10287000"/>
          </a:xfrm>
          <a:prstGeom prst="rect">
            <a:avLst/>
          </a:prstGeom>
          <a:solidFill>
            <a:srgbClr val="0B6E6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b"/>
          <a:lstStyle/>
          <a:p>
            <a:pPr algn="just"/>
            <a:r>
              <a:rPr lang="ko-KR" altLang="en-US" sz="6000" dirty="0"/>
              <a:t>　게시판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1827403"/>
              </p:ext>
            </p:extLst>
          </p:nvPr>
        </p:nvGraphicFramePr>
        <p:xfrm>
          <a:off x="1612018" y="426661"/>
          <a:ext cx="15063964" cy="1301164"/>
        </p:xfrm>
        <a:graphic>
          <a:graphicData uri="http://schemas.openxmlformats.org/drawingml/2006/table">
            <a:tbl>
              <a:tblPr/>
              <a:tblGrid>
                <a:gridCol w="2750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1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44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974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0582"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ko-KR" altLang="en-US" sz="2084" b="1" dirty="0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단위 프로세스 </a:t>
                      </a:r>
                      <a:r>
                        <a:rPr lang="en-US" altLang="ko-KR" sz="2084" b="1" dirty="0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ID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 smtClean="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UT-A07-027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프로세스명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게시글 등록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582"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작성일자</a:t>
                      </a:r>
                      <a:endParaRPr lang="en-US" sz="1100"/>
                    </a:p>
                  </a:txBody>
                  <a:tcPr marL="9525" marR="9525" marT="9525" marB="9525" anchor="ctr">
                    <a:lnL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2025.07.17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작성자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 err="1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이채연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" name="Group 3"/>
          <p:cNvGrpSpPr/>
          <p:nvPr/>
        </p:nvGrpSpPr>
        <p:grpSpPr>
          <a:xfrm>
            <a:off x="1779441" y="2413626"/>
            <a:ext cx="2759293" cy="885254"/>
            <a:chOff x="0" y="0"/>
            <a:chExt cx="726694" cy="23317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04775"/>
              <a:ext cx="726694" cy="337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게시글 목록 조회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981861" y="2394576"/>
            <a:ext cx="2759293" cy="885254"/>
            <a:chOff x="0" y="0"/>
            <a:chExt cx="726694" cy="23317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 anchor="b"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04775"/>
              <a:ext cx="726694" cy="337947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새 게시글 등록</a:t>
              </a:r>
            </a:p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버튼 클릭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072521" y="2394576"/>
            <a:ext cx="2759293" cy="885254"/>
            <a:chOff x="0" y="0"/>
            <a:chExt cx="726694" cy="2331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 anchor="b"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04775"/>
              <a:ext cx="726694" cy="337947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글 작성페이지</a:t>
              </a:r>
            </a:p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출력</a:t>
              </a:r>
            </a:p>
          </p:txBody>
        </p:sp>
      </p:grpSp>
      <p:sp>
        <p:nvSpPr>
          <p:cNvPr id="12" name="AutoShape 12"/>
          <p:cNvSpPr/>
          <p:nvPr/>
        </p:nvSpPr>
        <p:spPr>
          <a:xfrm>
            <a:off x="4899790" y="2875303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AutoShape 13"/>
          <p:cNvSpPr/>
          <p:nvPr/>
        </p:nvSpPr>
        <p:spPr>
          <a:xfrm>
            <a:off x="8987646" y="2894353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 anchor="b"/>
          <a:lstStyle/>
          <a:p>
            <a:endParaRPr lang="ko-KR" altLang="en-US"/>
          </a:p>
        </p:txBody>
      </p:sp>
      <p:grpSp>
        <p:nvGrpSpPr>
          <p:cNvPr id="14" name="Group 14"/>
          <p:cNvGrpSpPr/>
          <p:nvPr/>
        </p:nvGrpSpPr>
        <p:grpSpPr>
          <a:xfrm>
            <a:off x="13916688" y="2394576"/>
            <a:ext cx="2759293" cy="885254"/>
            <a:chOff x="0" y="0"/>
            <a:chExt cx="726694" cy="23317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04775"/>
              <a:ext cx="726694" cy="337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내용 입력</a:t>
              </a:r>
            </a:p>
          </p:txBody>
        </p:sp>
      </p:grpSp>
      <p:sp>
        <p:nvSpPr>
          <p:cNvPr id="17" name="AutoShape 17"/>
          <p:cNvSpPr/>
          <p:nvPr/>
        </p:nvSpPr>
        <p:spPr>
          <a:xfrm>
            <a:off x="12955639" y="2837203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AutoShape 18"/>
          <p:cNvSpPr/>
          <p:nvPr/>
        </p:nvSpPr>
        <p:spPr>
          <a:xfrm flipH="1">
            <a:off x="12064569" y="3309338"/>
            <a:ext cx="1712371" cy="70072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9" name="Group 19"/>
          <p:cNvGrpSpPr/>
          <p:nvPr/>
        </p:nvGrpSpPr>
        <p:grpSpPr>
          <a:xfrm>
            <a:off x="9305276" y="4258246"/>
            <a:ext cx="2759293" cy="885254"/>
            <a:chOff x="0" y="0"/>
            <a:chExt cx="726694" cy="23317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104775"/>
              <a:ext cx="726694" cy="337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첨부파일 선택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3916688" y="4258246"/>
            <a:ext cx="2759293" cy="885254"/>
            <a:chOff x="0" y="0"/>
            <a:chExt cx="726694" cy="23317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104775"/>
              <a:ext cx="726694" cy="337947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게시글 등록</a:t>
              </a:r>
            </a:p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버튼 클릭</a:t>
              </a:r>
            </a:p>
          </p:txBody>
        </p:sp>
      </p:grpSp>
      <p:sp>
        <p:nvSpPr>
          <p:cNvPr id="25" name="AutoShape 25"/>
          <p:cNvSpPr/>
          <p:nvPr/>
        </p:nvSpPr>
        <p:spPr>
          <a:xfrm>
            <a:off x="15296335" y="3528014"/>
            <a:ext cx="0" cy="4820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AutoShape 26"/>
          <p:cNvSpPr/>
          <p:nvPr/>
        </p:nvSpPr>
        <p:spPr>
          <a:xfrm>
            <a:off x="12537027" y="4719923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27" name="Group 27"/>
          <p:cNvGrpSpPr/>
          <p:nvPr/>
        </p:nvGrpSpPr>
        <p:grpSpPr>
          <a:xfrm>
            <a:off x="13916688" y="6121382"/>
            <a:ext cx="2759293" cy="885254"/>
            <a:chOff x="0" y="0"/>
            <a:chExt cx="726694" cy="23317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104775"/>
              <a:ext cx="726694" cy="337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등록 완료 알림 출력</a:t>
              </a:r>
            </a:p>
          </p:txBody>
        </p:sp>
      </p:grpSp>
      <p:sp>
        <p:nvSpPr>
          <p:cNvPr id="30" name="AutoShape 30"/>
          <p:cNvSpPr/>
          <p:nvPr/>
        </p:nvSpPr>
        <p:spPr>
          <a:xfrm>
            <a:off x="15296335" y="5391150"/>
            <a:ext cx="0" cy="4820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80E4F2F-C1E9-6336-04F9-6BF8A9091D69}"/>
              </a:ext>
            </a:extLst>
          </p:cNvPr>
          <p:cNvSpPr>
            <a:spLocks/>
          </p:cNvSpPr>
          <p:nvPr/>
        </p:nvSpPr>
        <p:spPr>
          <a:xfrm>
            <a:off x="0" y="0"/>
            <a:ext cx="1364366" cy="10287000"/>
          </a:xfrm>
          <a:prstGeom prst="rect">
            <a:avLst/>
          </a:prstGeom>
          <a:solidFill>
            <a:srgbClr val="0B6E6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b"/>
          <a:lstStyle/>
          <a:p>
            <a:pPr algn="just"/>
            <a:r>
              <a:rPr lang="ko-KR" altLang="en-US" sz="6000" dirty="0"/>
              <a:t>　게시판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5729462"/>
              </p:ext>
            </p:extLst>
          </p:nvPr>
        </p:nvGraphicFramePr>
        <p:xfrm>
          <a:off x="1612018" y="426661"/>
          <a:ext cx="15063964" cy="1301164"/>
        </p:xfrm>
        <a:graphic>
          <a:graphicData uri="http://schemas.openxmlformats.org/drawingml/2006/table">
            <a:tbl>
              <a:tblPr/>
              <a:tblGrid>
                <a:gridCol w="2750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1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44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974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0582"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ko-KR" altLang="en-US" sz="2084" b="1" dirty="0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단위 프로세스 </a:t>
                      </a:r>
                      <a:r>
                        <a:rPr lang="en-US" altLang="ko-KR" sz="2084" b="1" dirty="0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ID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 smtClean="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UT-A07-028~30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프로세스명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게시글 상세/삭제/수정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582"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작성일자</a:t>
                      </a:r>
                      <a:endParaRPr lang="en-US" sz="1100"/>
                    </a:p>
                  </a:txBody>
                  <a:tcPr marL="9525" marR="9525" marT="9525" marB="9525" anchor="ctr">
                    <a:lnL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2025.07.17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작성자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 err="1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이채연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" name="Group 3"/>
          <p:cNvGrpSpPr/>
          <p:nvPr/>
        </p:nvGrpSpPr>
        <p:grpSpPr>
          <a:xfrm>
            <a:off x="1779441" y="2413626"/>
            <a:ext cx="2759293" cy="885254"/>
            <a:chOff x="0" y="0"/>
            <a:chExt cx="726694" cy="23317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04775"/>
              <a:ext cx="726694" cy="337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게시글 목록 조회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981861" y="2394576"/>
            <a:ext cx="2759293" cy="885254"/>
            <a:chOff x="0" y="0"/>
            <a:chExt cx="726694" cy="23317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 anchor="b"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04775"/>
              <a:ext cx="726694" cy="337947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게시글 상세</a:t>
              </a:r>
            </a:p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버튼 클릭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072521" y="2394576"/>
            <a:ext cx="2759293" cy="885254"/>
            <a:chOff x="0" y="0"/>
            <a:chExt cx="726694" cy="2331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04775"/>
              <a:ext cx="726694" cy="337947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게시글 수정</a:t>
              </a:r>
            </a:p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버튼 클릭</a:t>
              </a:r>
            </a:p>
          </p:txBody>
        </p:sp>
      </p:grpSp>
      <p:sp>
        <p:nvSpPr>
          <p:cNvPr id="12" name="AutoShape 12"/>
          <p:cNvSpPr/>
          <p:nvPr/>
        </p:nvSpPr>
        <p:spPr>
          <a:xfrm>
            <a:off x="4899790" y="2875303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 anchor="b"/>
          <a:lstStyle/>
          <a:p>
            <a:endParaRPr lang="ko-KR" altLang="en-US"/>
          </a:p>
        </p:txBody>
      </p:sp>
      <p:sp>
        <p:nvSpPr>
          <p:cNvPr id="13" name="AutoShape 13"/>
          <p:cNvSpPr/>
          <p:nvPr/>
        </p:nvSpPr>
        <p:spPr>
          <a:xfrm>
            <a:off x="8987646" y="2894353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4" name="Group 14"/>
          <p:cNvGrpSpPr/>
          <p:nvPr/>
        </p:nvGrpSpPr>
        <p:grpSpPr>
          <a:xfrm>
            <a:off x="13916688" y="2394576"/>
            <a:ext cx="2759293" cy="885254"/>
            <a:chOff x="0" y="0"/>
            <a:chExt cx="726694" cy="23317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04775"/>
              <a:ext cx="726694" cy="337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내용 입력</a:t>
              </a:r>
            </a:p>
          </p:txBody>
        </p:sp>
      </p:grpSp>
      <p:sp>
        <p:nvSpPr>
          <p:cNvPr id="17" name="AutoShape 17"/>
          <p:cNvSpPr/>
          <p:nvPr/>
        </p:nvSpPr>
        <p:spPr>
          <a:xfrm>
            <a:off x="12955639" y="2837203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AutoShape 18"/>
          <p:cNvSpPr/>
          <p:nvPr/>
        </p:nvSpPr>
        <p:spPr>
          <a:xfrm flipH="1">
            <a:off x="12064569" y="3309338"/>
            <a:ext cx="1712371" cy="70072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9" name="Group 19"/>
          <p:cNvGrpSpPr/>
          <p:nvPr/>
        </p:nvGrpSpPr>
        <p:grpSpPr>
          <a:xfrm>
            <a:off x="9305276" y="4258246"/>
            <a:ext cx="2759293" cy="885254"/>
            <a:chOff x="0" y="0"/>
            <a:chExt cx="726694" cy="23317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104775"/>
              <a:ext cx="726694" cy="337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첨부파일 선택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3916688" y="4258246"/>
            <a:ext cx="2759293" cy="885254"/>
            <a:chOff x="0" y="0"/>
            <a:chExt cx="726694" cy="23317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 anchor="b"/>
            <a:lstStyle/>
            <a:p>
              <a:endParaRPr lang="ko-KR" alt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104775"/>
              <a:ext cx="726694" cy="337947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게시글 등록</a:t>
              </a:r>
            </a:p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버튼 클릭</a:t>
              </a:r>
            </a:p>
          </p:txBody>
        </p:sp>
      </p:grpSp>
      <p:sp>
        <p:nvSpPr>
          <p:cNvPr id="25" name="AutoShape 25"/>
          <p:cNvSpPr/>
          <p:nvPr/>
        </p:nvSpPr>
        <p:spPr>
          <a:xfrm>
            <a:off x="15296335" y="3528014"/>
            <a:ext cx="0" cy="4820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AutoShape 26"/>
          <p:cNvSpPr/>
          <p:nvPr/>
        </p:nvSpPr>
        <p:spPr>
          <a:xfrm>
            <a:off x="12537027" y="4719923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27" name="Group 27"/>
          <p:cNvGrpSpPr/>
          <p:nvPr/>
        </p:nvGrpSpPr>
        <p:grpSpPr>
          <a:xfrm>
            <a:off x="5981861" y="4258246"/>
            <a:ext cx="2759293" cy="885254"/>
            <a:chOff x="0" y="0"/>
            <a:chExt cx="726694" cy="23317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 anchor="b"/>
            <a:lstStyle/>
            <a:p>
              <a:endParaRPr lang="ko-KR" alt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104775"/>
              <a:ext cx="726694" cy="337947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게시글 삭제</a:t>
              </a:r>
            </a:p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버튼 클릭</a:t>
              </a:r>
            </a:p>
          </p:txBody>
        </p:sp>
      </p:grpSp>
      <p:sp>
        <p:nvSpPr>
          <p:cNvPr id="30" name="AutoShape 30"/>
          <p:cNvSpPr/>
          <p:nvPr/>
        </p:nvSpPr>
        <p:spPr>
          <a:xfrm>
            <a:off x="7361507" y="3528014"/>
            <a:ext cx="0" cy="4820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 anchor="b"/>
          <a:lstStyle/>
          <a:p>
            <a:endParaRPr lang="ko-KR" altLang="en-US"/>
          </a:p>
        </p:txBody>
      </p:sp>
      <p:grpSp>
        <p:nvGrpSpPr>
          <p:cNvPr id="31" name="Group 31"/>
          <p:cNvGrpSpPr/>
          <p:nvPr/>
        </p:nvGrpSpPr>
        <p:grpSpPr>
          <a:xfrm>
            <a:off x="13916688" y="6121382"/>
            <a:ext cx="2759293" cy="885254"/>
            <a:chOff x="0" y="0"/>
            <a:chExt cx="726694" cy="23317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104775"/>
              <a:ext cx="726694" cy="337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수정 완료 알림 출력</a:t>
              </a:r>
            </a:p>
          </p:txBody>
        </p:sp>
      </p:grpSp>
      <p:sp>
        <p:nvSpPr>
          <p:cNvPr id="34" name="AutoShape 34"/>
          <p:cNvSpPr/>
          <p:nvPr/>
        </p:nvSpPr>
        <p:spPr>
          <a:xfrm>
            <a:off x="15296335" y="5391150"/>
            <a:ext cx="0" cy="4820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35" name="Group 35"/>
          <p:cNvGrpSpPr/>
          <p:nvPr/>
        </p:nvGrpSpPr>
        <p:grpSpPr>
          <a:xfrm>
            <a:off x="5981861" y="6121382"/>
            <a:ext cx="2759293" cy="885254"/>
            <a:chOff x="0" y="0"/>
            <a:chExt cx="726694" cy="23317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104775"/>
              <a:ext cx="726694" cy="337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삭제 완료 알림 출력</a:t>
              </a:r>
            </a:p>
          </p:txBody>
        </p:sp>
      </p:grpSp>
      <p:sp>
        <p:nvSpPr>
          <p:cNvPr id="38" name="AutoShape 38"/>
          <p:cNvSpPr/>
          <p:nvPr/>
        </p:nvSpPr>
        <p:spPr>
          <a:xfrm>
            <a:off x="7361507" y="5391150"/>
            <a:ext cx="0" cy="4820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 anchor="b"/>
          <a:lstStyle/>
          <a:p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1105DAC2-45AF-A23C-11CD-5D6530EE3316}"/>
              </a:ext>
            </a:extLst>
          </p:cNvPr>
          <p:cNvSpPr>
            <a:spLocks/>
          </p:cNvSpPr>
          <p:nvPr/>
        </p:nvSpPr>
        <p:spPr>
          <a:xfrm>
            <a:off x="0" y="0"/>
            <a:ext cx="1364366" cy="10287000"/>
          </a:xfrm>
          <a:prstGeom prst="rect">
            <a:avLst/>
          </a:prstGeom>
          <a:solidFill>
            <a:srgbClr val="0B6E6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b"/>
          <a:lstStyle/>
          <a:p>
            <a:pPr algn="just"/>
            <a:r>
              <a:rPr lang="ko-KR" altLang="en-US" sz="6000" dirty="0"/>
              <a:t>　게시판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220737"/>
              </p:ext>
            </p:extLst>
          </p:nvPr>
        </p:nvGraphicFramePr>
        <p:xfrm>
          <a:off x="1612018" y="426661"/>
          <a:ext cx="15063964" cy="1301164"/>
        </p:xfrm>
        <a:graphic>
          <a:graphicData uri="http://schemas.openxmlformats.org/drawingml/2006/table">
            <a:tbl>
              <a:tblPr/>
              <a:tblGrid>
                <a:gridCol w="2750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1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44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974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0582"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ko-KR" altLang="en-US" sz="2084" b="1" dirty="0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단위 프로세스 </a:t>
                      </a:r>
                      <a:r>
                        <a:rPr lang="en-US" altLang="ko-KR" sz="2084" b="1" dirty="0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ID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 smtClean="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UT-A07-031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프로세스명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게시판 검색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582"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작성일자</a:t>
                      </a:r>
                      <a:endParaRPr lang="en-US" sz="1100"/>
                    </a:p>
                  </a:txBody>
                  <a:tcPr marL="9525" marR="9525" marT="9525" marB="9525" anchor="ctr">
                    <a:lnL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2025.07.17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작성자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 err="1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이채연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" name="Group 3"/>
          <p:cNvGrpSpPr/>
          <p:nvPr/>
        </p:nvGrpSpPr>
        <p:grpSpPr>
          <a:xfrm>
            <a:off x="1779441" y="2413626"/>
            <a:ext cx="2759293" cy="885254"/>
            <a:chOff x="0" y="0"/>
            <a:chExt cx="726694" cy="23317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04775"/>
              <a:ext cx="726694" cy="337947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게시판 상단 검색</a:t>
              </a:r>
            </a:p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버튼 클릭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981861" y="2394576"/>
            <a:ext cx="2759293" cy="885254"/>
            <a:chOff x="0" y="0"/>
            <a:chExt cx="726694" cy="23317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04775"/>
              <a:ext cx="726694" cy="337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검색어 입력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072521" y="2394576"/>
            <a:ext cx="2759293" cy="885254"/>
            <a:chOff x="0" y="0"/>
            <a:chExt cx="726694" cy="2331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04775"/>
              <a:ext cx="726694" cy="337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카테고리 설정</a:t>
              </a:r>
            </a:p>
          </p:txBody>
        </p:sp>
      </p:grpSp>
      <p:sp>
        <p:nvSpPr>
          <p:cNvPr id="12" name="AutoShape 12"/>
          <p:cNvSpPr/>
          <p:nvPr/>
        </p:nvSpPr>
        <p:spPr>
          <a:xfrm>
            <a:off x="4899790" y="2875303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AutoShape 13"/>
          <p:cNvSpPr/>
          <p:nvPr/>
        </p:nvSpPr>
        <p:spPr>
          <a:xfrm>
            <a:off x="8987646" y="2894353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4" name="Group 14"/>
          <p:cNvGrpSpPr/>
          <p:nvPr/>
        </p:nvGrpSpPr>
        <p:grpSpPr>
          <a:xfrm>
            <a:off x="7764353" y="4274326"/>
            <a:ext cx="2759293" cy="885254"/>
            <a:chOff x="0" y="0"/>
            <a:chExt cx="726694" cy="23317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04775"/>
              <a:ext cx="726694" cy="337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검색 결과 페이지 출력</a:t>
              </a:r>
            </a:p>
          </p:txBody>
        </p:sp>
      </p:grpSp>
      <p:sp>
        <p:nvSpPr>
          <p:cNvPr id="17" name="AutoShape 17"/>
          <p:cNvSpPr/>
          <p:nvPr/>
        </p:nvSpPr>
        <p:spPr>
          <a:xfrm flipH="1">
            <a:off x="9622558" y="3589755"/>
            <a:ext cx="437574" cy="37464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8" name="Group 18"/>
          <p:cNvGrpSpPr/>
          <p:nvPr/>
        </p:nvGrpSpPr>
        <p:grpSpPr>
          <a:xfrm>
            <a:off x="7764353" y="6137996"/>
            <a:ext cx="2759293" cy="885254"/>
            <a:chOff x="0" y="0"/>
            <a:chExt cx="726694" cy="23317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 anchor="b"/>
            <a:lstStyle/>
            <a:p>
              <a:endParaRPr lang="ko-KR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104775"/>
              <a:ext cx="726694" cy="337947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3523"/>
                </a:lnSpc>
              </a:pPr>
              <a:r>
                <a:rPr lang="en-US" sz="20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제목</a:t>
              </a:r>
              <a:r>
                <a:rPr lang="en-US" sz="20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0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클릭</a:t>
              </a:r>
              <a:r>
                <a:rPr lang="en-US" sz="20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시</a:t>
              </a:r>
            </a:p>
            <a:p>
              <a:pPr algn="ctr">
                <a:lnSpc>
                  <a:spcPts val="3523"/>
                </a:lnSpc>
              </a:pPr>
              <a:r>
                <a:rPr lang="en-US" sz="20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상세</a:t>
              </a:r>
              <a:r>
                <a:rPr lang="en-US" sz="20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0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페이지</a:t>
              </a:r>
              <a:r>
                <a:rPr lang="en-US" sz="20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0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출력</a:t>
              </a:r>
              <a:endParaRPr lang="en-US" sz="2084" dirty="0">
                <a:solidFill>
                  <a:srgbClr val="F1F1F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</p:txBody>
        </p:sp>
      </p:grpSp>
      <p:sp>
        <p:nvSpPr>
          <p:cNvPr id="21" name="AutoShape 21"/>
          <p:cNvSpPr/>
          <p:nvPr/>
        </p:nvSpPr>
        <p:spPr>
          <a:xfrm>
            <a:off x="9144000" y="5407764"/>
            <a:ext cx="0" cy="4820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D3FF295-A5EA-F539-33D7-19AE8F0B4A37}"/>
              </a:ext>
            </a:extLst>
          </p:cNvPr>
          <p:cNvSpPr>
            <a:spLocks/>
          </p:cNvSpPr>
          <p:nvPr/>
        </p:nvSpPr>
        <p:spPr>
          <a:xfrm>
            <a:off x="0" y="0"/>
            <a:ext cx="1364366" cy="10287000"/>
          </a:xfrm>
          <a:prstGeom prst="rect">
            <a:avLst/>
          </a:prstGeom>
          <a:solidFill>
            <a:srgbClr val="0B6E6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b"/>
          <a:lstStyle/>
          <a:p>
            <a:pPr algn="just"/>
            <a:r>
              <a:rPr lang="ko-KR" altLang="en-US" sz="6000" dirty="0"/>
              <a:t>　게시판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9320652"/>
              </p:ext>
            </p:extLst>
          </p:nvPr>
        </p:nvGraphicFramePr>
        <p:xfrm>
          <a:off x="1612018" y="426661"/>
          <a:ext cx="15063964" cy="1301164"/>
        </p:xfrm>
        <a:graphic>
          <a:graphicData uri="http://schemas.openxmlformats.org/drawingml/2006/table">
            <a:tbl>
              <a:tblPr/>
              <a:tblGrid>
                <a:gridCol w="2750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1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44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974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0582"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ko-KR" altLang="en-US" sz="2084" b="1" dirty="0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단위 프로세스 </a:t>
                      </a:r>
                      <a:r>
                        <a:rPr lang="en-US" altLang="ko-KR" sz="2084" b="1" dirty="0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ID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 smtClean="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UT-A07-032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프로세스명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공지사항/자유 게시판 구현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582"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작성일자</a:t>
                      </a:r>
                      <a:endParaRPr lang="en-US" sz="1100"/>
                    </a:p>
                  </a:txBody>
                  <a:tcPr marL="9525" marR="9525" marT="9525" marB="9525" anchor="ctr">
                    <a:lnL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2025.07.17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작성자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 err="1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이채연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" name="Group 3"/>
          <p:cNvGrpSpPr/>
          <p:nvPr/>
        </p:nvGrpSpPr>
        <p:grpSpPr>
          <a:xfrm>
            <a:off x="1779441" y="2413626"/>
            <a:ext cx="2759293" cy="885254"/>
            <a:chOff x="0" y="0"/>
            <a:chExt cx="726694" cy="23317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04775"/>
              <a:ext cx="726694" cy="337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게시판 대쉬보드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981861" y="2394576"/>
            <a:ext cx="2758136" cy="885254"/>
            <a:chOff x="0" y="0"/>
            <a:chExt cx="726389" cy="23317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26389" cy="233172"/>
            </a:xfrm>
            <a:custGeom>
              <a:avLst/>
              <a:gdLst/>
              <a:ahLst/>
              <a:cxnLst/>
              <a:rect l="l" t="t" r="r" b="b"/>
              <a:pathLst>
                <a:path w="726389" h="233172">
                  <a:moveTo>
                    <a:pt x="726389" y="72980"/>
                  </a:moveTo>
                  <a:lnTo>
                    <a:pt x="726389" y="160192"/>
                  </a:lnTo>
                  <a:cubicBezTo>
                    <a:pt x="726389" y="200498"/>
                    <a:pt x="693715" y="233172"/>
                    <a:pt x="653409" y="233172"/>
                  </a:cubicBezTo>
                  <a:lnTo>
                    <a:pt x="72980" y="233172"/>
                  </a:lnTo>
                  <a:cubicBezTo>
                    <a:pt x="32674" y="233172"/>
                    <a:pt x="0" y="200498"/>
                    <a:pt x="0" y="160192"/>
                  </a:cubicBezTo>
                  <a:lnTo>
                    <a:pt x="0" y="72980"/>
                  </a:lnTo>
                  <a:cubicBezTo>
                    <a:pt x="0" y="32674"/>
                    <a:pt x="32674" y="0"/>
                    <a:pt x="72980" y="0"/>
                  </a:cubicBezTo>
                  <a:lnTo>
                    <a:pt x="653409" y="0"/>
                  </a:lnTo>
                  <a:cubicBezTo>
                    <a:pt x="672764" y="0"/>
                    <a:pt x="691327" y="7689"/>
                    <a:pt x="705014" y="21375"/>
                  </a:cubicBezTo>
                  <a:cubicBezTo>
                    <a:pt x="718700" y="35062"/>
                    <a:pt x="726389" y="53625"/>
                    <a:pt x="726389" y="7298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 anchor="b"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04775"/>
              <a:ext cx="726389" cy="337947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공지사항 게시판</a:t>
              </a:r>
            </a:p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버튼 클릭</a:t>
              </a:r>
            </a:p>
          </p:txBody>
        </p:sp>
      </p:grpSp>
      <p:sp>
        <p:nvSpPr>
          <p:cNvPr id="12" name="AutoShape 12"/>
          <p:cNvSpPr/>
          <p:nvPr/>
        </p:nvSpPr>
        <p:spPr>
          <a:xfrm>
            <a:off x="4899790" y="2875303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 anchor="b"/>
          <a:lstStyle/>
          <a:p>
            <a:endParaRPr lang="ko-KR" altLang="en-US"/>
          </a:p>
        </p:txBody>
      </p:sp>
      <p:sp>
        <p:nvSpPr>
          <p:cNvPr id="13" name="AutoShape 13"/>
          <p:cNvSpPr/>
          <p:nvPr/>
        </p:nvSpPr>
        <p:spPr>
          <a:xfrm>
            <a:off x="8987646" y="2894353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 anchor="b"/>
          <a:lstStyle/>
          <a:p>
            <a:endParaRPr lang="ko-KR" altLang="en-US"/>
          </a:p>
        </p:txBody>
      </p:sp>
      <p:grpSp>
        <p:nvGrpSpPr>
          <p:cNvPr id="14" name="Group 14"/>
          <p:cNvGrpSpPr/>
          <p:nvPr/>
        </p:nvGrpSpPr>
        <p:grpSpPr>
          <a:xfrm>
            <a:off x="10186821" y="2394576"/>
            <a:ext cx="2759293" cy="885254"/>
            <a:chOff x="0" y="0"/>
            <a:chExt cx="726694" cy="23317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04775"/>
              <a:ext cx="726694" cy="337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공지사항 목록 출력</a:t>
              </a:r>
            </a:p>
          </p:txBody>
        </p:sp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20F3AB2-0715-7CB8-235B-579BB27A139B}"/>
              </a:ext>
            </a:extLst>
          </p:cNvPr>
          <p:cNvSpPr>
            <a:spLocks/>
          </p:cNvSpPr>
          <p:nvPr/>
        </p:nvSpPr>
        <p:spPr>
          <a:xfrm>
            <a:off x="0" y="0"/>
            <a:ext cx="1364366" cy="10287000"/>
          </a:xfrm>
          <a:prstGeom prst="rect">
            <a:avLst/>
          </a:prstGeom>
          <a:solidFill>
            <a:srgbClr val="0B6E6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b"/>
          <a:lstStyle/>
          <a:p>
            <a:pPr algn="just"/>
            <a:r>
              <a:rPr lang="ko-KR" altLang="en-US" sz="6000" dirty="0"/>
              <a:t>　게시판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3339100"/>
              </p:ext>
            </p:extLst>
          </p:nvPr>
        </p:nvGraphicFramePr>
        <p:xfrm>
          <a:off x="1612018" y="426661"/>
          <a:ext cx="15063964" cy="1301164"/>
        </p:xfrm>
        <a:graphic>
          <a:graphicData uri="http://schemas.openxmlformats.org/drawingml/2006/table">
            <a:tbl>
              <a:tblPr/>
              <a:tblGrid>
                <a:gridCol w="2750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1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44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974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0582"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ko-KR" altLang="en-US" sz="2084" b="1" dirty="0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단위 프로세스 </a:t>
                      </a:r>
                      <a:r>
                        <a:rPr lang="en-US" altLang="ko-KR" sz="2084" b="1" dirty="0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ID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 smtClean="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UT-A08-033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프로세스명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서버 모니터링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582"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작성일자</a:t>
                      </a:r>
                      <a:endParaRPr lang="en-US" sz="1100"/>
                    </a:p>
                  </a:txBody>
                  <a:tcPr marL="9525" marR="9525" marT="9525" marB="9525" anchor="ctr">
                    <a:lnL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2025.07.17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작성자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 err="1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박기범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" name="Group 3"/>
          <p:cNvGrpSpPr/>
          <p:nvPr/>
        </p:nvGrpSpPr>
        <p:grpSpPr>
          <a:xfrm>
            <a:off x="1518814" y="3895266"/>
            <a:ext cx="2759293" cy="885254"/>
            <a:chOff x="0" y="0"/>
            <a:chExt cx="726694" cy="23317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 anchor="b"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04775"/>
              <a:ext cx="726694" cy="337947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서버 모니터링 관리</a:t>
              </a:r>
            </a:p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화면 출력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974629" y="3896176"/>
            <a:ext cx="2758136" cy="885254"/>
            <a:chOff x="0" y="0"/>
            <a:chExt cx="726389" cy="23317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26389" cy="233172"/>
            </a:xfrm>
            <a:custGeom>
              <a:avLst/>
              <a:gdLst/>
              <a:ahLst/>
              <a:cxnLst/>
              <a:rect l="l" t="t" r="r" b="b"/>
              <a:pathLst>
                <a:path w="726389" h="233172">
                  <a:moveTo>
                    <a:pt x="726389" y="72980"/>
                  </a:moveTo>
                  <a:lnTo>
                    <a:pt x="726389" y="160192"/>
                  </a:lnTo>
                  <a:cubicBezTo>
                    <a:pt x="726389" y="200498"/>
                    <a:pt x="693715" y="233172"/>
                    <a:pt x="653409" y="233172"/>
                  </a:cubicBezTo>
                  <a:lnTo>
                    <a:pt x="72980" y="233172"/>
                  </a:lnTo>
                  <a:cubicBezTo>
                    <a:pt x="32674" y="233172"/>
                    <a:pt x="0" y="200498"/>
                    <a:pt x="0" y="160192"/>
                  </a:cubicBezTo>
                  <a:lnTo>
                    <a:pt x="0" y="72980"/>
                  </a:lnTo>
                  <a:cubicBezTo>
                    <a:pt x="0" y="32674"/>
                    <a:pt x="32674" y="0"/>
                    <a:pt x="72980" y="0"/>
                  </a:cubicBezTo>
                  <a:lnTo>
                    <a:pt x="653409" y="0"/>
                  </a:lnTo>
                  <a:cubicBezTo>
                    <a:pt x="672764" y="0"/>
                    <a:pt x="691327" y="7689"/>
                    <a:pt x="705014" y="21375"/>
                  </a:cubicBezTo>
                  <a:cubicBezTo>
                    <a:pt x="718700" y="35062"/>
                    <a:pt x="726389" y="53625"/>
                    <a:pt x="726389" y="7298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04775"/>
              <a:ext cx="726389" cy="337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서버 데이터 확인</a:t>
              </a:r>
            </a:p>
          </p:txBody>
        </p:sp>
      </p:grpSp>
      <p:sp>
        <p:nvSpPr>
          <p:cNvPr id="9" name="AutoShape 9"/>
          <p:cNvSpPr/>
          <p:nvPr/>
        </p:nvSpPr>
        <p:spPr>
          <a:xfrm>
            <a:off x="4892558" y="4376902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AutoShape 10"/>
          <p:cNvSpPr/>
          <p:nvPr/>
        </p:nvSpPr>
        <p:spPr>
          <a:xfrm>
            <a:off x="8980415" y="4395952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1" name="Group 11"/>
          <p:cNvGrpSpPr/>
          <p:nvPr/>
        </p:nvGrpSpPr>
        <p:grpSpPr>
          <a:xfrm>
            <a:off x="10179589" y="3896176"/>
            <a:ext cx="2759293" cy="884344"/>
            <a:chOff x="0" y="0"/>
            <a:chExt cx="726694" cy="23293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26694" cy="232932"/>
            </a:xfrm>
            <a:custGeom>
              <a:avLst/>
              <a:gdLst/>
              <a:ahLst/>
              <a:cxnLst/>
              <a:rect l="l" t="t" r="r" b="b"/>
              <a:pathLst>
                <a:path w="726694" h="232932">
                  <a:moveTo>
                    <a:pt x="726694" y="72950"/>
                  </a:moveTo>
                  <a:lnTo>
                    <a:pt x="726694" y="159983"/>
                  </a:lnTo>
                  <a:cubicBezTo>
                    <a:pt x="726694" y="179330"/>
                    <a:pt x="719008" y="197885"/>
                    <a:pt x="705327" y="211566"/>
                  </a:cubicBezTo>
                  <a:cubicBezTo>
                    <a:pt x="691647" y="225247"/>
                    <a:pt x="673092" y="232932"/>
                    <a:pt x="653744" y="232932"/>
                  </a:cubicBezTo>
                  <a:lnTo>
                    <a:pt x="72950" y="232932"/>
                  </a:lnTo>
                  <a:cubicBezTo>
                    <a:pt x="32661" y="232932"/>
                    <a:pt x="0" y="200272"/>
                    <a:pt x="0" y="159983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04775"/>
              <a:ext cx="726694" cy="337707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서버 이상사항 목록 출력</a:t>
              </a:r>
            </a:p>
          </p:txBody>
        </p:sp>
      </p:grpSp>
      <p:sp>
        <p:nvSpPr>
          <p:cNvPr id="14" name="AutoShape 14"/>
          <p:cNvSpPr/>
          <p:nvPr/>
        </p:nvSpPr>
        <p:spPr>
          <a:xfrm>
            <a:off x="11578286" y="5230719"/>
            <a:ext cx="0" cy="50068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5" name="Group 15"/>
          <p:cNvGrpSpPr/>
          <p:nvPr/>
        </p:nvGrpSpPr>
        <p:grpSpPr>
          <a:xfrm>
            <a:off x="10179589" y="6181604"/>
            <a:ext cx="2759293" cy="885254"/>
            <a:chOff x="0" y="0"/>
            <a:chExt cx="726694" cy="23317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04775"/>
              <a:ext cx="726694" cy="337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서버 현황 상세 페이지</a:t>
              </a:r>
            </a:p>
          </p:txBody>
        </p:sp>
      </p:grpSp>
      <p:sp>
        <p:nvSpPr>
          <p:cNvPr id="18" name="AutoShape 18"/>
          <p:cNvSpPr/>
          <p:nvPr/>
        </p:nvSpPr>
        <p:spPr>
          <a:xfrm>
            <a:off x="13300832" y="4395043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9" name="Group 19"/>
          <p:cNvGrpSpPr/>
          <p:nvPr/>
        </p:nvGrpSpPr>
        <p:grpSpPr>
          <a:xfrm>
            <a:off x="14500007" y="3895266"/>
            <a:ext cx="2759293" cy="885254"/>
            <a:chOff x="0" y="0"/>
            <a:chExt cx="726694" cy="23317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104775"/>
              <a:ext cx="726694" cy="337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다운로드 버튼 클릭</a:t>
              </a:r>
            </a:p>
          </p:txBody>
        </p:sp>
      </p:grpSp>
      <p:sp>
        <p:nvSpPr>
          <p:cNvPr id="22" name="AutoShape 22"/>
          <p:cNvSpPr/>
          <p:nvPr/>
        </p:nvSpPr>
        <p:spPr>
          <a:xfrm>
            <a:off x="15814959" y="5230719"/>
            <a:ext cx="0" cy="5197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23" name="Group 23"/>
          <p:cNvGrpSpPr/>
          <p:nvPr/>
        </p:nvGrpSpPr>
        <p:grpSpPr>
          <a:xfrm>
            <a:off x="14435312" y="6180695"/>
            <a:ext cx="2759293" cy="885254"/>
            <a:chOff x="0" y="0"/>
            <a:chExt cx="726694" cy="23317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104775"/>
              <a:ext cx="726694" cy="337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파일 다운로드</a:t>
              </a:r>
            </a:p>
          </p:txBody>
        </p:sp>
      </p:grp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D1139B5-D864-2B41-A4A9-E2FDD61FDEF1}"/>
              </a:ext>
            </a:extLst>
          </p:cNvPr>
          <p:cNvSpPr>
            <a:spLocks/>
          </p:cNvSpPr>
          <p:nvPr/>
        </p:nvSpPr>
        <p:spPr>
          <a:xfrm>
            <a:off x="0" y="0"/>
            <a:ext cx="1364366" cy="10287000"/>
          </a:xfrm>
          <a:prstGeom prst="rect">
            <a:avLst/>
          </a:prstGeom>
          <a:solidFill>
            <a:srgbClr val="0B6E6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b"/>
          <a:lstStyle/>
          <a:p>
            <a:pPr algn="just"/>
            <a:r>
              <a:rPr lang="ko-KR" altLang="en-US" sz="6000" dirty="0"/>
              <a:t>　 관리자 콘솔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5185372"/>
              </p:ext>
            </p:extLst>
          </p:nvPr>
        </p:nvGraphicFramePr>
        <p:xfrm>
          <a:off x="1612018" y="426661"/>
          <a:ext cx="15063964" cy="1301164"/>
        </p:xfrm>
        <a:graphic>
          <a:graphicData uri="http://schemas.openxmlformats.org/drawingml/2006/table">
            <a:tbl>
              <a:tblPr/>
              <a:tblGrid>
                <a:gridCol w="2750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1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44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974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0582"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ko-KR" altLang="en-US" sz="2084" b="1" dirty="0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단위 프로세스 </a:t>
                      </a:r>
                      <a:r>
                        <a:rPr lang="en-US" altLang="ko-KR" sz="2084" b="1" dirty="0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ID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 smtClean="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UT-A08-034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프로세스명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팝업 공지 관리 구현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582"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작성일자</a:t>
                      </a:r>
                      <a:endParaRPr lang="en-US" sz="1100"/>
                    </a:p>
                  </a:txBody>
                  <a:tcPr marL="9525" marR="9525" marT="9525" marB="9525" anchor="ctr">
                    <a:lnL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2025.07.17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작성자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 err="1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박기범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" name="Group 3"/>
          <p:cNvGrpSpPr/>
          <p:nvPr/>
        </p:nvGrpSpPr>
        <p:grpSpPr>
          <a:xfrm>
            <a:off x="1612018" y="3288162"/>
            <a:ext cx="2759293" cy="885254"/>
            <a:chOff x="0" y="0"/>
            <a:chExt cx="726694" cy="23317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 anchor="b"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04775"/>
              <a:ext cx="726694" cy="337947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팝업 공지</a:t>
              </a:r>
            </a:p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목록 출력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069234" y="3288162"/>
            <a:ext cx="2758136" cy="885254"/>
            <a:chOff x="0" y="0"/>
            <a:chExt cx="726389" cy="23317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26389" cy="233172"/>
            </a:xfrm>
            <a:custGeom>
              <a:avLst/>
              <a:gdLst/>
              <a:ahLst/>
              <a:cxnLst/>
              <a:rect l="l" t="t" r="r" b="b"/>
              <a:pathLst>
                <a:path w="726389" h="233172">
                  <a:moveTo>
                    <a:pt x="726389" y="72980"/>
                  </a:moveTo>
                  <a:lnTo>
                    <a:pt x="726389" y="160192"/>
                  </a:lnTo>
                  <a:cubicBezTo>
                    <a:pt x="726389" y="200498"/>
                    <a:pt x="693715" y="233172"/>
                    <a:pt x="653409" y="233172"/>
                  </a:cubicBezTo>
                  <a:lnTo>
                    <a:pt x="72980" y="233172"/>
                  </a:lnTo>
                  <a:cubicBezTo>
                    <a:pt x="32674" y="233172"/>
                    <a:pt x="0" y="200498"/>
                    <a:pt x="0" y="160192"/>
                  </a:cubicBezTo>
                  <a:lnTo>
                    <a:pt x="0" y="72980"/>
                  </a:lnTo>
                  <a:cubicBezTo>
                    <a:pt x="0" y="32674"/>
                    <a:pt x="32674" y="0"/>
                    <a:pt x="72980" y="0"/>
                  </a:cubicBezTo>
                  <a:lnTo>
                    <a:pt x="653409" y="0"/>
                  </a:lnTo>
                  <a:cubicBezTo>
                    <a:pt x="672764" y="0"/>
                    <a:pt x="691327" y="7689"/>
                    <a:pt x="705014" y="21375"/>
                  </a:cubicBezTo>
                  <a:cubicBezTo>
                    <a:pt x="718700" y="35062"/>
                    <a:pt x="726389" y="53625"/>
                    <a:pt x="726389" y="7298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04775"/>
              <a:ext cx="726389" cy="337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추가 버튼 클릭</a:t>
              </a:r>
            </a:p>
          </p:txBody>
        </p:sp>
      </p:grpSp>
      <p:sp>
        <p:nvSpPr>
          <p:cNvPr id="9" name="AutoShape 9"/>
          <p:cNvSpPr/>
          <p:nvPr/>
        </p:nvSpPr>
        <p:spPr>
          <a:xfrm>
            <a:off x="4985762" y="3769798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AutoShape 10"/>
          <p:cNvSpPr/>
          <p:nvPr/>
        </p:nvSpPr>
        <p:spPr>
          <a:xfrm>
            <a:off x="9073619" y="3788848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1" name="Group 11"/>
          <p:cNvGrpSpPr/>
          <p:nvPr/>
        </p:nvGrpSpPr>
        <p:grpSpPr>
          <a:xfrm>
            <a:off x="10272793" y="3289072"/>
            <a:ext cx="2759293" cy="884344"/>
            <a:chOff x="0" y="0"/>
            <a:chExt cx="726694" cy="23293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26694" cy="232932"/>
            </a:xfrm>
            <a:custGeom>
              <a:avLst/>
              <a:gdLst/>
              <a:ahLst/>
              <a:cxnLst/>
              <a:rect l="l" t="t" r="r" b="b"/>
              <a:pathLst>
                <a:path w="726694" h="232932">
                  <a:moveTo>
                    <a:pt x="726694" y="72950"/>
                  </a:moveTo>
                  <a:lnTo>
                    <a:pt x="726694" y="159983"/>
                  </a:lnTo>
                  <a:cubicBezTo>
                    <a:pt x="726694" y="179330"/>
                    <a:pt x="719008" y="197885"/>
                    <a:pt x="705327" y="211566"/>
                  </a:cubicBezTo>
                  <a:cubicBezTo>
                    <a:pt x="691647" y="225247"/>
                    <a:pt x="673092" y="232932"/>
                    <a:pt x="653744" y="232932"/>
                  </a:cubicBezTo>
                  <a:lnTo>
                    <a:pt x="72950" y="232932"/>
                  </a:lnTo>
                  <a:cubicBezTo>
                    <a:pt x="32661" y="232932"/>
                    <a:pt x="0" y="200272"/>
                    <a:pt x="0" y="159983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04775"/>
              <a:ext cx="726694" cy="3377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내용 입력</a:t>
              </a:r>
            </a:p>
          </p:txBody>
        </p:sp>
      </p:grpSp>
      <p:sp>
        <p:nvSpPr>
          <p:cNvPr id="14" name="AutoShape 14"/>
          <p:cNvSpPr/>
          <p:nvPr/>
        </p:nvSpPr>
        <p:spPr>
          <a:xfrm>
            <a:off x="4866433" y="4397246"/>
            <a:ext cx="1075881" cy="60695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5" name="Group 15"/>
          <p:cNvGrpSpPr/>
          <p:nvPr/>
        </p:nvGrpSpPr>
        <p:grpSpPr>
          <a:xfrm>
            <a:off x="6069234" y="4700724"/>
            <a:ext cx="2759293" cy="885254"/>
            <a:chOff x="0" y="0"/>
            <a:chExt cx="726694" cy="23317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04775"/>
              <a:ext cx="726694" cy="337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수정 버튼 클릭</a:t>
              </a:r>
            </a:p>
          </p:txBody>
        </p:sp>
      </p:grpSp>
      <p:sp>
        <p:nvSpPr>
          <p:cNvPr id="18" name="AutoShape 18"/>
          <p:cNvSpPr/>
          <p:nvPr/>
        </p:nvSpPr>
        <p:spPr>
          <a:xfrm>
            <a:off x="13394036" y="3787939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9" name="Group 19"/>
          <p:cNvGrpSpPr/>
          <p:nvPr/>
        </p:nvGrpSpPr>
        <p:grpSpPr>
          <a:xfrm>
            <a:off x="14593211" y="3288162"/>
            <a:ext cx="2759293" cy="885254"/>
            <a:chOff x="0" y="0"/>
            <a:chExt cx="726694" cy="23317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104775"/>
              <a:ext cx="726694" cy="337947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팝업 공지사항</a:t>
              </a:r>
            </a:p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등록</a:t>
              </a:r>
            </a:p>
          </p:txBody>
        </p:sp>
      </p:grpSp>
      <p:sp>
        <p:nvSpPr>
          <p:cNvPr id="22" name="AutoShape 22"/>
          <p:cNvSpPr/>
          <p:nvPr/>
        </p:nvSpPr>
        <p:spPr>
          <a:xfrm>
            <a:off x="4480570" y="4623615"/>
            <a:ext cx="1150867" cy="18352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23" name="Group 23"/>
          <p:cNvGrpSpPr/>
          <p:nvPr/>
        </p:nvGrpSpPr>
        <p:grpSpPr>
          <a:xfrm>
            <a:off x="6069234" y="6458844"/>
            <a:ext cx="2759293" cy="885254"/>
            <a:chOff x="0" y="0"/>
            <a:chExt cx="726694" cy="23317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104775"/>
              <a:ext cx="726694" cy="337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삭제 버튼 클릭</a:t>
              </a:r>
            </a:p>
          </p:txBody>
        </p:sp>
      </p:grp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363BB42-F8EC-B03F-776E-84FB2C12A044}"/>
              </a:ext>
            </a:extLst>
          </p:cNvPr>
          <p:cNvSpPr>
            <a:spLocks/>
          </p:cNvSpPr>
          <p:nvPr/>
        </p:nvSpPr>
        <p:spPr>
          <a:xfrm>
            <a:off x="0" y="0"/>
            <a:ext cx="1364366" cy="10287000"/>
          </a:xfrm>
          <a:prstGeom prst="rect">
            <a:avLst/>
          </a:prstGeom>
          <a:solidFill>
            <a:srgbClr val="0B6E6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b"/>
          <a:lstStyle/>
          <a:p>
            <a:pPr algn="just"/>
            <a:r>
              <a:rPr lang="ko-KR" altLang="en-US" sz="6000" dirty="0"/>
              <a:t>　 관리자 콘솔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5244429"/>
              </p:ext>
            </p:extLst>
          </p:nvPr>
        </p:nvGraphicFramePr>
        <p:xfrm>
          <a:off x="1612018" y="426661"/>
          <a:ext cx="15063964" cy="1301164"/>
        </p:xfrm>
        <a:graphic>
          <a:graphicData uri="http://schemas.openxmlformats.org/drawingml/2006/table">
            <a:tbl>
              <a:tblPr/>
              <a:tblGrid>
                <a:gridCol w="2750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1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44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974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0582"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ko-KR" altLang="en-US" sz="2084" b="1" dirty="0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단위 프로세스 </a:t>
                      </a:r>
                      <a:r>
                        <a:rPr lang="en-US" altLang="ko-KR" sz="2084" b="1" dirty="0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ID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 smtClean="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UT-A08-035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프로세스명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메뉴 관리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582"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작성일자</a:t>
                      </a:r>
                      <a:endParaRPr lang="en-US" sz="1100"/>
                    </a:p>
                  </a:txBody>
                  <a:tcPr marL="9525" marR="9525" marT="9525" marB="9525" anchor="ctr">
                    <a:lnL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2025.07.17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작성자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 err="1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박기범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" name="Group 3"/>
          <p:cNvGrpSpPr/>
          <p:nvPr/>
        </p:nvGrpSpPr>
        <p:grpSpPr>
          <a:xfrm>
            <a:off x="1612018" y="3288162"/>
            <a:ext cx="2759293" cy="885254"/>
            <a:chOff x="0" y="0"/>
            <a:chExt cx="726694" cy="23317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04775"/>
              <a:ext cx="726694" cy="337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메뉴 관리 페이지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069234" y="3288162"/>
            <a:ext cx="2758136" cy="885254"/>
            <a:chOff x="0" y="0"/>
            <a:chExt cx="726389" cy="23317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26389" cy="233172"/>
            </a:xfrm>
            <a:custGeom>
              <a:avLst/>
              <a:gdLst/>
              <a:ahLst/>
              <a:cxnLst/>
              <a:rect l="l" t="t" r="r" b="b"/>
              <a:pathLst>
                <a:path w="726389" h="233172">
                  <a:moveTo>
                    <a:pt x="726389" y="72980"/>
                  </a:moveTo>
                  <a:lnTo>
                    <a:pt x="726389" y="160192"/>
                  </a:lnTo>
                  <a:cubicBezTo>
                    <a:pt x="726389" y="200498"/>
                    <a:pt x="693715" y="233172"/>
                    <a:pt x="653409" y="233172"/>
                  </a:cubicBezTo>
                  <a:lnTo>
                    <a:pt x="72980" y="233172"/>
                  </a:lnTo>
                  <a:cubicBezTo>
                    <a:pt x="32674" y="233172"/>
                    <a:pt x="0" y="200498"/>
                    <a:pt x="0" y="160192"/>
                  </a:cubicBezTo>
                  <a:lnTo>
                    <a:pt x="0" y="72980"/>
                  </a:lnTo>
                  <a:cubicBezTo>
                    <a:pt x="0" y="32674"/>
                    <a:pt x="32674" y="0"/>
                    <a:pt x="72980" y="0"/>
                  </a:cubicBezTo>
                  <a:lnTo>
                    <a:pt x="653409" y="0"/>
                  </a:lnTo>
                  <a:cubicBezTo>
                    <a:pt x="672764" y="0"/>
                    <a:pt x="691327" y="7689"/>
                    <a:pt x="705014" y="21375"/>
                  </a:cubicBezTo>
                  <a:cubicBezTo>
                    <a:pt x="718700" y="35062"/>
                    <a:pt x="726389" y="53625"/>
                    <a:pt x="726389" y="7298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04775"/>
              <a:ext cx="726389" cy="337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시스템 관리 메뉴 클릭</a:t>
              </a:r>
            </a:p>
          </p:txBody>
        </p:sp>
      </p:grpSp>
      <p:sp>
        <p:nvSpPr>
          <p:cNvPr id="9" name="AutoShape 9"/>
          <p:cNvSpPr/>
          <p:nvPr/>
        </p:nvSpPr>
        <p:spPr>
          <a:xfrm>
            <a:off x="4985762" y="3769798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AutoShape 10"/>
          <p:cNvSpPr/>
          <p:nvPr/>
        </p:nvSpPr>
        <p:spPr>
          <a:xfrm>
            <a:off x="9131469" y="3711739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1" name="Group 11"/>
          <p:cNvGrpSpPr/>
          <p:nvPr/>
        </p:nvGrpSpPr>
        <p:grpSpPr>
          <a:xfrm>
            <a:off x="10272793" y="3289072"/>
            <a:ext cx="2759293" cy="884344"/>
            <a:chOff x="0" y="0"/>
            <a:chExt cx="726694" cy="23293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26694" cy="232932"/>
            </a:xfrm>
            <a:custGeom>
              <a:avLst/>
              <a:gdLst/>
              <a:ahLst/>
              <a:cxnLst/>
              <a:rect l="l" t="t" r="r" b="b"/>
              <a:pathLst>
                <a:path w="726694" h="232932">
                  <a:moveTo>
                    <a:pt x="726694" y="72950"/>
                  </a:moveTo>
                  <a:lnTo>
                    <a:pt x="726694" y="159983"/>
                  </a:lnTo>
                  <a:cubicBezTo>
                    <a:pt x="726694" y="179330"/>
                    <a:pt x="719008" y="197885"/>
                    <a:pt x="705327" y="211566"/>
                  </a:cubicBezTo>
                  <a:cubicBezTo>
                    <a:pt x="691647" y="225247"/>
                    <a:pt x="673092" y="232932"/>
                    <a:pt x="653744" y="232932"/>
                  </a:cubicBezTo>
                  <a:lnTo>
                    <a:pt x="72950" y="232932"/>
                  </a:lnTo>
                  <a:cubicBezTo>
                    <a:pt x="32661" y="232932"/>
                    <a:pt x="0" y="200272"/>
                    <a:pt x="0" y="159983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04775"/>
              <a:ext cx="726694" cy="3377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서브 메뉴</a:t>
              </a:r>
            </a:p>
          </p:txBody>
        </p:sp>
      </p:grpSp>
      <p:sp>
        <p:nvSpPr>
          <p:cNvPr id="14" name="AutoShape 14"/>
          <p:cNvSpPr/>
          <p:nvPr/>
        </p:nvSpPr>
        <p:spPr>
          <a:xfrm>
            <a:off x="4747105" y="4536396"/>
            <a:ext cx="1075881" cy="60695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 anchor="b"/>
          <a:lstStyle/>
          <a:p>
            <a:endParaRPr lang="ko-KR" altLang="en-US"/>
          </a:p>
        </p:txBody>
      </p:sp>
      <p:grpSp>
        <p:nvGrpSpPr>
          <p:cNvPr id="15" name="Group 15"/>
          <p:cNvGrpSpPr/>
          <p:nvPr/>
        </p:nvGrpSpPr>
        <p:grpSpPr>
          <a:xfrm>
            <a:off x="6069234" y="4700724"/>
            <a:ext cx="2759293" cy="885254"/>
            <a:chOff x="0" y="0"/>
            <a:chExt cx="726694" cy="23317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 anchor="b"/>
            <a:lstStyle/>
            <a:p>
              <a:endParaRPr lang="ko-KR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04775"/>
              <a:ext cx="726694" cy="337947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활성화/비활성화 버튼</a:t>
              </a:r>
            </a:p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클릭</a:t>
              </a:r>
            </a:p>
          </p:txBody>
        </p:sp>
      </p:grpSp>
      <p:sp>
        <p:nvSpPr>
          <p:cNvPr id="18" name="AutoShape 18"/>
          <p:cNvSpPr/>
          <p:nvPr/>
        </p:nvSpPr>
        <p:spPr>
          <a:xfrm>
            <a:off x="13394036" y="3787939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9" name="Group 19"/>
          <p:cNvGrpSpPr/>
          <p:nvPr/>
        </p:nvGrpSpPr>
        <p:grpSpPr>
          <a:xfrm>
            <a:off x="14593211" y="3288162"/>
            <a:ext cx="2759293" cy="885254"/>
            <a:chOff x="0" y="0"/>
            <a:chExt cx="726694" cy="23317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 anchor="b"/>
            <a:lstStyle/>
            <a:p>
              <a:endParaRPr lang="ko-KR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104775"/>
              <a:ext cx="726694" cy="337947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팝업 공지사항</a:t>
              </a:r>
            </a:p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등록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272793" y="4700724"/>
            <a:ext cx="2759293" cy="885254"/>
            <a:chOff x="0" y="0"/>
            <a:chExt cx="726694" cy="23317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 anchor="b"/>
            <a:lstStyle/>
            <a:p>
              <a:endParaRPr lang="ko-KR" alt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104775"/>
              <a:ext cx="726694" cy="337947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어플리케이션</a:t>
              </a:r>
            </a:p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표시 여부</a:t>
              </a:r>
            </a:p>
          </p:txBody>
        </p:sp>
      </p:grpSp>
      <p:sp>
        <p:nvSpPr>
          <p:cNvPr id="25" name="AutoShape 25"/>
          <p:cNvSpPr/>
          <p:nvPr/>
        </p:nvSpPr>
        <p:spPr>
          <a:xfrm>
            <a:off x="9144000" y="5162550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 anchor="b"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97307B2-947D-47D5-5286-5CD27342E330}"/>
              </a:ext>
            </a:extLst>
          </p:cNvPr>
          <p:cNvSpPr>
            <a:spLocks/>
          </p:cNvSpPr>
          <p:nvPr/>
        </p:nvSpPr>
        <p:spPr>
          <a:xfrm>
            <a:off x="0" y="0"/>
            <a:ext cx="1364366" cy="10287000"/>
          </a:xfrm>
          <a:prstGeom prst="rect">
            <a:avLst/>
          </a:prstGeom>
          <a:solidFill>
            <a:srgbClr val="0B6E6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b"/>
          <a:lstStyle/>
          <a:p>
            <a:pPr algn="just"/>
            <a:r>
              <a:rPr lang="ko-KR" altLang="en-US" sz="6000" dirty="0"/>
              <a:t>　 관리자 콘솔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4964135"/>
              </p:ext>
            </p:extLst>
          </p:nvPr>
        </p:nvGraphicFramePr>
        <p:xfrm>
          <a:off x="1612018" y="426661"/>
          <a:ext cx="15063964" cy="1301164"/>
        </p:xfrm>
        <a:graphic>
          <a:graphicData uri="http://schemas.openxmlformats.org/drawingml/2006/table">
            <a:tbl>
              <a:tblPr/>
              <a:tblGrid>
                <a:gridCol w="2750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1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44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974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0582"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ko-KR" altLang="en-US" sz="2084" b="1" dirty="0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단위 프로세스 </a:t>
                      </a:r>
                      <a:r>
                        <a:rPr lang="en-US" altLang="ko-KR" sz="2084" b="1" dirty="0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ID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 smtClean="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UT-A08-036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프로세스명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이력 관리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582"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작성일자</a:t>
                      </a:r>
                      <a:endParaRPr lang="en-US" sz="1100"/>
                    </a:p>
                  </a:txBody>
                  <a:tcPr marL="9525" marR="9525" marT="9525" marB="9525" anchor="ctr">
                    <a:lnL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2025.07.17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작성자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 err="1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박기범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" name="Group 3"/>
          <p:cNvGrpSpPr/>
          <p:nvPr/>
        </p:nvGrpSpPr>
        <p:grpSpPr>
          <a:xfrm>
            <a:off x="1612018" y="3288162"/>
            <a:ext cx="2759293" cy="885254"/>
            <a:chOff x="0" y="0"/>
            <a:chExt cx="726694" cy="23317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04775"/>
              <a:ext cx="726694" cy="337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이력 관리 페이지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069234" y="3288162"/>
            <a:ext cx="2758136" cy="885254"/>
            <a:chOff x="0" y="0"/>
            <a:chExt cx="726389" cy="23317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26389" cy="233172"/>
            </a:xfrm>
            <a:custGeom>
              <a:avLst/>
              <a:gdLst/>
              <a:ahLst/>
              <a:cxnLst/>
              <a:rect l="l" t="t" r="r" b="b"/>
              <a:pathLst>
                <a:path w="726389" h="233172">
                  <a:moveTo>
                    <a:pt x="726389" y="72980"/>
                  </a:moveTo>
                  <a:lnTo>
                    <a:pt x="726389" y="160192"/>
                  </a:lnTo>
                  <a:cubicBezTo>
                    <a:pt x="726389" y="200498"/>
                    <a:pt x="693715" y="233172"/>
                    <a:pt x="653409" y="233172"/>
                  </a:cubicBezTo>
                  <a:lnTo>
                    <a:pt x="72980" y="233172"/>
                  </a:lnTo>
                  <a:cubicBezTo>
                    <a:pt x="32674" y="233172"/>
                    <a:pt x="0" y="200498"/>
                    <a:pt x="0" y="160192"/>
                  </a:cubicBezTo>
                  <a:lnTo>
                    <a:pt x="0" y="72980"/>
                  </a:lnTo>
                  <a:cubicBezTo>
                    <a:pt x="0" y="32674"/>
                    <a:pt x="32674" y="0"/>
                    <a:pt x="72980" y="0"/>
                  </a:cubicBezTo>
                  <a:lnTo>
                    <a:pt x="653409" y="0"/>
                  </a:lnTo>
                  <a:cubicBezTo>
                    <a:pt x="672764" y="0"/>
                    <a:pt x="691327" y="7689"/>
                    <a:pt x="705014" y="21375"/>
                  </a:cubicBezTo>
                  <a:cubicBezTo>
                    <a:pt x="718700" y="35062"/>
                    <a:pt x="726389" y="53625"/>
                    <a:pt x="726389" y="7298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04775"/>
              <a:ext cx="726389" cy="337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이력 목록 출력</a:t>
              </a:r>
            </a:p>
          </p:txBody>
        </p:sp>
      </p:grpSp>
      <p:sp>
        <p:nvSpPr>
          <p:cNvPr id="9" name="AutoShape 9"/>
          <p:cNvSpPr/>
          <p:nvPr/>
        </p:nvSpPr>
        <p:spPr>
          <a:xfrm>
            <a:off x="4985762" y="3769798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AutoShape 10"/>
          <p:cNvSpPr/>
          <p:nvPr/>
        </p:nvSpPr>
        <p:spPr>
          <a:xfrm>
            <a:off x="9131469" y="3711739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1" name="Group 11"/>
          <p:cNvGrpSpPr/>
          <p:nvPr/>
        </p:nvGrpSpPr>
        <p:grpSpPr>
          <a:xfrm>
            <a:off x="10272793" y="3289072"/>
            <a:ext cx="2759293" cy="884344"/>
            <a:chOff x="0" y="0"/>
            <a:chExt cx="726694" cy="23293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26694" cy="232932"/>
            </a:xfrm>
            <a:custGeom>
              <a:avLst/>
              <a:gdLst/>
              <a:ahLst/>
              <a:cxnLst/>
              <a:rect l="l" t="t" r="r" b="b"/>
              <a:pathLst>
                <a:path w="726694" h="232932">
                  <a:moveTo>
                    <a:pt x="726694" y="72950"/>
                  </a:moveTo>
                  <a:lnTo>
                    <a:pt x="726694" y="159983"/>
                  </a:lnTo>
                  <a:cubicBezTo>
                    <a:pt x="726694" y="179330"/>
                    <a:pt x="719008" y="197885"/>
                    <a:pt x="705327" y="211566"/>
                  </a:cubicBezTo>
                  <a:cubicBezTo>
                    <a:pt x="691647" y="225247"/>
                    <a:pt x="673092" y="232932"/>
                    <a:pt x="653744" y="232932"/>
                  </a:cubicBezTo>
                  <a:lnTo>
                    <a:pt x="72950" y="232932"/>
                  </a:lnTo>
                  <a:cubicBezTo>
                    <a:pt x="32661" y="232932"/>
                    <a:pt x="0" y="200272"/>
                    <a:pt x="0" y="159983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04775"/>
              <a:ext cx="726694" cy="3377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이력 상세 페이지</a:t>
              </a: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27CC0DE-66F0-866B-A8EF-900535137EE6}"/>
              </a:ext>
            </a:extLst>
          </p:cNvPr>
          <p:cNvSpPr>
            <a:spLocks/>
          </p:cNvSpPr>
          <p:nvPr/>
        </p:nvSpPr>
        <p:spPr>
          <a:xfrm>
            <a:off x="0" y="0"/>
            <a:ext cx="1364366" cy="10287000"/>
          </a:xfrm>
          <a:prstGeom prst="rect">
            <a:avLst/>
          </a:prstGeom>
          <a:solidFill>
            <a:srgbClr val="0B6E6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b"/>
          <a:lstStyle/>
          <a:p>
            <a:pPr algn="just"/>
            <a:r>
              <a:rPr lang="ko-KR" altLang="en-US" sz="6000" dirty="0"/>
              <a:t>　 관리자 콘솔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6705961"/>
              </p:ext>
            </p:extLst>
          </p:nvPr>
        </p:nvGraphicFramePr>
        <p:xfrm>
          <a:off x="1612018" y="426661"/>
          <a:ext cx="15063964" cy="1301164"/>
        </p:xfrm>
        <a:graphic>
          <a:graphicData uri="http://schemas.openxmlformats.org/drawingml/2006/table">
            <a:tbl>
              <a:tblPr/>
              <a:tblGrid>
                <a:gridCol w="2750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1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44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974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0582"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ko-KR" altLang="en-US" sz="2084" b="1" dirty="0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단위 프로세스 </a:t>
                      </a:r>
                      <a:r>
                        <a:rPr lang="en-US" altLang="ko-KR" sz="2084" b="1" dirty="0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ID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 smtClean="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UT-A08-037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프로세스명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계정 관리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582"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작성일자</a:t>
                      </a:r>
                      <a:endParaRPr lang="en-US" sz="1100"/>
                    </a:p>
                  </a:txBody>
                  <a:tcPr marL="9525" marR="9525" marT="9525" marB="9525" anchor="ctr">
                    <a:lnL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2025.07.17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작성자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 err="1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박기범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" name="Group 3"/>
          <p:cNvGrpSpPr/>
          <p:nvPr/>
        </p:nvGrpSpPr>
        <p:grpSpPr>
          <a:xfrm>
            <a:off x="1612018" y="3288162"/>
            <a:ext cx="2759293" cy="885254"/>
            <a:chOff x="0" y="0"/>
            <a:chExt cx="726694" cy="23317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04775"/>
              <a:ext cx="726694" cy="337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계정 관리 페이지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069234" y="3288162"/>
            <a:ext cx="2758136" cy="885254"/>
            <a:chOff x="0" y="0"/>
            <a:chExt cx="726389" cy="23317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26389" cy="233172"/>
            </a:xfrm>
            <a:custGeom>
              <a:avLst/>
              <a:gdLst/>
              <a:ahLst/>
              <a:cxnLst/>
              <a:rect l="l" t="t" r="r" b="b"/>
              <a:pathLst>
                <a:path w="726389" h="233172">
                  <a:moveTo>
                    <a:pt x="726389" y="72980"/>
                  </a:moveTo>
                  <a:lnTo>
                    <a:pt x="726389" y="160192"/>
                  </a:lnTo>
                  <a:cubicBezTo>
                    <a:pt x="726389" y="200498"/>
                    <a:pt x="693715" y="233172"/>
                    <a:pt x="653409" y="233172"/>
                  </a:cubicBezTo>
                  <a:lnTo>
                    <a:pt x="72980" y="233172"/>
                  </a:lnTo>
                  <a:cubicBezTo>
                    <a:pt x="32674" y="233172"/>
                    <a:pt x="0" y="200498"/>
                    <a:pt x="0" y="160192"/>
                  </a:cubicBezTo>
                  <a:lnTo>
                    <a:pt x="0" y="72980"/>
                  </a:lnTo>
                  <a:cubicBezTo>
                    <a:pt x="0" y="32674"/>
                    <a:pt x="32674" y="0"/>
                    <a:pt x="72980" y="0"/>
                  </a:cubicBezTo>
                  <a:lnTo>
                    <a:pt x="653409" y="0"/>
                  </a:lnTo>
                  <a:cubicBezTo>
                    <a:pt x="672764" y="0"/>
                    <a:pt x="691327" y="7689"/>
                    <a:pt x="705014" y="21375"/>
                  </a:cubicBezTo>
                  <a:cubicBezTo>
                    <a:pt x="718700" y="35062"/>
                    <a:pt x="726389" y="53625"/>
                    <a:pt x="726389" y="7298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04775"/>
              <a:ext cx="726389" cy="337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계정 목록 조회</a:t>
              </a:r>
            </a:p>
          </p:txBody>
        </p:sp>
      </p:grpSp>
      <p:sp>
        <p:nvSpPr>
          <p:cNvPr id="9" name="AutoShape 9"/>
          <p:cNvSpPr/>
          <p:nvPr/>
        </p:nvSpPr>
        <p:spPr>
          <a:xfrm>
            <a:off x="4985762" y="3769798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AutoShape 10"/>
          <p:cNvSpPr/>
          <p:nvPr/>
        </p:nvSpPr>
        <p:spPr>
          <a:xfrm>
            <a:off x="9131469" y="3711739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1" name="Group 11"/>
          <p:cNvGrpSpPr/>
          <p:nvPr/>
        </p:nvGrpSpPr>
        <p:grpSpPr>
          <a:xfrm>
            <a:off x="10272793" y="3289072"/>
            <a:ext cx="2759293" cy="884344"/>
            <a:chOff x="0" y="0"/>
            <a:chExt cx="726694" cy="23293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26694" cy="232932"/>
            </a:xfrm>
            <a:custGeom>
              <a:avLst/>
              <a:gdLst/>
              <a:ahLst/>
              <a:cxnLst/>
              <a:rect l="l" t="t" r="r" b="b"/>
              <a:pathLst>
                <a:path w="726694" h="232932">
                  <a:moveTo>
                    <a:pt x="726694" y="72950"/>
                  </a:moveTo>
                  <a:lnTo>
                    <a:pt x="726694" y="159983"/>
                  </a:lnTo>
                  <a:cubicBezTo>
                    <a:pt x="726694" y="179330"/>
                    <a:pt x="719008" y="197885"/>
                    <a:pt x="705327" y="211566"/>
                  </a:cubicBezTo>
                  <a:cubicBezTo>
                    <a:pt x="691647" y="225247"/>
                    <a:pt x="673092" y="232932"/>
                    <a:pt x="653744" y="232932"/>
                  </a:cubicBezTo>
                  <a:lnTo>
                    <a:pt x="72950" y="232932"/>
                  </a:lnTo>
                  <a:cubicBezTo>
                    <a:pt x="32661" y="232932"/>
                    <a:pt x="0" y="200272"/>
                    <a:pt x="0" y="159983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04775"/>
              <a:ext cx="726694" cy="3377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계정 추가</a:t>
              </a:r>
            </a:p>
          </p:txBody>
        </p:sp>
      </p:grpSp>
      <p:sp>
        <p:nvSpPr>
          <p:cNvPr id="14" name="AutoShape 14"/>
          <p:cNvSpPr/>
          <p:nvPr/>
        </p:nvSpPr>
        <p:spPr>
          <a:xfrm>
            <a:off x="9144000" y="4192466"/>
            <a:ext cx="824694" cy="50825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5" name="Group 15"/>
          <p:cNvGrpSpPr/>
          <p:nvPr/>
        </p:nvGrpSpPr>
        <p:grpSpPr>
          <a:xfrm>
            <a:off x="10272793" y="4700724"/>
            <a:ext cx="2759293" cy="885254"/>
            <a:chOff x="0" y="0"/>
            <a:chExt cx="726694" cy="23317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04775"/>
              <a:ext cx="726694" cy="337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계정 삭제</a:t>
              </a:r>
            </a:p>
          </p:txBody>
        </p:sp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8973364-B5A1-1D8B-539C-561CC817BBAD}"/>
              </a:ext>
            </a:extLst>
          </p:cNvPr>
          <p:cNvSpPr>
            <a:spLocks/>
          </p:cNvSpPr>
          <p:nvPr/>
        </p:nvSpPr>
        <p:spPr>
          <a:xfrm>
            <a:off x="0" y="0"/>
            <a:ext cx="1364366" cy="10287000"/>
          </a:xfrm>
          <a:prstGeom prst="rect">
            <a:avLst/>
          </a:prstGeom>
          <a:solidFill>
            <a:srgbClr val="0B6E6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b"/>
          <a:lstStyle/>
          <a:p>
            <a:pPr algn="just"/>
            <a:r>
              <a:rPr lang="ko-KR" altLang="en-US" sz="6000" dirty="0"/>
              <a:t>　 관리자 콘솔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5450015"/>
              </p:ext>
            </p:extLst>
          </p:nvPr>
        </p:nvGraphicFramePr>
        <p:xfrm>
          <a:off x="1612018" y="426661"/>
          <a:ext cx="15063964" cy="1301164"/>
        </p:xfrm>
        <a:graphic>
          <a:graphicData uri="http://schemas.openxmlformats.org/drawingml/2006/table">
            <a:tbl>
              <a:tblPr/>
              <a:tblGrid>
                <a:gridCol w="2750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1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44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974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0582"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ko-KR" altLang="en-US" sz="2084" b="1" dirty="0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단위 프로세스 </a:t>
                      </a:r>
                      <a:r>
                        <a:rPr lang="en-US" altLang="ko-KR" sz="2084" b="1" dirty="0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ID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 smtClean="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UT-A08-038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프로세스명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부서 관리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582"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작성일자</a:t>
                      </a:r>
                      <a:endParaRPr lang="en-US" sz="1100"/>
                    </a:p>
                  </a:txBody>
                  <a:tcPr marL="9525" marR="9525" marT="9525" marB="9525" anchor="ctr">
                    <a:lnL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2025.07.17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작성자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 err="1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박기범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" name="Group 3"/>
          <p:cNvGrpSpPr/>
          <p:nvPr/>
        </p:nvGrpSpPr>
        <p:grpSpPr>
          <a:xfrm>
            <a:off x="1921668" y="3269112"/>
            <a:ext cx="2759293" cy="885254"/>
            <a:chOff x="0" y="0"/>
            <a:chExt cx="726694" cy="23317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04775"/>
              <a:ext cx="726694" cy="337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부서 관리 페이지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069234" y="3288162"/>
            <a:ext cx="2758136" cy="885254"/>
            <a:chOff x="0" y="0"/>
            <a:chExt cx="726389" cy="23317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26389" cy="233172"/>
            </a:xfrm>
            <a:custGeom>
              <a:avLst/>
              <a:gdLst/>
              <a:ahLst/>
              <a:cxnLst/>
              <a:rect l="l" t="t" r="r" b="b"/>
              <a:pathLst>
                <a:path w="726389" h="233172">
                  <a:moveTo>
                    <a:pt x="726389" y="72980"/>
                  </a:moveTo>
                  <a:lnTo>
                    <a:pt x="726389" y="160192"/>
                  </a:lnTo>
                  <a:cubicBezTo>
                    <a:pt x="726389" y="200498"/>
                    <a:pt x="693715" y="233172"/>
                    <a:pt x="653409" y="233172"/>
                  </a:cubicBezTo>
                  <a:lnTo>
                    <a:pt x="72980" y="233172"/>
                  </a:lnTo>
                  <a:cubicBezTo>
                    <a:pt x="32674" y="233172"/>
                    <a:pt x="0" y="200498"/>
                    <a:pt x="0" y="160192"/>
                  </a:cubicBezTo>
                  <a:lnTo>
                    <a:pt x="0" y="72980"/>
                  </a:lnTo>
                  <a:cubicBezTo>
                    <a:pt x="0" y="32674"/>
                    <a:pt x="32674" y="0"/>
                    <a:pt x="72980" y="0"/>
                  </a:cubicBezTo>
                  <a:lnTo>
                    <a:pt x="653409" y="0"/>
                  </a:lnTo>
                  <a:cubicBezTo>
                    <a:pt x="672764" y="0"/>
                    <a:pt x="691327" y="7689"/>
                    <a:pt x="705014" y="21375"/>
                  </a:cubicBezTo>
                  <a:cubicBezTo>
                    <a:pt x="718700" y="35062"/>
                    <a:pt x="726389" y="53625"/>
                    <a:pt x="726389" y="7298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04775"/>
              <a:ext cx="726389" cy="337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부서 목록 조회</a:t>
              </a:r>
            </a:p>
          </p:txBody>
        </p:sp>
      </p:grpSp>
      <p:sp>
        <p:nvSpPr>
          <p:cNvPr id="9" name="AutoShape 9"/>
          <p:cNvSpPr/>
          <p:nvPr/>
        </p:nvSpPr>
        <p:spPr>
          <a:xfrm>
            <a:off x="4985762" y="3769798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AutoShape 10"/>
          <p:cNvSpPr/>
          <p:nvPr/>
        </p:nvSpPr>
        <p:spPr>
          <a:xfrm>
            <a:off x="9131469" y="3711739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1" name="Group 11"/>
          <p:cNvGrpSpPr/>
          <p:nvPr/>
        </p:nvGrpSpPr>
        <p:grpSpPr>
          <a:xfrm>
            <a:off x="10426242" y="3269112"/>
            <a:ext cx="2759293" cy="884344"/>
            <a:chOff x="0" y="0"/>
            <a:chExt cx="726694" cy="23293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26694" cy="232932"/>
            </a:xfrm>
            <a:custGeom>
              <a:avLst/>
              <a:gdLst/>
              <a:ahLst/>
              <a:cxnLst/>
              <a:rect l="l" t="t" r="r" b="b"/>
              <a:pathLst>
                <a:path w="726694" h="232932">
                  <a:moveTo>
                    <a:pt x="726694" y="72950"/>
                  </a:moveTo>
                  <a:lnTo>
                    <a:pt x="726694" y="159983"/>
                  </a:lnTo>
                  <a:cubicBezTo>
                    <a:pt x="726694" y="179330"/>
                    <a:pt x="719008" y="197885"/>
                    <a:pt x="705327" y="211566"/>
                  </a:cubicBezTo>
                  <a:cubicBezTo>
                    <a:pt x="691647" y="225247"/>
                    <a:pt x="673092" y="232932"/>
                    <a:pt x="653744" y="232932"/>
                  </a:cubicBezTo>
                  <a:lnTo>
                    <a:pt x="72950" y="232932"/>
                  </a:lnTo>
                  <a:cubicBezTo>
                    <a:pt x="32661" y="232932"/>
                    <a:pt x="0" y="200272"/>
                    <a:pt x="0" y="159983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04775"/>
              <a:ext cx="726694" cy="3377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부서 추가</a:t>
              </a:r>
            </a:p>
          </p:txBody>
        </p:sp>
      </p:grpSp>
      <p:sp>
        <p:nvSpPr>
          <p:cNvPr id="14" name="AutoShape 14"/>
          <p:cNvSpPr/>
          <p:nvPr/>
        </p:nvSpPr>
        <p:spPr>
          <a:xfrm>
            <a:off x="9131469" y="4866480"/>
            <a:ext cx="990673" cy="139351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5" name="Group 15"/>
          <p:cNvGrpSpPr/>
          <p:nvPr/>
        </p:nvGrpSpPr>
        <p:grpSpPr>
          <a:xfrm>
            <a:off x="10426242" y="6259992"/>
            <a:ext cx="2759293" cy="885254"/>
            <a:chOff x="0" y="0"/>
            <a:chExt cx="726694" cy="23317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04775"/>
              <a:ext cx="726694" cy="337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부서 삭제</a:t>
              </a:r>
            </a:p>
          </p:txBody>
        </p:sp>
      </p:grpSp>
      <p:sp>
        <p:nvSpPr>
          <p:cNvPr id="18" name="AutoShape 18"/>
          <p:cNvSpPr/>
          <p:nvPr/>
        </p:nvSpPr>
        <p:spPr>
          <a:xfrm>
            <a:off x="9153995" y="4358221"/>
            <a:ext cx="824694" cy="50825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9" name="Group 19"/>
          <p:cNvGrpSpPr/>
          <p:nvPr/>
        </p:nvGrpSpPr>
        <p:grpSpPr>
          <a:xfrm>
            <a:off x="10426242" y="4700873"/>
            <a:ext cx="2759293" cy="885254"/>
            <a:chOff x="0" y="0"/>
            <a:chExt cx="726694" cy="23317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104775"/>
              <a:ext cx="726694" cy="337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부서 수정</a:t>
              </a:r>
            </a:p>
          </p:txBody>
        </p: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AD6C7C6-7AA6-A3CB-3714-7214F71B9222}"/>
              </a:ext>
            </a:extLst>
          </p:cNvPr>
          <p:cNvSpPr>
            <a:spLocks/>
          </p:cNvSpPr>
          <p:nvPr/>
        </p:nvSpPr>
        <p:spPr>
          <a:xfrm>
            <a:off x="0" y="0"/>
            <a:ext cx="1364366" cy="10287000"/>
          </a:xfrm>
          <a:prstGeom prst="rect">
            <a:avLst/>
          </a:prstGeom>
          <a:solidFill>
            <a:srgbClr val="0B6E6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b"/>
          <a:lstStyle/>
          <a:p>
            <a:pPr algn="just"/>
            <a:r>
              <a:rPr lang="ko-KR" altLang="en-US" sz="6000" dirty="0"/>
              <a:t>　 관리자 콘솔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9603760"/>
              </p:ext>
            </p:extLst>
          </p:nvPr>
        </p:nvGraphicFramePr>
        <p:xfrm>
          <a:off x="1612018" y="426661"/>
          <a:ext cx="15063964" cy="1301164"/>
        </p:xfrm>
        <a:graphic>
          <a:graphicData uri="http://schemas.openxmlformats.org/drawingml/2006/table">
            <a:tbl>
              <a:tblPr/>
              <a:tblGrid>
                <a:gridCol w="2750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1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44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974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0582"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ko-KR" altLang="en-US" sz="2084" b="1" dirty="0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단위 프로세스 </a:t>
                      </a:r>
                      <a:r>
                        <a:rPr lang="en-US" altLang="ko-KR" sz="2084" b="1" dirty="0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ID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 smtClean="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UT-A08-039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프로세스명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시스템 권한 관리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582"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작성일자</a:t>
                      </a:r>
                      <a:endParaRPr lang="en-US" sz="1100"/>
                    </a:p>
                  </a:txBody>
                  <a:tcPr marL="9525" marR="9525" marT="9525" marB="9525" anchor="ctr">
                    <a:lnL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2025.07.17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작성자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 err="1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박기범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" name="Group 3"/>
          <p:cNvGrpSpPr/>
          <p:nvPr/>
        </p:nvGrpSpPr>
        <p:grpSpPr>
          <a:xfrm>
            <a:off x="1921668" y="3269112"/>
            <a:ext cx="2759293" cy="885254"/>
            <a:chOff x="0" y="0"/>
            <a:chExt cx="726694" cy="23317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 anchor="b"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04775"/>
              <a:ext cx="726694" cy="337947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시스템 권한</a:t>
              </a:r>
            </a:p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목록 페이지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069234" y="3069764"/>
            <a:ext cx="2815988" cy="1283040"/>
            <a:chOff x="0" y="-57525"/>
            <a:chExt cx="741625" cy="3379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26389" cy="233172"/>
            </a:xfrm>
            <a:custGeom>
              <a:avLst/>
              <a:gdLst/>
              <a:ahLst/>
              <a:cxnLst/>
              <a:rect l="l" t="t" r="r" b="b"/>
              <a:pathLst>
                <a:path w="726389" h="233172">
                  <a:moveTo>
                    <a:pt x="726389" y="72980"/>
                  </a:moveTo>
                  <a:lnTo>
                    <a:pt x="726389" y="160192"/>
                  </a:lnTo>
                  <a:cubicBezTo>
                    <a:pt x="726389" y="200498"/>
                    <a:pt x="693715" y="233172"/>
                    <a:pt x="653409" y="233172"/>
                  </a:cubicBezTo>
                  <a:lnTo>
                    <a:pt x="72980" y="233172"/>
                  </a:lnTo>
                  <a:cubicBezTo>
                    <a:pt x="32674" y="233172"/>
                    <a:pt x="0" y="200498"/>
                    <a:pt x="0" y="160192"/>
                  </a:cubicBezTo>
                  <a:lnTo>
                    <a:pt x="0" y="72980"/>
                  </a:lnTo>
                  <a:cubicBezTo>
                    <a:pt x="0" y="32674"/>
                    <a:pt x="32674" y="0"/>
                    <a:pt x="72980" y="0"/>
                  </a:cubicBezTo>
                  <a:lnTo>
                    <a:pt x="653409" y="0"/>
                  </a:lnTo>
                  <a:cubicBezTo>
                    <a:pt x="672764" y="0"/>
                    <a:pt x="691327" y="7689"/>
                    <a:pt x="705014" y="21375"/>
                  </a:cubicBezTo>
                  <a:cubicBezTo>
                    <a:pt x="718700" y="35062"/>
                    <a:pt x="726389" y="53625"/>
                    <a:pt x="726389" y="7298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5236" y="-57525"/>
              <a:ext cx="726389" cy="337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3"/>
                </a:lnSpc>
              </a:pPr>
              <a:r>
                <a:rPr lang="en-US" sz="20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권한</a:t>
              </a:r>
              <a:r>
                <a:rPr lang="en-US" sz="20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0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종류</a:t>
              </a:r>
              <a:r>
                <a:rPr lang="en-US" sz="20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0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확인</a:t>
              </a:r>
              <a:endParaRPr lang="en-US" sz="2084" dirty="0">
                <a:solidFill>
                  <a:srgbClr val="F1F1F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</p:txBody>
        </p:sp>
      </p:grpSp>
      <p:sp>
        <p:nvSpPr>
          <p:cNvPr id="9" name="AutoShape 9"/>
          <p:cNvSpPr/>
          <p:nvPr/>
        </p:nvSpPr>
        <p:spPr>
          <a:xfrm>
            <a:off x="4985762" y="3769798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AutoShape 10"/>
          <p:cNvSpPr/>
          <p:nvPr/>
        </p:nvSpPr>
        <p:spPr>
          <a:xfrm>
            <a:off x="9131469" y="3711739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1" name="Group 11"/>
          <p:cNvGrpSpPr/>
          <p:nvPr/>
        </p:nvGrpSpPr>
        <p:grpSpPr>
          <a:xfrm>
            <a:off x="10426242" y="3020956"/>
            <a:ext cx="2759293" cy="1282130"/>
            <a:chOff x="0" y="-65363"/>
            <a:chExt cx="726694" cy="33770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26694" cy="232932"/>
            </a:xfrm>
            <a:custGeom>
              <a:avLst/>
              <a:gdLst/>
              <a:ahLst/>
              <a:cxnLst/>
              <a:rect l="l" t="t" r="r" b="b"/>
              <a:pathLst>
                <a:path w="726694" h="232932">
                  <a:moveTo>
                    <a:pt x="726694" y="72950"/>
                  </a:moveTo>
                  <a:lnTo>
                    <a:pt x="726694" y="159983"/>
                  </a:lnTo>
                  <a:cubicBezTo>
                    <a:pt x="726694" y="179330"/>
                    <a:pt x="719008" y="197885"/>
                    <a:pt x="705327" y="211566"/>
                  </a:cubicBezTo>
                  <a:cubicBezTo>
                    <a:pt x="691647" y="225247"/>
                    <a:pt x="673092" y="232932"/>
                    <a:pt x="653744" y="232932"/>
                  </a:cubicBezTo>
                  <a:lnTo>
                    <a:pt x="72950" y="232932"/>
                  </a:lnTo>
                  <a:cubicBezTo>
                    <a:pt x="32661" y="232932"/>
                    <a:pt x="0" y="200272"/>
                    <a:pt x="0" y="159983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65363"/>
              <a:ext cx="726694" cy="3377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3"/>
                </a:lnSpc>
              </a:pPr>
              <a:r>
                <a:rPr lang="en-US" sz="20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권한</a:t>
              </a:r>
              <a:r>
                <a:rPr lang="en-US" sz="20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0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등록</a:t>
              </a:r>
              <a:endParaRPr lang="en-US" sz="2084" dirty="0">
                <a:solidFill>
                  <a:srgbClr val="F1F1F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</p:txBody>
        </p:sp>
      </p:grpSp>
      <p:sp>
        <p:nvSpPr>
          <p:cNvPr id="14" name="AutoShape 14"/>
          <p:cNvSpPr/>
          <p:nvPr/>
        </p:nvSpPr>
        <p:spPr>
          <a:xfrm>
            <a:off x="9131469" y="4866480"/>
            <a:ext cx="990673" cy="139351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5" name="Group 15"/>
          <p:cNvGrpSpPr/>
          <p:nvPr/>
        </p:nvGrpSpPr>
        <p:grpSpPr>
          <a:xfrm>
            <a:off x="10426242" y="6061097"/>
            <a:ext cx="2759293" cy="1283040"/>
            <a:chOff x="0" y="-52388"/>
            <a:chExt cx="726694" cy="33794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2388"/>
              <a:ext cx="726694" cy="337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3"/>
                </a:lnSpc>
              </a:pPr>
              <a:r>
                <a:rPr lang="en-US" sz="20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권한</a:t>
              </a:r>
              <a:r>
                <a:rPr lang="en-US" sz="20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0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삭제</a:t>
              </a:r>
              <a:endParaRPr lang="en-US" sz="2084" dirty="0">
                <a:solidFill>
                  <a:srgbClr val="F1F1F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</p:txBody>
        </p:sp>
      </p:grpSp>
      <p:sp>
        <p:nvSpPr>
          <p:cNvPr id="18" name="AutoShape 18"/>
          <p:cNvSpPr/>
          <p:nvPr/>
        </p:nvSpPr>
        <p:spPr>
          <a:xfrm>
            <a:off x="9153995" y="4358221"/>
            <a:ext cx="824694" cy="50825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9" name="Group 19"/>
          <p:cNvGrpSpPr/>
          <p:nvPr/>
        </p:nvGrpSpPr>
        <p:grpSpPr>
          <a:xfrm>
            <a:off x="10426242" y="4501978"/>
            <a:ext cx="2759293" cy="1283040"/>
            <a:chOff x="0" y="-52388"/>
            <a:chExt cx="726694" cy="33794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52388"/>
              <a:ext cx="726694" cy="337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3"/>
                </a:lnSpc>
              </a:pPr>
              <a:r>
                <a:rPr lang="en-US" sz="20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권한</a:t>
              </a:r>
              <a:r>
                <a:rPr lang="en-US" sz="20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0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수정</a:t>
              </a:r>
              <a:endParaRPr lang="en-US" sz="2084" dirty="0">
                <a:solidFill>
                  <a:srgbClr val="F1F1F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</p:txBody>
        </p: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8E4BF80-26E3-BE31-EEBC-097BA3EF7260}"/>
              </a:ext>
            </a:extLst>
          </p:cNvPr>
          <p:cNvSpPr>
            <a:spLocks/>
          </p:cNvSpPr>
          <p:nvPr/>
        </p:nvSpPr>
        <p:spPr>
          <a:xfrm>
            <a:off x="0" y="0"/>
            <a:ext cx="1364366" cy="10287000"/>
          </a:xfrm>
          <a:prstGeom prst="rect">
            <a:avLst/>
          </a:prstGeom>
          <a:solidFill>
            <a:srgbClr val="0B6E6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b"/>
          <a:lstStyle/>
          <a:p>
            <a:pPr algn="just"/>
            <a:r>
              <a:rPr lang="ko-KR" altLang="en-US" sz="6000" dirty="0"/>
              <a:t>　관리자 콘솔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7625075"/>
              </p:ext>
            </p:extLst>
          </p:nvPr>
        </p:nvGraphicFramePr>
        <p:xfrm>
          <a:off x="1612018" y="426661"/>
          <a:ext cx="15063964" cy="1301164"/>
        </p:xfrm>
        <a:graphic>
          <a:graphicData uri="http://schemas.openxmlformats.org/drawingml/2006/table">
            <a:tbl>
              <a:tblPr/>
              <a:tblGrid>
                <a:gridCol w="2750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1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44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974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0582"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ko-KR" altLang="en-US" sz="2084" b="1" dirty="0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단위 프로세스 </a:t>
                      </a:r>
                      <a:r>
                        <a:rPr lang="en-US" altLang="ko-KR" sz="2084" b="1" dirty="0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ID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 smtClean="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UT-A08-040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프로세스명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저장소 관리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582"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작성일자</a:t>
                      </a:r>
                      <a:endParaRPr lang="en-US" sz="1100"/>
                    </a:p>
                  </a:txBody>
                  <a:tcPr marL="9525" marR="9525" marT="9525" marB="9525" anchor="ctr">
                    <a:lnL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2025.07.17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작성자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 err="1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박기범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" name="Group 3"/>
          <p:cNvGrpSpPr/>
          <p:nvPr/>
        </p:nvGrpSpPr>
        <p:grpSpPr>
          <a:xfrm>
            <a:off x="1921668" y="3269112"/>
            <a:ext cx="2759293" cy="885254"/>
            <a:chOff x="0" y="0"/>
            <a:chExt cx="726694" cy="23317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04775"/>
              <a:ext cx="726694" cy="337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저장공간 관리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069234" y="3288162"/>
            <a:ext cx="2758136" cy="885254"/>
            <a:chOff x="0" y="0"/>
            <a:chExt cx="726389" cy="23317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26389" cy="233172"/>
            </a:xfrm>
            <a:custGeom>
              <a:avLst/>
              <a:gdLst/>
              <a:ahLst/>
              <a:cxnLst/>
              <a:rect l="l" t="t" r="r" b="b"/>
              <a:pathLst>
                <a:path w="726389" h="233172">
                  <a:moveTo>
                    <a:pt x="726389" y="72980"/>
                  </a:moveTo>
                  <a:lnTo>
                    <a:pt x="726389" y="160192"/>
                  </a:lnTo>
                  <a:cubicBezTo>
                    <a:pt x="726389" y="200498"/>
                    <a:pt x="693715" y="233172"/>
                    <a:pt x="653409" y="233172"/>
                  </a:cubicBezTo>
                  <a:lnTo>
                    <a:pt x="72980" y="233172"/>
                  </a:lnTo>
                  <a:cubicBezTo>
                    <a:pt x="32674" y="233172"/>
                    <a:pt x="0" y="200498"/>
                    <a:pt x="0" y="160192"/>
                  </a:cubicBezTo>
                  <a:lnTo>
                    <a:pt x="0" y="72980"/>
                  </a:lnTo>
                  <a:cubicBezTo>
                    <a:pt x="0" y="32674"/>
                    <a:pt x="32674" y="0"/>
                    <a:pt x="72980" y="0"/>
                  </a:cubicBezTo>
                  <a:lnTo>
                    <a:pt x="653409" y="0"/>
                  </a:lnTo>
                  <a:cubicBezTo>
                    <a:pt x="672764" y="0"/>
                    <a:pt x="691327" y="7689"/>
                    <a:pt x="705014" y="21375"/>
                  </a:cubicBezTo>
                  <a:cubicBezTo>
                    <a:pt x="718700" y="35062"/>
                    <a:pt x="726389" y="53625"/>
                    <a:pt x="726389" y="7298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04775"/>
              <a:ext cx="726389" cy="337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용량 및 그래프 표시</a:t>
              </a:r>
            </a:p>
          </p:txBody>
        </p:sp>
      </p:grpSp>
      <p:sp>
        <p:nvSpPr>
          <p:cNvPr id="9" name="AutoShape 9"/>
          <p:cNvSpPr/>
          <p:nvPr/>
        </p:nvSpPr>
        <p:spPr>
          <a:xfrm>
            <a:off x="4985762" y="3769798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AutoShape 10"/>
          <p:cNvSpPr/>
          <p:nvPr/>
        </p:nvSpPr>
        <p:spPr>
          <a:xfrm>
            <a:off x="3320365" y="4668057"/>
            <a:ext cx="0" cy="50068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1" name="Group 11"/>
          <p:cNvGrpSpPr/>
          <p:nvPr/>
        </p:nvGrpSpPr>
        <p:grpSpPr>
          <a:xfrm>
            <a:off x="1921668" y="5618943"/>
            <a:ext cx="2759293" cy="885254"/>
            <a:chOff x="0" y="0"/>
            <a:chExt cx="726694" cy="23317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04775"/>
              <a:ext cx="726694" cy="337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파일 관리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069234" y="5618943"/>
            <a:ext cx="2758136" cy="885254"/>
            <a:chOff x="0" y="0"/>
            <a:chExt cx="726389" cy="23317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26389" cy="233172"/>
            </a:xfrm>
            <a:custGeom>
              <a:avLst/>
              <a:gdLst/>
              <a:ahLst/>
              <a:cxnLst/>
              <a:rect l="l" t="t" r="r" b="b"/>
              <a:pathLst>
                <a:path w="726389" h="233172">
                  <a:moveTo>
                    <a:pt x="726389" y="72980"/>
                  </a:moveTo>
                  <a:lnTo>
                    <a:pt x="726389" y="160192"/>
                  </a:lnTo>
                  <a:cubicBezTo>
                    <a:pt x="726389" y="200498"/>
                    <a:pt x="693715" y="233172"/>
                    <a:pt x="653409" y="233172"/>
                  </a:cubicBezTo>
                  <a:lnTo>
                    <a:pt x="72980" y="233172"/>
                  </a:lnTo>
                  <a:cubicBezTo>
                    <a:pt x="32674" y="233172"/>
                    <a:pt x="0" y="200498"/>
                    <a:pt x="0" y="160192"/>
                  </a:cubicBezTo>
                  <a:lnTo>
                    <a:pt x="0" y="72980"/>
                  </a:lnTo>
                  <a:cubicBezTo>
                    <a:pt x="0" y="32674"/>
                    <a:pt x="32674" y="0"/>
                    <a:pt x="72980" y="0"/>
                  </a:cubicBezTo>
                  <a:lnTo>
                    <a:pt x="653409" y="0"/>
                  </a:lnTo>
                  <a:cubicBezTo>
                    <a:pt x="672764" y="0"/>
                    <a:pt x="691327" y="7689"/>
                    <a:pt x="705014" y="21375"/>
                  </a:cubicBezTo>
                  <a:cubicBezTo>
                    <a:pt x="718700" y="35062"/>
                    <a:pt x="726389" y="53625"/>
                    <a:pt x="726389" y="7298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 anchor="b"/>
            <a:lstStyle/>
            <a:p>
              <a:endParaRPr lang="ko-KR" alt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04775"/>
              <a:ext cx="726389" cy="337947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파일 정리</a:t>
              </a:r>
            </a:p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버튼 클릭</a:t>
              </a:r>
            </a:p>
          </p:txBody>
        </p:sp>
      </p:grpSp>
      <p:sp>
        <p:nvSpPr>
          <p:cNvPr id="17" name="AutoShape 17"/>
          <p:cNvSpPr/>
          <p:nvPr/>
        </p:nvSpPr>
        <p:spPr>
          <a:xfrm>
            <a:off x="4985762" y="6100579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AutoShape 18"/>
          <p:cNvSpPr/>
          <p:nvPr/>
        </p:nvSpPr>
        <p:spPr>
          <a:xfrm>
            <a:off x="9131469" y="6042519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9" name="Group 19"/>
          <p:cNvGrpSpPr/>
          <p:nvPr/>
        </p:nvGrpSpPr>
        <p:grpSpPr>
          <a:xfrm>
            <a:off x="10216344" y="5619852"/>
            <a:ext cx="2759293" cy="884344"/>
            <a:chOff x="0" y="0"/>
            <a:chExt cx="726694" cy="23293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26694" cy="232932"/>
            </a:xfrm>
            <a:custGeom>
              <a:avLst/>
              <a:gdLst/>
              <a:ahLst/>
              <a:cxnLst/>
              <a:rect l="l" t="t" r="r" b="b"/>
              <a:pathLst>
                <a:path w="726694" h="232932">
                  <a:moveTo>
                    <a:pt x="726694" y="72950"/>
                  </a:moveTo>
                  <a:lnTo>
                    <a:pt x="726694" y="159983"/>
                  </a:lnTo>
                  <a:cubicBezTo>
                    <a:pt x="726694" y="179330"/>
                    <a:pt x="719008" y="197885"/>
                    <a:pt x="705327" y="211566"/>
                  </a:cubicBezTo>
                  <a:cubicBezTo>
                    <a:pt x="691647" y="225247"/>
                    <a:pt x="673092" y="232932"/>
                    <a:pt x="653744" y="232932"/>
                  </a:cubicBezTo>
                  <a:lnTo>
                    <a:pt x="72950" y="232932"/>
                  </a:lnTo>
                  <a:cubicBezTo>
                    <a:pt x="32661" y="232932"/>
                    <a:pt x="0" y="200272"/>
                    <a:pt x="0" y="159983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104775"/>
              <a:ext cx="726694" cy="3377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수행 확인창</a:t>
              </a:r>
            </a:p>
          </p:txBody>
        </p:sp>
      </p:grpSp>
      <p:sp>
        <p:nvSpPr>
          <p:cNvPr id="22" name="AutoShape 22"/>
          <p:cNvSpPr/>
          <p:nvPr/>
        </p:nvSpPr>
        <p:spPr>
          <a:xfrm>
            <a:off x="13280437" y="6023015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23" name="Group 23"/>
          <p:cNvGrpSpPr/>
          <p:nvPr/>
        </p:nvGrpSpPr>
        <p:grpSpPr>
          <a:xfrm>
            <a:off x="14365311" y="5600347"/>
            <a:ext cx="2759293" cy="884344"/>
            <a:chOff x="0" y="0"/>
            <a:chExt cx="726694" cy="23293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26694" cy="232932"/>
            </a:xfrm>
            <a:custGeom>
              <a:avLst/>
              <a:gdLst/>
              <a:ahLst/>
              <a:cxnLst/>
              <a:rect l="l" t="t" r="r" b="b"/>
              <a:pathLst>
                <a:path w="726694" h="232932">
                  <a:moveTo>
                    <a:pt x="726694" y="72950"/>
                  </a:moveTo>
                  <a:lnTo>
                    <a:pt x="726694" y="159983"/>
                  </a:lnTo>
                  <a:cubicBezTo>
                    <a:pt x="726694" y="179330"/>
                    <a:pt x="719008" y="197885"/>
                    <a:pt x="705327" y="211566"/>
                  </a:cubicBezTo>
                  <a:cubicBezTo>
                    <a:pt x="691647" y="225247"/>
                    <a:pt x="673092" y="232932"/>
                    <a:pt x="653744" y="232932"/>
                  </a:cubicBezTo>
                  <a:lnTo>
                    <a:pt x="72950" y="232932"/>
                  </a:lnTo>
                  <a:cubicBezTo>
                    <a:pt x="32661" y="232932"/>
                    <a:pt x="0" y="200272"/>
                    <a:pt x="0" y="159983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104775"/>
              <a:ext cx="726694" cy="3377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용량 및 그래프 갱신</a:t>
              </a:r>
            </a:p>
          </p:txBody>
        </p:sp>
      </p:grp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C51D1D0-346A-83BE-790E-233A7DF31F7F}"/>
              </a:ext>
            </a:extLst>
          </p:cNvPr>
          <p:cNvSpPr>
            <a:spLocks/>
          </p:cNvSpPr>
          <p:nvPr/>
        </p:nvSpPr>
        <p:spPr>
          <a:xfrm>
            <a:off x="0" y="0"/>
            <a:ext cx="1364366" cy="10287000"/>
          </a:xfrm>
          <a:prstGeom prst="rect">
            <a:avLst/>
          </a:prstGeom>
          <a:solidFill>
            <a:srgbClr val="0B6E6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b"/>
          <a:lstStyle/>
          <a:p>
            <a:pPr algn="just"/>
            <a:r>
              <a:rPr lang="ko-KR" altLang="en-US" sz="6000" dirty="0"/>
              <a:t>　관리자 콘솔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208722"/>
              </p:ext>
            </p:extLst>
          </p:nvPr>
        </p:nvGraphicFramePr>
        <p:xfrm>
          <a:off x="1612018" y="426661"/>
          <a:ext cx="15063964" cy="1301164"/>
        </p:xfrm>
        <a:graphic>
          <a:graphicData uri="http://schemas.openxmlformats.org/drawingml/2006/table">
            <a:tbl>
              <a:tblPr/>
              <a:tblGrid>
                <a:gridCol w="2750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1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44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974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0582"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ko-KR" altLang="en-US" sz="2084" b="1" dirty="0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단위 프로세스 </a:t>
                      </a:r>
                      <a:r>
                        <a:rPr lang="en-US" altLang="ko-KR" sz="2084" b="1" dirty="0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ID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 smtClean="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UT-A06-041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프로세스명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출퇴근 처리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582"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작성일자</a:t>
                      </a:r>
                      <a:endParaRPr lang="en-US" sz="1100"/>
                    </a:p>
                  </a:txBody>
                  <a:tcPr marL="9525" marR="9525" marT="9525" marB="9525" anchor="ctr">
                    <a:lnL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2025.07.17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작성자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 err="1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이세진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4" name="Group 4"/>
          <p:cNvGrpSpPr/>
          <p:nvPr/>
        </p:nvGrpSpPr>
        <p:grpSpPr>
          <a:xfrm>
            <a:off x="1771558" y="4659086"/>
            <a:ext cx="2759293" cy="968827"/>
            <a:chOff x="0" y="0"/>
            <a:chExt cx="726694" cy="25518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26694" cy="255185"/>
            </a:xfrm>
            <a:custGeom>
              <a:avLst/>
              <a:gdLst/>
              <a:ahLst/>
              <a:cxnLst/>
              <a:rect l="l" t="t" r="r" b="b"/>
              <a:pathLst>
                <a:path w="726694" h="255185">
                  <a:moveTo>
                    <a:pt x="726694" y="72950"/>
                  </a:moveTo>
                  <a:lnTo>
                    <a:pt x="726694" y="182235"/>
                  </a:lnTo>
                  <a:cubicBezTo>
                    <a:pt x="726694" y="201583"/>
                    <a:pt x="719008" y="220138"/>
                    <a:pt x="705327" y="233818"/>
                  </a:cubicBezTo>
                  <a:cubicBezTo>
                    <a:pt x="691647" y="247499"/>
                    <a:pt x="673092" y="255185"/>
                    <a:pt x="653744" y="255185"/>
                  </a:cubicBezTo>
                  <a:lnTo>
                    <a:pt x="72950" y="255185"/>
                  </a:lnTo>
                  <a:cubicBezTo>
                    <a:pt x="53602" y="255185"/>
                    <a:pt x="35047" y="247499"/>
                    <a:pt x="21367" y="233818"/>
                  </a:cubicBezTo>
                  <a:cubicBezTo>
                    <a:pt x="7686" y="220138"/>
                    <a:pt x="0" y="201583"/>
                    <a:pt x="0" y="182235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 anchor="b"/>
            <a:lstStyle/>
            <a:p>
              <a:endParaRPr lang="ko-KR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14300"/>
              <a:ext cx="726694" cy="369485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3861"/>
                </a:lnSpc>
              </a:pPr>
              <a:r>
                <a:rPr lang="en-US" sz="2284" dirty="0" smtClean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QR </a:t>
              </a:r>
              <a:r>
                <a:rPr lang="ko-KR" altLang="en-US" sz="2284" dirty="0" smtClean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스캔 화면에</a:t>
              </a:r>
              <a:endParaRPr lang="en-US" altLang="ko-KR" sz="2284" dirty="0" smtClean="0">
                <a:solidFill>
                  <a:srgbClr val="F1F1F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  <a:p>
              <a:pPr algn="ctr">
                <a:lnSpc>
                  <a:spcPts val="3861"/>
                </a:lnSpc>
              </a:pPr>
              <a:r>
                <a:rPr lang="ko-KR" altLang="en-US" sz="2284" dirty="0" smtClean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개인 </a:t>
              </a:r>
              <a:r>
                <a:rPr lang="en-US" altLang="ko-KR" sz="2284" dirty="0" smtClean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QR </a:t>
              </a:r>
              <a:r>
                <a:rPr lang="ko-KR" altLang="en-US" sz="2284" dirty="0" smtClean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스캔</a:t>
              </a:r>
              <a:endParaRPr lang="en-US" sz="2284" dirty="0">
                <a:solidFill>
                  <a:srgbClr val="F1F1F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315200" y="2624515"/>
            <a:ext cx="2759293" cy="934182"/>
            <a:chOff x="0" y="0"/>
            <a:chExt cx="726694" cy="24605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26694" cy="246059"/>
            </a:xfrm>
            <a:custGeom>
              <a:avLst/>
              <a:gdLst/>
              <a:ahLst/>
              <a:cxnLst/>
              <a:rect l="l" t="t" r="r" b="b"/>
              <a:pathLst>
                <a:path w="726694" h="246059">
                  <a:moveTo>
                    <a:pt x="726694" y="72950"/>
                  </a:moveTo>
                  <a:lnTo>
                    <a:pt x="726694" y="173110"/>
                  </a:lnTo>
                  <a:cubicBezTo>
                    <a:pt x="726694" y="213399"/>
                    <a:pt x="694033" y="246059"/>
                    <a:pt x="653744" y="246059"/>
                  </a:cubicBezTo>
                  <a:lnTo>
                    <a:pt x="72950" y="246059"/>
                  </a:lnTo>
                  <a:cubicBezTo>
                    <a:pt x="53602" y="246059"/>
                    <a:pt x="35047" y="238374"/>
                    <a:pt x="21367" y="224693"/>
                  </a:cubicBezTo>
                  <a:cubicBezTo>
                    <a:pt x="7686" y="211012"/>
                    <a:pt x="0" y="192457"/>
                    <a:pt x="0" y="173110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 anchor="b"/>
            <a:lstStyle/>
            <a:p>
              <a:endParaRPr lang="ko-KR" alt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04775"/>
              <a:ext cx="726694" cy="350834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3692"/>
                </a:lnSpc>
              </a:pPr>
              <a:r>
                <a:rPr lang="en-US" sz="21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가장 빠른</a:t>
              </a:r>
            </a:p>
            <a:p>
              <a:pPr algn="ctr">
                <a:lnSpc>
                  <a:spcPts val="3692"/>
                </a:lnSpc>
              </a:pPr>
              <a:r>
                <a:rPr lang="en-US" sz="21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출근 시간 기록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582400" y="2624515"/>
            <a:ext cx="2759293" cy="885254"/>
            <a:chOff x="0" y="0"/>
            <a:chExt cx="726694" cy="23317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 anchor="b"/>
            <a:lstStyle/>
            <a:p>
              <a:endParaRPr lang="ko-KR" alt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104775"/>
              <a:ext cx="726694" cy="337947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3692"/>
                </a:lnSpc>
              </a:pPr>
              <a:r>
                <a:rPr lang="en-US" sz="21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근무상태</a:t>
              </a:r>
              <a:r>
                <a:rPr lang="en-US" sz="21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“</a:t>
              </a:r>
              <a:r>
                <a:rPr lang="en-US" sz="21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업무”로</a:t>
              </a:r>
              <a:r>
                <a:rPr lang="en-US" sz="21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</a:p>
            <a:p>
              <a:pPr algn="ctr">
                <a:lnSpc>
                  <a:spcPts val="3692"/>
                </a:lnSpc>
              </a:pPr>
              <a:r>
                <a:rPr lang="en-US" sz="21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변경</a:t>
              </a:r>
              <a:endParaRPr lang="en-US" sz="2184" dirty="0">
                <a:solidFill>
                  <a:srgbClr val="F1F1F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</p:txBody>
        </p:sp>
      </p:grpSp>
      <p:sp>
        <p:nvSpPr>
          <p:cNvPr id="24" name="AutoShape 24"/>
          <p:cNvSpPr/>
          <p:nvPr/>
        </p:nvSpPr>
        <p:spPr>
          <a:xfrm>
            <a:off x="10497525" y="3124292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 anchor="b"/>
          <a:lstStyle/>
          <a:p>
            <a:endParaRPr lang="ko-KR" altLang="en-US"/>
          </a:p>
        </p:txBody>
      </p:sp>
      <p:grpSp>
        <p:nvGrpSpPr>
          <p:cNvPr id="28" name="Group 28"/>
          <p:cNvGrpSpPr/>
          <p:nvPr/>
        </p:nvGrpSpPr>
        <p:grpSpPr>
          <a:xfrm>
            <a:off x="7491740" y="6591300"/>
            <a:ext cx="2759293" cy="934182"/>
            <a:chOff x="0" y="0"/>
            <a:chExt cx="726694" cy="24605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26694" cy="246059"/>
            </a:xfrm>
            <a:custGeom>
              <a:avLst/>
              <a:gdLst/>
              <a:ahLst/>
              <a:cxnLst/>
              <a:rect l="l" t="t" r="r" b="b"/>
              <a:pathLst>
                <a:path w="726694" h="246059">
                  <a:moveTo>
                    <a:pt x="726694" y="72950"/>
                  </a:moveTo>
                  <a:lnTo>
                    <a:pt x="726694" y="173110"/>
                  </a:lnTo>
                  <a:cubicBezTo>
                    <a:pt x="726694" y="213399"/>
                    <a:pt x="694033" y="246059"/>
                    <a:pt x="653744" y="246059"/>
                  </a:cubicBezTo>
                  <a:lnTo>
                    <a:pt x="72950" y="246059"/>
                  </a:lnTo>
                  <a:cubicBezTo>
                    <a:pt x="53602" y="246059"/>
                    <a:pt x="35047" y="238374"/>
                    <a:pt x="21367" y="224693"/>
                  </a:cubicBezTo>
                  <a:cubicBezTo>
                    <a:pt x="7686" y="211012"/>
                    <a:pt x="0" y="192457"/>
                    <a:pt x="0" y="173110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 anchor="b"/>
            <a:lstStyle/>
            <a:p>
              <a:endParaRPr lang="ko-KR" alt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104775"/>
              <a:ext cx="726694" cy="350834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3692"/>
                </a:lnSpc>
              </a:pPr>
              <a:r>
                <a:rPr lang="en-US" sz="21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가장</a:t>
              </a:r>
              <a:r>
                <a:rPr lang="en-US" sz="21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1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늦은</a:t>
              </a:r>
              <a:endParaRPr lang="en-US" sz="2184" dirty="0">
                <a:solidFill>
                  <a:srgbClr val="F1F1F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  <a:p>
              <a:pPr algn="ctr">
                <a:lnSpc>
                  <a:spcPts val="3692"/>
                </a:lnSpc>
              </a:pPr>
              <a:r>
                <a:rPr lang="en-US" sz="21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퇴근</a:t>
              </a:r>
              <a:r>
                <a:rPr lang="en-US" sz="21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1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시간</a:t>
              </a:r>
              <a:r>
                <a:rPr lang="en-US" sz="21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1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기록</a:t>
              </a:r>
              <a:endParaRPr lang="en-US" sz="2184" dirty="0">
                <a:solidFill>
                  <a:srgbClr val="F1F1F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1582400" y="6591300"/>
            <a:ext cx="3018474" cy="934182"/>
            <a:chOff x="0" y="0"/>
            <a:chExt cx="726694" cy="24605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726694" cy="246059"/>
            </a:xfrm>
            <a:custGeom>
              <a:avLst/>
              <a:gdLst/>
              <a:ahLst/>
              <a:cxnLst/>
              <a:rect l="l" t="t" r="r" b="b"/>
              <a:pathLst>
                <a:path w="726694" h="246059">
                  <a:moveTo>
                    <a:pt x="726694" y="72950"/>
                  </a:moveTo>
                  <a:lnTo>
                    <a:pt x="726694" y="173110"/>
                  </a:lnTo>
                  <a:cubicBezTo>
                    <a:pt x="726694" y="213399"/>
                    <a:pt x="694033" y="246059"/>
                    <a:pt x="653744" y="246059"/>
                  </a:cubicBezTo>
                  <a:lnTo>
                    <a:pt x="72950" y="246059"/>
                  </a:lnTo>
                  <a:cubicBezTo>
                    <a:pt x="53602" y="246059"/>
                    <a:pt x="35047" y="238374"/>
                    <a:pt x="21367" y="224693"/>
                  </a:cubicBezTo>
                  <a:cubicBezTo>
                    <a:pt x="7686" y="211012"/>
                    <a:pt x="0" y="192457"/>
                    <a:pt x="0" y="173110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 anchor="b"/>
            <a:lstStyle/>
            <a:p>
              <a:endParaRPr lang="ko-KR" alt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104775"/>
              <a:ext cx="726694" cy="350834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3692"/>
                </a:lnSpc>
              </a:pPr>
              <a:r>
                <a:rPr lang="en-US" sz="21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근무상태</a:t>
              </a:r>
              <a:r>
                <a:rPr lang="en-US" sz="21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“</a:t>
              </a:r>
              <a:r>
                <a:rPr lang="en-US" sz="21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업무종료”로</a:t>
              </a:r>
              <a:r>
                <a:rPr lang="en-US" sz="21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</a:p>
            <a:p>
              <a:pPr algn="ctr">
                <a:lnSpc>
                  <a:spcPts val="3692"/>
                </a:lnSpc>
              </a:pPr>
              <a:r>
                <a:rPr lang="en-US" sz="21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변경</a:t>
              </a:r>
              <a:endParaRPr lang="en-US" sz="2184" dirty="0">
                <a:solidFill>
                  <a:srgbClr val="F1F1F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</p:txBody>
        </p:sp>
      </p:grpSp>
      <p:sp>
        <p:nvSpPr>
          <p:cNvPr id="35" name="AutoShape 35"/>
          <p:cNvSpPr/>
          <p:nvPr/>
        </p:nvSpPr>
        <p:spPr>
          <a:xfrm>
            <a:off x="10497526" y="7091077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 anchor="b"/>
          <a:lstStyle/>
          <a:p>
            <a:endParaRPr lang="ko-KR" altLang="en-US"/>
          </a:p>
        </p:txBody>
      </p:sp>
      <p:sp>
        <p:nvSpPr>
          <p:cNvPr id="36" name="AutoShape 36"/>
          <p:cNvSpPr/>
          <p:nvPr/>
        </p:nvSpPr>
        <p:spPr>
          <a:xfrm>
            <a:off x="4938044" y="5886019"/>
            <a:ext cx="2022800" cy="9803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AutoShape 37"/>
          <p:cNvSpPr/>
          <p:nvPr/>
        </p:nvSpPr>
        <p:spPr>
          <a:xfrm flipV="1">
            <a:off x="4938043" y="3306256"/>
            <a:ext cx="1828957" cy="10013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0D88693-BFD4-C5E7-6BDA-07121C69036D}"/>
              </a:ext>
            </a:extLst>
          </p:cNvPr>
          <p:cNvSpPr>
            <a:spLocks/>
          </p:cNvSpPr>
          <p:nvPr/>
        </p:nvSpPr>
        <p:spPr>
          <a:xfrm>
            <a:off x="0" y="0"/>
            <a:ext cx="1364366" cy="10287000"/>
          </a:xfrm>
          <a:prstGeom prst="rect">
            <a:avLst/>
          </a:prstGeom>
          <a:solidFill>
            <a:srgbClr val="0B6E6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b"/>
          <a:lstStyle/>
          <a:p>
            <a:pPr algn="just"/>
            <a:r>
              <a:rPr lang="en-US" altLang="ko-KR" sz="6000" dirty="0"/>
              <a:t>	</a:t>
            </a:r>
            <a:r>
              <a:rPr lang="ko-KR" altLang="en-US" sz="6000" dirty="0" smtClean="0"/>
              <a:t>관리자 콘솔</a:t>
            </a:r>
            <a:endParaRPr lang="ko-KR" altLang="en-US" sz="6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DDDF64A8-5D85-86AE-5A0C-D9B244B713C3}"/>
              </a:ext>
            </a:extLst>
          </p:cNvPr>
          <p:cNvSpPr>
            <a:spLocks/>
          </p:cNvSpPr>
          <p:nvPr/>
        </p:nvSpPr>
        <p:spPr>
          <a:xfrm>
            <a:off x="0" y="0"/>
            <a:ext cx="1364366" cy="10287000"/>
          </a:xfrm>
          <a:prstGeom prst="rect">
            <a:avLst/>
          </a:prstGeom>
          <a:solidFill>
            <a:srgbClr val="0B6E6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b"/>
          <a:lstStyle/>
          <a:p>
            <a:pPr algn="just"/>
            <a:r>
              <a:rPr lang="ko-KR" altLang="en-US" sz="6000" dirty="0"/>
              <a:t>　알림</a:t>
            </a:r>
          </a:p>
        </p:txBody>
      </p:sp>
      <p:graphicFrame>
        <p:nvGraphicFramePr>
          <p:cNvPr id="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5797597"/>
              </p:ext>
            </p:extLst>
          </p:nvPr>
        </p:nvGraphicFramePr>
        <p:xfrm>
          <a:off x="1612018" y="426661"/>
          <a:ext cx="15063964" cy="1301164"/>
        </p:xfrm>
        <a:graphic>
          <a:graphicData uri="http://schemas.openxmlformats.org/drawingml/2006/table">
            <a:tbl>
              <a:tblPr/>
              <a:tblGrid>
                <a:gridCol w="2750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1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44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974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0582"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ko-KR" altLang="en-US" sz="2084" b="1" dirty="0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단위 프로세스 </a:t>
                      </a:r>
                      <a:r>
                        <a:rPr lang="en-US" altLang="ko-KR" sz="2084" b="1" dirty="0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ID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smtClean="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UT-A09-042,</a:t>
                      </a:r>
                      <a:r>
                        <a:rPr lang="en-US" sz="2084" baseline="0" smtClean="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 043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프로세스명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알림 목록/상세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582"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작성일자</a:t>
                      </a:r>
                      <a:endParaRPr lang="en-US" sz="1100"/>
                    </a:p>
                  </a:txBody>
                  <a:tcPr marL="9525" marR="9525" marT="9525" marB="9525" anchor="ctr">
                    <a:lnL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2025.07.17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b="1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작성자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18"/>
                        </a:lnSpc>
                        <a:defRPr/>
                      </a:pPr>
                      <a:r>
                        <a:rPr lang="en-US" sz="2084" dirty="0" err="1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이채연</a:t>
                      </a: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6E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" name="Group 3"/>
          <p:cNvGrpSpPr/>
          <p:nvPr/>
        </p:nvGrpSpPr>
        <p:grpSpPr>
          <a:xfrm>
            <a:off x="1921668" y="3269112"/>
            <a:ext cx="2759293" cy="885254"/>
            <a:chOff x="0" y="0"/>
            <a:chExt cx="726694" cy="23317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04775"/>
              <a:ext cx="726694" cy="337947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알림 목록</a:t>
              </a:r>
            </a:p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화면 출력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069234" y="3288162"/>
            <a:ext cx="2758136" cy="885254"/>
            <a:chOff x="0" y="0"/>
            <a:chExt cx="726389" cy="23317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26389" cy="233172"/>
            </a:xfrm>
            <a:custGeom>
              <a:avLst/>
              <a:gdLst/>
              <a:ahLst/>
              <a:cxnLst/>
              <a:rect l="l" t="t" r="r" b="b"/>
              <a:pathLst>
                <a:path w="726389" h="233172">
                  <a:moveTo>
                    <a:pt x="726389" y="72980"/>
                  </a:moveTo>
                  <a:lnTo>
                    <a:pt x="726389" y="160192"/>
                  </a:lnTo>
                  <a:cubicBezTo>
                    <a:pt x="726389" y="200498"/>
                    <a:pt x="693715" y="233172"/>
                    <a:pt x="653409" y="233172"/>
                  </a:cubicBezTo>
                  <a:lnTo>
                    <a:pt x="72980" y="233172"/>
                  </a:lnTo>
                  <a:cubicBezTo>
                    <a:pt x="32674" y="233172"/>
                    <a:pt x="0" y="200498"/>
                    <a:pt x="0" y="160192"/>
                  </a:cubicBezTo>
                  <a:lnTo>
                    <a:pt x="0" y="72980"/>
                  </a:lnTo>
                  <a:cubicBezTo>
                    <a:pt x="0" y="32674"/>
                    <a:pt x="32674" y="0"/>
                    <a:pt x="72980" y="0"/>
                  </a:cubicBezTo>
                  <a:lnTo>
                    <a:pt x="653409" y="0"/>
                  </a:lnTo>
                  <a:cubicBezTo>
                    <a:pt x="672764" y="0"/>
                    <a:pt x="691327" y="7689"/>
                    <a:pt x="705014" y="21375"/>
                  </a:cubicBezTo>
                  <a:cubicBezTo>
                    <a:pt x="718700" y="35062"/>
                    <a:pt x="726389" y="53625"/>
                    <a:pt x="726389" y="7298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04775"/>
              <a:ext cx="726389" cy="337947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카테고리/중요도 별</a:t>
              </a:r>
            </a:p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알림 목록 출력</a:t>
              </a:r>
            </a:p>
          </p:txBody>
        </p:sp>
      </p:grpSp>
      <p:sp>
        <p:nvSpPr>
          <p:cNvPr id="9" name="AutoShape 9"/>
          <p:cNvSpPr/>
          <p:nvPr/>
        </p:nvSpPr>
        <p:spPr>
          <a:xfrm>
            <a:off x="4985762" y="3769798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AutoShape 10"/>
          <p:cNvSpPr/>
          <p:nvPr/>
        </p:nvSpPr>
        <p:spPr>
          <a:xfrm>
            <a:off x="15898703" y="4437884"/>
            <a:ext cx="0" cy="50068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1" name="Group 11"/>
          <p:cNvGrpSpPr/>
          <p:nvPr/>
        </p:nvGrpSpPr>
        <p:grpSpPr>
          <a:xfrm>
            <a:off x="14500007" y="5143498"/>
            <a:ext cx="3102190" cy="1522004"/>
            <a:chOff x="0" y="-54460"/>
            <a:chExt cx="726694" cy="33794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26694" cy="233172"/>
            </a:xfrm>
            <a:custGeom>
              <a:avLst/>
              <a:gdLst/>
              <a:ahLst/>
              <a:cxnLst/>
              <a:rect l="l" t="t" r="r" b="b"/>
              <a:pathLst>
                <a:path w="726694" h="233172">
                  <a:moveTo>
                    <a:pt x="726694" y="72950"/>
                  </a:moveTo>
                  <a:lnTo>
                    <a:pt x="726694" y="160222"/>
                  </a:lnTo>
                  <a:cubicBezTo>
                    <a:pt x="726694" y="179570"/>
                    <a:pt x="719008" y="198125"/>
                    <a:pt x="705327" y="211806"/>
                  </a:cubicBezTo>
                  <a:cubicBezTo>
                    <a:pt x="691647" y="225486"/>
                    <a:pt x="673092" y="233172"/>
                    <a:pt x="653744" y="233172"/>
                  </a:cubicBezTo>
                  <a:lnTo>
                    <a:pt x="72950" y="233172"/>
                  </a:lnTo>
                  <a:cubicBezTo>
                    <a:pt x="53602" y="233172"/>
                    <a:pt x="35047" y="225486"/>
                    <a:pt x="21367" y="211806"/>
                  </a:cubicBezTo>
                  <a:cubicBezTo>
                    <a:pt x="7686" y="198125"/>
                    <a:pt x="0" y="179570"/>
                    <a:pt x="0" y="160222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4460"/>
              <a:ext cx="726694" cy="337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3"/>
                </a:lnSpc>
              </a:pPr>
              <a:r>
                <a:rPr lang="en-US" sz="20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이동</a:t>
              </a:r>
              <a:r>
                <a:rPr lang="en-US" sz="20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0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버튼</a:t>
              </a:r>
              <a:r>
                <a:rPr lang="en-US" sz="20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0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클릭</a:t>
              </a:r>
              <a:r>
                <a:rPr lang="en-US" sz="20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시</a:t>
              </a:r>
            </a:p>
            <a:p>
              <a:pPr algn="ctr">
                <a:lnSpc>
                  <a:spcPts val="3523"/>
                </a:lnSpc>
              </a:pPr>
              <a:r>
                <a:rPr lang="en-US" sz="20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해당</a:t>
              </a:r>
              <a:r>
                <a:rPr lang="en-US" sz="20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0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관련</a:t>
              </a:r>
              <a:r>
                <a:rPr lang="en-US" sz="20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0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기능으로</a:t>
              </a:r>
              <a:r>
                <a:rPr lang="en-US" sz="2084" dirty="0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2084" dirty="0" err="1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이동</a:t>
              </a:r>
              <a:endParaRPr lang="en-US" sz="2084" dirty="0">
                <a:solidFill>
                  <a:srgbClr val="F1F1F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227473" y="3231212"/>
            <a:ext cx="2758136" cy="885254"/>
            <a:chOff x="0" y="0"/>
            <a:chExt cx="726389" cy="23317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26389" cy="233172"/>
            </a:xfrm>
            <a:custGeom>
              <a:avLst/>
              <a:gdLst/>
              <a:ahLst/>
              <a:cxnLst/>
              <a:rect l="l" t="t" r="r" b="b"/>
              <a:pathLst>
                <a:path w="726389" h="233172">
                  <a:moveTo>
                    <a:pt x="726389" y="72980"/>
                  </a:moveTo>
                  <a:lnTo>
                    <a:pt x="726389" y="160192"/>
                  </a:lnTo>
                  <a:cubicBezTo>
                    <a:pt x="726389" y="200498"/>
                    <a:pt x="693715" y="233172"/>
                    <a:pt x="653409" y="233172"/>
                  </a:cubicBezTo>
                  <a:lnTo>
                    <a:pt x="72980" y="233172"/>
                  </a:lnTo>
                  <a:cubicBezTo>
                    <a:pt x="32674" y="233172"/>
                    <a:pt x="0" y="200498"/>
                    <a:pt x="0" y="160192"/>
                  </a:cubicBezTo>
                  <a:lnTo>
                    <a:pt x="0" y="72980"/>
                  </a:lnTo>
                  <a:cubicBezTo>
                    <a:pt x="0" y="32674"/>
                    <a:pt x="32674" y="0"/>
                    <a:pt x="72980" y="0"/>
                  </a:cubicBezTo>
                  <a:lnTo>
                    <a:pt x="653409" y="0"/>
                  </a:lnTo>
                  <a:cubicBezTo>
                    <a:pt x="672764" y="0"/>
                    <a:pt x="691327" y="7689"/>
                    <a:pt x="705014" y="21375"/>
                  </a:cubicBezTo>
                  <a:cubicBezTo>
                    <a:pt x="718700" y="35062"/>
                    <a:pt x="726389" y="53625"/>
                    <a:pt x="726389" y="7298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04775"/>
              <a:ext cx="726389" cy="337947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알림 상세보기</a:t>
              </a:r>
            </a:p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버튼 클릭</a:t>
              </a:r>
            </a:p>
          </p:txBody>
        </p:sp>
      </p:grpSp>
      <p:sp>
        <p:nvSpPr>
          <p:cNvPr id="17" name="AutoShape 17"/>
          <p:cNvSpPr/>
          <p:nvPr/>
        </p:nvSpPr>
        <p:spPr>
          <a:xfrm>
            <a:off x="9144000" y="3712848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AutoShape 18"/>
          <p:cNvSpPr/>
          <p:nvPr/>
        </p:nvSpPr>
        <p:spPr>
          <a:xfrm>
            <a:off x="13415132" y="3644582"/>
            <a:ext cx="8372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9" name="Group 19"/>
          <p:cNvGrpSpPr/>
          <p:nvPr/>
        </p:nvGrpSpPr>
        <p:grpSpPr>
          <a:xfrm>
            <a:off x="14500007" y="3221915"/>
            <a:ext cx="2759293" cy="884344"/>
            <a:chOff x="0" y="0"/>
            <a:chExt cx="726694" cy="23293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26694" cy="232932"/>
            </a:xfrm>
            <a:custGeom>
              <a:avLst/>
              <a:gdLst/>
              <a:ahLst/>
              <a:cxnLst/>
              <a:rect l="l" t="t" r="r" b="b"/>
              <a:pathLst>
                <a:path w="726694" h="232932">
                  <a:moveTo>
                    <a:pt x="726694" y="72950"/>
                  </a:moveTo>
                  <a:lnTo>
                    <a:pt x="726694" y="159983"/>
                  </a:lnTo>
                  <a:cubicBezTo>
                    <a:pt x="726694" y="179330"/>
                    <a:pt x="719008" y="197885"/>
                    <a:pt x="705327" y="211566"/>
                  </a:cubicBezTo>
                  <a:cubicBezTo>
                    <a:pt x="691647" y="225247"/>
                    <a:pt x="673092" y="232932"/>
                    <a:pt x="653744" y="232932"/>
                  </a:cubicBezTo>
                  <a:lnTo>
                    <a:pt x="72950" y="232932"/>
                  </a:lnTo>
                  <a:cubicBezTo>
                    <a:pt x="32661" y="232932"/>
                    <a:pt x="0" y="200272"/>
                    <a:pt x="0" y="159983"/>
                  </a:cubicBezTo>
                  <a:lnTo>
                    <a:pt x="0" y="72950"/>
                  </a:lnTo>
                  <a:cubicBezTo>
                    <a:pt x="0" y="53602"/>
                    <a:pt x="7686" y="35047"/>
                    <a:pt x="21367" y="21367"/>
                  </a:cubicBezTo>
                  <a:cubicBezTo>
                    <a:pt x="35047" y="7686"/>
                    <a:pt x="53602" y="0"/>
                    <a:pt x="72950" y="0"/>
                  </a:cubicBezTo>
                  <a:lnTo>
                    <a:pt x="653744" y="0"/>
                  </a:lnTo>
                  <a:cubicBezTo>
                    <a:pt x="673092" y="0"/>
                    <a:pt x="691647" y="7686"/>
                    <a:pt x="705327" y="21367"/>
                  </a:cubicBezTo>
                  <a:cubicBezTo>
                    <a:pt x="719008" y="35047"/>
                    <a:pt x="726694" y="53602"/>
                    <a:pt x="726694" y="72950"/>
                  </a:cubicBezTo>
                  <a:close/>
                </a:path>
              </a:pathLst>
            </a:custGeom>
            <a:solidFill>
              <a:srgbClr val="0B6E69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104775"/>
              <a:ext cx="726694" cy="3377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23"/>
                </a:lnSpc>
              </a:pPr>
              <a:r>
                <a:rPr lang="en-US" sz="2084">
                  <a:solidFill>
                    <a:srgbClr val="F1F1F1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알림 상세사항 출력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1037</Words>
  <Application>Microsoft Office PowerPoint</Application>
  <PresentationFormat>사용자 지정</PresentationFormat>
  <Paragraphs>517</Paragraphs>
  <Slides>31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40" baseType="lpstr">
      <vt:lpstr>Calibri</vt:lpstr>
      <vt:lpstr>Gothic A1 Bold</vt:lpstr>
      <vt:lpstr>Helios Extended Bold</vt:lpstr>
      <vt:lpstr>맑은 고딕</vt:lpstr>
      <vt:lpstr>Glacial Indifference Bold</vt:lpstr>
      <vt:lpstr>Gothic A1 Ultra-Bold</vt:lpstr>
      <vt:lpstr>Glacial Indifference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진한 녹색 심플한 깔끔한 비지니스 사업 제안 프로젝트 과제 발표 프레젠테이션</dc:title>
  <dc:creator>dw-014</dc:creator>
  <cp:lastModifiedBy>dw-014</cp:lastModifiedBy>
  <cp:revision>21</cp:revision>
  <dcterms:created xsi:type="dcterms:W3CDTF">2006-08-16T00:00:00Z</dcterms:created>
  <dcterms:modified xsi:type="dcterms:W3CDTF">2025-07-23T09:15:36Z</dcterms:modified>
  <dc:identifier>DAGtUe1Qu_8</dc:identifier>
</cp:coreProperties>
</file>