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02655C-BE57-43CC-999A-6CFCB148EFB4}">
  <a:tblStyle styleId="{5F02655C-BE57-43CC-999A-6CFCB148EFB4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5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5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5AA53EC-F1A8-4E5B-B68D-3257ED8EF5E8}" styleName="Table_1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9EFF7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E9EFF7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7274F3E-29C1-41AD-B719-D87E80B50E3F}" styleName="Table_2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0F0F0"/>
          </a:solidFill>
        </a:fill>
      </a:tcStyle>
    </a:wholeTbl>
    <a:band1H>
      <a:tcTxStyle/>
      <a:tcStyle>
        <a:tcBdr/>
        <a:fill>
          <a:solidFill>
            <a:srgbClr val="E0E0E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0E0E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BDB5585-C6D8-41E9-BCA3-ED18A7C1D8B0}" styleName="Table_3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9117" y="979988"/>
            <a:ext cx="3753767" cy="145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22410" y="2414865"/>
            <a:ext cx="1947180" cy="3738586"/>
          </a:xfrm>
          <a:prstGeom prst="rect">
            <a:avLst/>
          </a:prstGeom>
          <a:noFill/>
          <a:ln>
            <a:noFill/>
          </a:ln>
          <a:effectLst>
            <a:outerShdw blurRad="203200" dist="76200" dir="5400000" algn="t" rotWithShape="0">
              <a:srgbClr val="1F3864">
                <a:alpha val="77647"/>
              </a:srgbClr>
            </a:outerShdw>
          </a:effectLst>
        </p:spPr>
      </p:pic>
      <p:pic>
        <p:nvPicPr>
          <p:cNvPr id="86" name="Google Shape;86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42599" y="0"/>
            <a:ext cx="2649401" cy="49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542600" y="497150"/>
            <a:ext cx="2649400" cy="635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965242"/>
            <a:ext cx="568171" cy="37149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9893650" y="1147050"/>
            <a:ext cx="1947300" cy="41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버전</a:t>
            </a:r>
            <a:r>
              <a:rPr lang="ko-KR" sz="16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작성일</a:t>
            </a:r>
            <a:r>
              <a:rPr lang="ko-KR" sz="16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 </a:t>
            </a:r>
            <a:endParaRPr sz="16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+mj-lt"/>
                <a:ea typeface="Pretendard Light" panose="02000403000000020004" pitchFamily="50" charset="-127"/>
                <a:cs typeface="Pretendard Light" panose="02000403000000020004" pitchFamily="50" charset="-127"/>
                <a:sym typeface="Malgun Gothic"/>
              </a:rPr>
              <a:t>11월 28일</a:t>
            </a:r>
            <a:endParaRPr sz="1600" dirty="0">
              <a:solidFill>
                <a:schemeClr val="dk1"/>
              </a:solidFill>
              <a:latin typeface="+mj-lt"/>
              <a:ea typeface="Pretendard Light" panose="02000403000000020004" pitchFamily="50" charset="-127"/>
              <a:cs typeface="Pretendard Light" panose="02000403000000020004" pitchFamily="50" charset="-127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2팀 </a:t>
            </a:r>
            <a:endParaRPr sz="1600" b="1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+mj-lt"/>
                <a:ea typeface="Pretendard Light" panose="02000403000000020004" pitchFamily="50" charset="-127"/>
                <a:cs typeface="Pretendard Light" panose="02000403000000020004" pitchFamily="50" charset="-127"/>
                <a:sym typeface="Malgun Gothic"/>
              </a:rPr>
              <a:t>아메바</a:t>
            </a:r>
            <a:endParaRPr sz="1600" dirty="0">
              <a:solidFill>
                <a:schemeClr val="dk1"/>
              </a:solidFill>
              <a:latin typeface="+mj-lt"/>
              <a:ea typeface="Pretendard Light" panose="02000403000000020004" pitchFamily="50" charset="-127"/>
              <a:cs typeface="Pretendard Light" panose="02000403000000020004" pitchFamily="50" charset="-127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b="1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작성자</a:t>
            </a:r>
            <a:endParaRPr sz="1600" b="1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 err="1">
                <a:solidFill>
                  <a:schemeClr val="dk1"/>
                </a:solidFill>
                <a:latin typeface="+mj-lt"/>
                <a:ea typeface="Pretendard Light" panose="02000403000000020004" pitchFamily="50" charset="-127"/>
                <a:cs typeface="Pretendard Light" panose="02000403000000020004" pitchFamily="50" charset="-127"/>
                <a:sym typeface="Malgun Gothic"/>
              </a:rPr>
              <a:t>박승찬,주총민</a:t>
            </a:r>
            <a:r>
              <a:rPr lang="ko-KR" sz="1600" dirty="0">
                <a:solidFill>
                  <a:schemeClr val="dk1"/>
                </a:solidFill>
                <a:latin typeface="+mj-lt"/>
                <a:ea typeface="Pretendard Light" panose="02000403000000020004" pitchFamily="50" charset="-127"/>
                <a:cs typeface="Pretendard Light" panose="02000403000000020004" pitchFamily="50" charset="-127"/>
                <a:sym typeface="Malgun Gothic"/>
              </a:rPr>
              <a:t> </a:t>
            </a:r>
            <a:endParaRPr sz="1600" dirty="0">
              <a:solidFill>
                <a:schemeClr val="dk1"/>
              </a:solidFill>
              <a:latin typeface="+mj-lt"/>
              <a:ea typeface="Pretendard Light" panose="02000403000000020004" pitchFamily="50" charset="-127"/>
              <a:cs typeface="Pretendard Light" panose="02000403000000020004" pitchFamily="50" charset="-127"/>
              <a:sym typeface="Malgun Gothic"/>
            </a:endParaRPr>
          </a:p>
        </p:txBody>
      </p:sp>
      <p:cxnSp>
        <p:nvCxnSpPr>
          <p:cNvPr id="90" name="Google Shape;90;p13"/>
          <p:cNvCxnSpPr/>
          <p:nvPr/>
        </p:nvCxnSpPr>
        <p:spPr>
          <a:xfrm>
            <a:off x="9883150" y="1543825"/>
            <a:ext cx="1975500" cy="0"/>
          </a:xfrm>
          <a:prstGeom prst="straightConnector1">
            <a:avLst/>
          </a:prstGeom>
          <a:noFill/>
          <a:ln w="9525" cap="flat" cmpd="sng">
            <a:solidFill>
              <a:srgbClr val="0888D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13"/>
          <p:cNvCxnSpPr/>
          <p:nvPr/>
        </p:nvCxnSpPr>
        <p:spPr>
          <a:xfrm>
            <a:off x="9883150" y="2487440"/>
            <a:ext cx="1975500" cy="0"/>
          </a:xfrm>
          <a:prstGeom prst="straightConnector1">
            <a:avLst/>
          </a:prstGeom>
          <a:noFill/>
          <a:ln w="9525" cap="flat" cmpd="sng">
            <a:solidFill>
              <a:srgbClr val="0888D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13"/>
          <p:cNvCxnSpPr/>
          <p:nvPr/>
        </p:nvCxnSpPr>
        <p:spPr>
          <a:xfrm>
            <a:off x="9883150" y="3458320"/>
            <a:ext cx="1975500" cy="0"/>
          </a:xfrm>
          <a:prstGeom prst="straightConnector1">
            <a:avLst/>
          </a:prstGeom>
          <a:noFill/>
          <a:ln w="9525" cap="flat" cmpd="sng">
            <a:solidFill>
              <a:srgbClr val="0888D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3"/>
          <p:cNvCxnSpPr/>
          <p:nvPr/>
        </p:nvCxnSpPr>
        <p:spPr>
          <a:xfrm>
            <a:off x="9883150" y="4428943"/>
            <a:ext cx="1975500" cy="0"/>
          </a:xfrm>
          <a:prstGeom prst="straightConnector1">
            <a:avLst/>
          </a:prstGeom>
          <a:noFill/>
          <a:ln w="9525" cap="flat" cmpd="sng">
            <a:solidFill>
              <a:srgbClr val="0888D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94" name="Google Shape;94;p13"/>
          <p:cNvGrpSpPr/>
          <p:nvPr/>
        </p:nvGrpSpPr>
        <p:grpSpPr>
          <a:xfrm rot="10800000" flipH="1">
            <a:off x="11571525" y="4167864"/>
            <a:ext cx="159591" cy="86649"/>
            <a:chOff x="1110200" y="3653600"/>
            <a:chExt cx="353625" cy="273600"/>
          </a:xfrm>
        </p:grpSpPr>
        <p:cxnSp>
          <p:nvCxnSpPr>
            <p:cNvPr id="95" name="Google Shape;95;p13"/>
            <p:cNvCxnSpPr/>
            <p:nvPr/>
          </p:nvCxnSpPr>
          <p:spPr>
            <a:xfrm>
              <a:off x="1110200" y="3662674"/>
              <a:ext cx="182700" cy="262200"/>
            </a:xfrm>
            <a:prstGeom prst="straightConnector1">
              <a:avLst/>
            </a:prstGeom>
            <a:noFill/>
            <a:ln w="6075" cap="flat" cmpd="sng">
              <a:solidFill>
                <a:srgbClr val="0888D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6" name="Google Shape;96;p13"/>
            <p:cNvCxnSpPr/>
            <p:nvPr/>
          </p:nvCxnSpPr>
          <p:spPr>
            <a:xfrm rot="10800000" flipH="1">
              <a:off x="1292825" y="3653600"/>
              <a:ext cx="171000" cy="273600"/>
            </a:xfrm>
            <a:prstGeom prst="straightConnector1">
              <a:avLst/>
            </a:prstGeom>
            <a:noFill/>
            <a:ln w="6075" cap="flat" cmpd="sng">
              <a:solidFill>
                <a:srgbClr val="0888D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97" name="Google Shape;97;p13"/>
          <p:cNvGrpSpPr/>
          <p:nvPr/>
        </p:nvGrpSpPr>
        <p:grpSpPr>
          <a:xfrm rot="10800000" flipH="1">
            <a:off x="11579145" y="3207744"/>
            <a:ext cx="159591" cy="86649"/>
            <a:chOff x="1110200" y="3653600"/>
            <a:chExt cx="353625" cy="273600"/>
          </a:xfrm>
        </p:grpSpPr>
        <p:cxnSp>
          <p:nvCxnSpPr>
            <p:cNvPr id="98" name="Google Shape;98;p13"/>
            <p:cNvCxnSpPr/>
            <p:nvPr/>
          </p:nvCxnSpPr>
          <p:spPr>
            <a:xfrm>
              <a:off x="1110200" y="3662674"/>
              <a:ext cx="182700" cy="262200"/>
            </a:xfrm>
            <a:prstGeom prst="straightConnector1">
              <a:avLst/>
            </a:prstGeom>
            <a:noFill/>
            <a:ln w="6075" cap="flat" cmpd="sng">
              <a:solidFill>
                <a:srgbClr val="0888D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13"/>
            <p:cNvCxnSpPr/>
            <p:nvPr/>
          </p:nvCxnSpPr>
          <p:spPr>
            <a:xfrm rot="10800000" flipH="1">
              <a:off x="1292825" y="3653600"/>
              <a:ext cx="171000" cy="273600"/>
            </a:xfrm>
            <a:prstGeom prst="straightConnector1">
              <a:avLst/>
            </a:prstGeom>
            <a:noFill/>
            <a:ln w="6075" cap="flat" cmpd="sng">
              <a:solidFill>
                <a:srgbClr val="0888D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0" name="Google Shape;100;p13"/>
          <p:cNvGrpSpPr/>
          <p:nvPr/>
        </p:nvGrpSpPr>
        <p:grpSpPr>
          <a:xfrm rot="10800000" flipH="1">
            <a:off x="11579145" y="2270484"/>
            <a:ext cx="159591" cy="86649"/>
            <a:chOff x="1110200" y="3653600"/>
            <a:chExt cx="353625" cy="273600"/>
          </a:xfrm>
        </p:grpSpPr>
        <p:cxnSp>
          <p:nvCxnSpPr>
            <p:cNvPr id="101" name="Google Shape;101;p13"/>
            <p:cNvCxnSpPr/>
            <p:nvPr/>
          </p:nvCxnSpPr>
          <p:spPr>
            <a:xfrm>
              <a:off x="1110200" y="3662674"/>
              <a:ext cx="182700" cy="262200"/>
            </a:xfrm>
            <a:prstGeom prst="straightConnector1">
              <a:avLst/>
            </a:prstGeom>
            <a:noFill/>
            <a:ln w="6075" cap="flat" cmpd="sng">
              <a:solidFill>
                <a:srgbClr val="0888D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13"/>
            <p:cNvCxnSpPr/>
            <p:nvPr/>
          </p:nvCxnSpPr>
          <p:spPr>
            <a:xfrm rot="10800000" flipH="1">
              <a:off x="1292825" y="3653600"/>
              <a:ext cx="171000" cy="273600"/>
            </a:xfrm>
            <a:prstGeom prst="straightConnector1">
              <a:avLst/>
            </a:prstGeom>
            <a:noFill/>
            <a:ln w="6075" cap="flat" cmpd="sng">
              <a:solidFill>
                <a:srgbClr val="0888D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03" name="Google Shape;103;p13"/>
          <p:cNvGrpSpPr/>
          <p:nvPr/>
        </p:nvGrpSpPr>
        <p:grpSpPr>
          <a:xfrm rot="10800000" flipH="1">
            <a:off x="11579145" y="1325604"/>
            <a:ext cx="159591" cy="86649"/>
            <a:chOff x="1110200" y="3653600"/>
            <a:chExt cx="353625" cy="273600"/>
          </a:xfrm>
        </p:grpSpPr>
        <p:cxnSp>
          <p:nvCxnSpPr>
            <p:cNvPr id="104" name="Google Shape;104;p13"/>
            <p:cNvCxnSpPr/>
            <p:nvPr/>
          </p:nvCxnSpPr>
          <p:spPr>
            <a:xfrm>
              <a:off x="1110200" y="3662674"/>
              <a:ext cx="182700" cy="262200"/>
            </a:xfrm>
            <a:prstGeom prst="straightConnector1">
              <a:avLst/>
            </a:prstGeom>
            <a:noFill/>
            <a:ln w="6075" cap="flat" cmpd="sng">
              <a:solidFill>
                <a:srgbClr val="0888D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5" name="Google Shape;105;p13"/>
            <p:cNvCxnSpPr/>
            <p:nvPr/>
          </p:nvCxnSpPr>
          <p:spPr>
            <a:xfrm rot="10800000" flipH="1">
              <a:off x="1292825" y="3653600"/>
              <a:ext cx="171000" cy="273600"/>
            </a:xfrm>
            <a:prstGeom prst="straightConnector1">
              <a:avLst/>
            </a:prstGeom>
            <a:noFill/>
            <a:ln w="6075" cap="flat" cmpd="sng">
              <a:solidFill>
                <a:srgbClr val="0888D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06" name="Google Shape;106;p13" title="serch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680825" y="558657"/>
            <a:ext cx="2372950" cy="3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3"/>
          <p:cNvSpPr txBox="1"/>
          <p:nvPr/>
        </p:nvSpPr>
        <p:spPr>
          <a:xfrm>
            <a:off x="9680830" y="558650"/>
            <a:ext cx="216012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sym typeface="Arial"/>
              </a:rPr>
              <a:t>건물 </a:t>
            </a:r>
            <a:r>
              <a:rPr lang="ko-KR" sz="1800" b="0" i="0" u="none" strike="noStrike" cap="none" dirty="0" smtClean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sym typeface="Arial"/>
              </a:rPr>
              <a:t>관리프로그램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9117" y="979988"/>
            <a:ext cx="3753767" cy="1452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22410" y="2414865"/>
            <a:ext cx="1947180" cy="3738586"/>
          </a:xfrm>
          <a:prstGeom prst="rect">
            <a:avLst/>
          </a:prstGeom>
          <a:noFill/>
          <a:ln>
            <a:noFill/>
          </a:ln>
          <a:effectLst>
            <a:outerShdw blurRad="203200" dist="76200" dir="5400000" algn="t" rotWithShape="0">
              <a:srgbClr val="1F3864">
                <a:alpha val="77650"/>
              </a:srgbClr>
            </a:outerShdw>
          </a:effectLst>
        </p:spPr>
      </p:pic>
      <p:pic>
        <p:nvPicPr>
          <p:cNvPr id="114" name="Google Shape;114;p1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42599" y="0"/>
            <a:ext cx="2649401" cy="49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75543" y="965242"/>
            <a:ext cx="568171" cy="371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title="menu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3" y="0"/>
            <a:ext cx="2679807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>
            <a:spLocks noGrp="1"/>
          </p:cNvSpPr>
          <p:nvPr>
            <p:ph type="body" idx="1"/>
          </p:nvPr>
        </p:nvSpPr>
        <p:spPr>
          <a:xfrm>
            <a:off x="950" y="989209"/>
            <a:ext cx="2769900" cy="41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 dirty="0" err="1">
                <a:latin typeface="Pyeojin Gothic" panose="02000803000000020004" pitchFamily="2" charset="-127"/>
                <a:ea typeface="Pyeojin Gothic" panose="02000803000000020004" pitchFamily="2" charset="-127"/>
              </a:rPr>
              <a:t>히스토리</a:t>
            </a:r>
            <a:endParaRPr sz="1800" b="1" dirty="0">
              <a:latin typeface="Pyeojin Gothic" panose="02000803000000020004" pitchFamily="2" charset="-127"/>
              <a:ea typeface="Pyeojin Gothic" panose="02000803000000020004" pitchFamily="2" charset="-127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latin typeface="Pyeojin Gothic" panose="02000803000000020004" pitchFamily="2" charset="-127"/>
              <a:ea typeface="Pyeojin Gothic" panose="02000803000000020004" pitchFamily="2" charset="-127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 b="1" dirty="0" err="1">
                <a:latin typeface="Pyeojin Gothic" panose="02000803000000020004" pitchFamily="2" charset="-127"/>
                <a:ea typeface="Pyeojin Gothic" panose="02000803000000020004" pitchFamily="2" charset="-127"/>
              </a:rPr>
              <a:t>메뉴구조</a:t>
            </a:r>
            <a:r>
              <a:rPr lang="ko-KR" sz="1800" b="1" dirty="0">
                <a:latin typeface="Pyeojin Gothic" panose="02000803000000020004" pitchFamily="2" charset="-127"/>
                <a:ea typeface="Pyeojin Gothic" panose="02000803000000020004" pitchFamily="2" charset="-127"/>
              </a:rPr>
              <a:t>(</a:t>
            </a:r>
            <a:r>
              <a:rPr lang="ko-KR" sz="1800" b="1" dirty="0" err="1">
                <a:latin typeface="Pyeojin Gothic" panose="02000803000000020004" pitchFamily="2" charset="-127"/>
                <a:ea typeface="Pyeojin Gothic" panose="02000803000000020004" pitchFamily="2" charset="-127"/>
              </a:rPr>
              <a:t>사이트맵</a:t>
            </a:r>
            <a:r>
              <a:rPr lang="ko-KR" sz="1800" b="1" dirty="0">
                <a:latin typeface="Pyeojin Gothic" panose="02000803000000020004" pitchFamily="2" charset="-127"/>
                <a:ea typeface="Pyeojin Gothic" panose="02000803000000020004" pitchFamily="2" charset="-127"/>
              </a:rPr>
              <a:t>)</a:t>
            </a:r>
            <a:endParaRPr sz="1800" b="1" dirty="0">
              <a:latin typeface="Pyeojin Gothic" panose="02000803000000020004" pitchFamily="2" charset="-127"/>
              <a:ea typeface="Pyeojin Gothic" panose="02000803000000020004" pitchFamily="2" charset="-127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b="1" dirty="0">
              <a:latin typeface="Pyeojin Gothic" panose="02000803000000020004" pitchFamily="2" charset="-127"/>
              <a:ea typeface="Pyeojin Gothic" panose="02000803000000020004" pitchFamily="2" charset="-127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 b="1" dirty="0">
                <a:latin typeface="Pyeojin Gothic" panose="02000803000000020004" pitchFamily="2" charset="-127"/>
                <a:ea typeface="Pyeojin Gothic" panose="02000803000000020004" pitchFamily="2" charset="-127"/>
              </a:rPr>
              <a:t>설계</a:t>
            </a:r>
            <a:endParaRPr sz="1800" b="1" dirty="0">
              <a:latin typeface="Pyeojin Gothic" panose="02000803000000020004" pitchFamily="2" charset="-127"/>
              <a:ea typeface="Pyeojin Gothic" panose="02000803000000020004" pitchFamily="2" charset="-127"/>
            </a:endParaRPr>
          </a:p>
          <a:p>
            <a:pPr marL="6858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ko-KR" sz="1600" dirty="0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아키텍처</a:t>
            </a:r>
            <a:endParaRPr sz="1600" dirty="0"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6858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ko-KR" sz="1600" dirty="0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UI/</a:t>
            </a:r>
            <a:r>
              <a:rPr lang="ko-KR" sz="1600" dirty="0" err="1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UX설계</a:t>
            </a:r>
            <a:endParaRPr sz="1600" dirty="0"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6858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ko-KR" sz="1600" dirty="0" err="1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Flow-Chart</a:t>
            </a:r>
            <a:endParaRPr sz="1600" dirty="0"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6858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ko-KR" sz="1600" dirty="0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정책</a:t>
            </a:r>
            <a:endParaRPr sz="1600" dirty="0"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6858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ko-KR" sz="1600" dirty="0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권한</a:t>
            </a:r>
            <a:endParaRPr sz="1600" dirty="0"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6858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ko-KR" sz="1600" dirty="0" err="1"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</a:rPr>
              <a:t>유효성검사</a:t>
            </a:r>
            <a:endParaRPr sz="1600" dirty="0"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ko-KR" sz="1800" b="1" dirty="0">
                <a:latin typeface="Pyeojin Gothic" panose="02000803000000020004" pitchFamily="2" charset="-127"/>
                <a:ea typeface="Pyeojin Gothic" panose="02000803000000020004" pitchFamily="2" charset="-127"/>
              </a:rPr>
              <a:t>마무리</a:t>
            </a:r>
            <a:endParaRPr sz="1800" b="1" dirty="0">
              <a:latin typeface="Pyeojin Gothic" panose="02000803000000020004" pitchFamily="2" charset="-127"/>
              <a:ea typeface="Pyeojin Gothic" panose="02000803000000020004" pitchFamily="2" charset="-127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 dirty="0"/>
          </a:p>
        </p:txBody>
      </p:sp>
      <p:cxnSp>
        <p:nvCxnSpPr>
          <p:cNvPr id="118" name="Google Shape;118;p14"/>
          <p:cNvCxnSpPr/>
          <p:nvPr/>
        </p:nvCxnSpPr>
        <p:spPr>
          <a:xfrm>
            <a:off x="349607" y="2642191"/>
            <a:ext cx="1975500" cy="0"/>
          </a:xfrm>
          <a:prstGeom prst="straightConnector1">
            <a:avLst/>
          </a:prstGeom>
          <a:noFill/>
          <a:ln w="9525" cap="flat" cmpd="sng">
            <a:solidFill>
              <a:srgbClr val="0888D4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19" name="Google Shape;119;p14"/>
          <p:cNvGrpSpPr/>
          <p:nvPr/>
        </p:nvGrpSpPr>
        <p:grpSpPr>
          <a:xfrm rot="10800000" flipH="1">
            <a:off x="2045601" y="2423971"/>
            <a:ext cx="159591" cy="86649"/>
            <a:chOff x="1110200" y="3653600"/>
            <a:chExt cx="353625" cy="273600"/>
          </a:xfrm>
        </p:grpSpPr>
        <p:cxnSp>
          <p:nvCxnSpPr>
            <p:cNvPr id="120" name="Google Shape;120;p14"/>
            <p:cNvCxnSpPr/>
            <p:nvPr/>
          </p:nvCxnSpPr>
          <p:spPr>
            <a:xfrm>
              <a:off x="1110200" y="3662674"/>
              <a:ext cx="182700" cy="262200"/>
            </a:xfrm>
            <a:prstGeom prst="straightConnector1">
              <a:avLst/>
            </a:prstGeom>
            <a:noFill/>
            <a:ln w="6075" cap="flat" cmpd="sng">
              <a:solidFill>
                <a:srgbClr val="0888D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14"/>
            <p:cNvCxnSpPr/>
            <p:nvPr/>
          </p:nvCxnSpPr>
          <p:spPr>
            <a:xfrm rot="10800000" flipH="1">
              <a:off x="1292825" y="3653600"/>
              <a:ext cx="171000" cy="273600"/>
            </a:xfrm>
            <a:prstGeom prst="straightConnector1">
              <a:avLst/>
            </a:prstGeom>
            <a:noFill/>
            <a:ln w="6075" cap="flat" cmpd="sng">
              <a:solidFill>
                <a:srgbClr val="0888D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122" name="Google Shape;122;p14"/>
          <p:cNvCxnSpPr/>
          <p:nvPr/>
        </p:nvCxnSpPr>
        <p:spPr>
          <a:xfrm>
            <a:off x="349607" y="4736575"/>
            <a:ext cx="1975500" cy="0"/>
          </a:xfrm>
          <a:prstGeom prst="straightConnector1">
            <a:avLst/>
          </a:prstGeom>
          <a:noFill/>
          <a:ln w="9525" cap="flat" cmpd="sng">
            <a:solidFill>
              <a:srgbClr val="0888D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4"/>
          <p:cNvCxnSpPr/>
          <p:nvPr/>
        </p:nvCxnSpPr>
        <p:spPr>
          <a:xfrm>
            <a:off x="352157" y="1894764"/>
            <a:ext cx="1975500" cy="0"/>
          </a:xfrm>
          <a:prstGeom prst="straightConnector1">
            <a:avLst/>
          </a:prstGeom>
          <a:noFill/>
          <a:ln w="9525" cap="flat" cmpd="sng">
            <a:solidFill>
              <a:srgbClr val="0888D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4"/>
          <p:cNvCxnSpPr/>
          <p:nvPr/>
        </p:nvCxnSpPr>
        <p:spPr>
          <a:xfrm>
            <a:off x="352157" y="1278341"/>
            <a:ext cx="1975500" cy="0"/>
          </a:xfrm>
          <a:prstGeom prst="straightConnector1">
            <a:avLst/>
          </a:prstGeom>
          <a:noFill/>
          <a:ln w="9525" cap="flat" cmpd="sng">
            <a:solidFill>
              <a:srgbClr val="0888D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>
            <a:spLocks noGrp="1"/>
          </p:cNvSpPr>
          <p:nvPr>
            <p:ph type="title"/>
          </p:nvPr>
        </p:nvSpPr>
        <p:spPr>
          <a:xfrm>
            <a:off x="838200" y="349748"/>
            <a:ext cx="105156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sz="3200" dirty="0" err="1">
                <a:latin typeface="Pyeojin Gothic" panose="02000803000000020004" pitchFamily="2" charset="-127"/>
                <a:ea typeface="Pyeojin Gothic" panose="02000803000000020004" pitchFamily="2" charset="-127"/>
              </a:rPr>
              <a:t>히스토리</a:t>
            </a:r>
            <a:endParaRPr sz="3200" dirty="0">
              <a:latin typeface="Pyeojin Gothic" panose="02000803000000020004" pitchFamily="2" charset="-127"/>
              <a:ea typeface="Pyeojin Gothic" panose="02000803000000020004" pitchFamily="2" charset="-127"/>
            </a:endParaRPr>
          </a:p>
        </p:txBody>
      </p:sp>
      <p:graphicFrame>
        <p:nvGraphicFramePr>
          <p:cNvPr id="130" name="Google Shape;130;p15"/>
          <p:cNvGraphicFramePr/>
          <p:nvPr>
            <p:extLst>
              <p:ext uri="{D42A27DB-BD31-4B8C-83A1-F6EECF244321}">
                <p14:modId xmlns:p14="http://schemas.microsoft.com/office/powerpoint/2010/main" val="3915054554"/>
              </p:ext>
            </p:extLst>
          </p:nvPr>
        </p:nvGraphicFramePr>
        <p:xfrm>
          <a:off x="381000" y="1189632"/>
          <a:ext cx="11331400" cy="5072725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36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6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version</a:t>
                      </a:r>
                      <a:endParaRPr sz="1800" u="none" strike="noStrike" cap="none"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88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작성자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88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내용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88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날짜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888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1.0</a:t>
                      </a:r>
                      <a:endParaRPr sz="18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err="1" smtClean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박승찬</a:t>
                      </a:r>
                      <a:r>
                        <a:rPr lang="en-US" altLang="ko-KR" sz="1800" u="none" strike="noStrike" cap="none" dirty="0" smtClean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, </a:t>
                      </a:r>
                      <a:r>
                        <a:rPr lang="ko-KR" altLang="en-US" sz="1800" u="none" strike="noStrike" cap="none" dirty="0" err="1" smtClean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주총민</a:t>
                      </a:r>
                      <a:endParaRPr sz="18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 smtClean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최초 작성</a:t>
                      </a:r>
                      <a:endParaRPr sz="18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11월 28일</a:t>
                      </a:r>
                      <a:endParaRPr sz="18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Malgun Gothic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6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31" name="Google Shape;131;p15" title="logo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0" y="349752"/>
            <a:ext cx="457200" cy="492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6"/>
          <p:cNvSpPr/>
          <p:nvPr/>
        </p:nvSpPr>
        <p:spPr>
          <a:xfrm>
            <a:off x="1226822" y="1102267"/>
            <a:ext cx="872700" cy="989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세입자</a:t>
            </a:r>
            <a:endParaRPr sz="18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1226825" y="2248059"/>
            <a:ext cx="872700" cy="13014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건물</a:t>
            </a:r>
            <a:endParaRPr sz="18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관리자</a:t>
            </a:r>
            <a:endParaRPr sz="18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1226825" y="3701375"/>
            <a:ext cx="872700" cy="1288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smtClean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사이트관리자</a:t>
            </a:r>
            <a:endParaRPr sz="18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3086100" y="2155808"/>
            <a:ext cx="1098600" cy="14772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+mj-lt"/>
              <a:ea typeface="Malgun Gothic"/>
              <a:cs typeface="Malgun Gothic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smtClean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브라우저</a:t>
            </a:r>
            <a:endParaRPr sz="18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4962003" y="2241103"/>
            <a:ext cx="2349600" cy="1288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055677" y="2273979"/>
            <a:ext cx="21624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react</a:t>
            </a:r>
            <a:r>
              <a:rPr lang="ko-KR" sz="18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router</a:t>
            </a:r>
            <a:r>
              <a:rPr lang="ko-KR" sz="18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dom</a:t>
            </a:r>
            <a:endParaRPr sz="18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Tailwindcss</a:t>
            </a:r>
            <a:r>
              <a:rPr lang="ko-KR" sz="18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/>
            </a:r>
            <a:br>
              <a:rPr lang="ko-KR" sz="18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</a:br>
            <a:r>
              <a:rPr lang="ko-KR" sz="1800" dirty="0" err="1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Chartjs</a:t>
            </a:r>
            <a:r>
              <a:rPr lang="ko-KR" sz="18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/>
            </a:r>
            <a:br>
              <a:rPr lang="ko-KR" sz="18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</a:br>
            <a:r>
              <a:rPr lang="ko-KR" sz="1800" dirty="0" err="1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firebasejs</a:t>
            </a:r>
            <a:endParaRPr sz="18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5520837" y="1933525"/>
            <a:ext cx="1222490" cy="307500"/>
          </a:xfrm>
          <a:prstGeom prst="rect">
            <a:avLst/>
          </a:prstGeom>
          <a:solidFill>
            <a:srgbClr val="0888D4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lt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Pretendard Medium" panose="02000603000000020004" pitchFamily="50" charset="-127"/>
                <a:sym typeface="Malgun Gothic"/>
              </a:rPr>
              <a:t>React</a:t>
            </a:r>
            <a:endParaRPr sz="1800" dirty="0">
              <a:solidFill>
                <a:schemeClr val="lt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Pretendard Medium" panose="02000603000000020004" pitchFamily="50" charset="-127"/>
              <a:sym typeface="Malgun Gothic"/>
            </a:endParaRPr>
          </a:p>
        </p:txBody>
      </p:sp>
      <p:cxnSp>
        <p:nvCxnSpPr>
          <p:cNvPr id="143" name="Google Shape;143;p16"/>
          <p:cNvCxnSpPr>
            <a:stCxn id="140" idx="3"/>
            <a:endCxn id="144" idx="1"/>
          </p:cNvCxnSpPr>
          <p:nvPr/>
        </p:nvCxnSpPr>
        <p:spPr>
          <a:xfrm>
            <a:off x="7311603" y="2885353"/>
            <a:ext cx="1388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5" name="Google Shape;145;p16"/>
          <p:cNvSpPr txBox="1"/>
          <p:nvPr/>
        </p:nvSpPr>
        <p:spPr>
          <a:xfrm>
            <a:off x="7718102" y="2487397"/>
            <a:ext cx="66096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json</a:t>
            </a:r>
            <a:endParaRPr sz="18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866218" y="1908593"/>
            <a:ext cx="1853700" cy="336600"/>
          </a:xfrm>
          <a:prstGeom prst="rect">
            <a:avLst/>
          </a:prstGeom>
          <a:solidFill>
            <a:srgbClr val="0888D4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>
                <a:solidFill>
                  <a:schemeClr val="lt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Pretendard Medium" panose="02000603000000020004" pitchFamily="50" charset="-127"/>
                <a:sym typeface="Malgun Gothic"/>
              </a:rPr>
              <a:t>Node.js</a:t>
            </a:r>
            <a:endParaRPr sz="1800" dirty="0">
              <a:solidFill>
                <a:schemeClr val="lt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Pretendard Medium" panose="02000603000000020004" pitchFamily="50" charset="-127"/>
              <a:sym typeface="Malgun Gothic"/>
            </a:endParaRPr>
          </a:p>
        </p:txBody>
      </p:sp>
      <p:cxnSp>
        <p:nvCxnSpPr>
          <p:cNvPr id="147" name="Google Shape;147;p16"/>
          <p:cNvCxnSpPr>
            <a:stCxn id="144" idx="2"/>
            <a:endCxn id="148" idx="0"/>
          </p:cNvCxnSpPr>
          <p:nvPr/>
        </p:nvCxnSpPr>
        <p:spPr>
          <a:xfrm>
            <a:off x="9797213" y="3529603"/>
            <a:ext cx="12900" cy="538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8" name="Google Shape;148;p16"/>
          <p:cNvSpPr/>
          <p:nvPr/>
        </p:nvSpPr>
        <p:spPr>
          <a:xfrm>
            <a:off x="8900425" y="4068525"/>
            <a:ext cx="1819500" cy="310200"/>
          </a:xfrm>
          <a:prstGeom prst="rect">
            <a:avLst/>
          </a:prstGeom>
          <a:solidFill>
            <a:srgbClr val="0888D4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lt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Pretendard Medium" panose="02000603000000020004" pitchFamily="50" charset="-127"/>
                <a:sym typeface="Malgun Gothic"/>
              </a:rPr>
              <a:t>firebase</a:t>
            </a:r>
            <a:endParaRPr sz="1800" dirty="0">
              <a:solidFill>
                <a:schemeClr val="lt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8699963" y="2241103"/>
            <a:ext cx="2194500" cy="1288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9058838" y="2700707"/>
            <a:ext cx="14896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firebaseSDK</a:t>
            </a:r>
            <a:endParaRPr sz="18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8699964" y="4374703"/>
            <a:ext cx="2194500" cy="15423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8845433" y="4406570"/>
            <a:ext cx="19326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Arial"/>
              </a:rPr>
              <a:t>Authentication, Firestore, Realtime Database, Hosting</a:t>
            </a:r>
            <a:endParaRPr sz="18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5167732" y="4732153"/>
            <a:ext cx="1928700" cy="800100"/>
          </a:xfrm>
          <a:prstGeom prst="rect">
            <a:avLst/>
          </a:prstGeom>
          <a:solidFill>
            <a:srgbClr val="0888D4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Pretendard Medium" panose="02000603000000020004" pitchFamily="50" charset="-127"/>
                <a:sym typeface="Malgun Gothic"/>
              </a:rPr>
              <a:t>더미데이터 생성</a:t>
            </a:r>
            <a:endParaRPr sz="1800">
              <a:solidFill>
                <a:schemeClr val="lt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Pretendard Medium" panose="02000603000000020004" pitchFamily="50" charset="-127"/>
              <a:sym typeface="Malgun Gothic"/>
            </a:endParaRPr>
          </a:p>
        </p:txBody>
      </p:sp>
      <p:cxnSp>
        <p:nvCxnSpPr>
          <p:cNvPr id="153" name="Google Shape;153;p16"/>
          <p:cNvCxnSpPr/>
          <p:nvPr/>
        </p:nvCxnSpPr>
        <p:spPr>
          <a:xfrm rot="10800000" flipH="1">
            <a:off x="7096282" y="5142537"/>
            <a:ext cx="1598700" cy="27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4" name="Google Shape;154;p16"/>
          <p:cNvSpPr txBox="1"/>
          <p:nvPr/>
        </p:nvSpPr>
        <p:spPr>
          <a:xfrm>
            <a:off x="7565228" y="4728887"/>
            <a:ext cx="66095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dirty="0" err="1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json</a:t>
            </a:r>
            <a:endParaRPr sz="18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cxnSp>
        <p:nvCxnSpPr>
          <p:cNvPr id="155" name="Google Shape;155;p16"/>
          <p:cNvCxnSpPr>
            <a:stCxn id="136" idx="3"/>
            <a:endCxn id="139" idx="1"/>
          </p:cNvCxnSpPr>
          <p:nvPr/>
        </p:nvCxnSpPr>
        <p:spPr>
          <a:xfrm>
            <a:off x="2099522" y="1596817"/>
            <a:ext cx="986700" cy="1297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6" name="Google Shape;156;p16"/>
          <p:cNvCxnSpPr>
            <a:stCxn id="137" idx="3"/>
            <a:endCxn id="139" idx="1"/>
          </p:cNvCxnSpPr>
          <p:nvPr/>
        </p:nvCxnSpPr>
        <p:spPr>
          <a:xfrm rot="10800000" flipH="1">
            <a:off x="2099525" y="2894259"/>
            <a:ext cx="986700" cy="45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7" name="Google Shape;157;p16"/>
          <p:cNvCxnSpPr>
            <a:stCxn id="138" idx="3"/>
            <a:endCxn id="139" idx="1"/>
          </p:cNvCxnSpPr>
          <p:nvPr/>
        </p:nvCxnSpPr>
        <p:spPr>
          <a:xfrm rot="10800000" flipH="1">
            <a:off x="2099525" y="2894525"/>
            <a:ext cx="986700" cy="1451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8" name="Google Shape;158;p16"/>
          <p:cNvCxnSpPr>
            <a:stCxn id="139" idx="3"/>
            <a:endCxn id="140" idx="1"/>
          </p:cNvCxnSpPr>
          <p:nvPr/>
        </p:nvCxnSpPr>
        <p:spPr>
          <a:xfrm rot="10800000" flipH="1">
            <a:off x="4184700" y="2885408"/>
            <a:ext cx="777300" cy="9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9" name="Google Shape;159;p16"/>
          <p:cNvSpPr txBox="1">
            <a:spLocks noGrp="1"/>
          </p:cNvSpPr>
          <p:nvPr>
            <p:ph type="title"/>
          </p:nvPr>
        </p:nvSpPr>
        <p:spPr>
          <a:xfrm>
            <a:off x="838200" y="349748"/>
            <a:ext cx="10515600" cy="6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sz="3200" dirty="0">
                <a:latin typeface="Pyeojin Gothic" panose="02000803000000020004" pitchFamily="2" charset="-127"/>
                <a:ea typeface="Pyeojin Gothic" panose="02000803000000020004" pitchFamily="2" charset="-127"/>
              </a:rPr>
              <a:t>설계 - 아키텍처  </a:t>
            </a:r>
            <a:endParaRPr sz="3200" dirty="0">
              <a:latin typeface="Pyeojin Gothic" panose="02000803000000020004" pitchFamily="2" charset="-127"/>
              <a:ea typeface="Pyeojin Gothic" panose="02000803000000020004" pitchFamily="2" charset="-127"/>
            </a:endParaRPr>
          </a:p>
        </p:txBody>
      </p:sp>
      <p:pic>
        <p:nvPicPr>
          <p:cNvPr id="160" name="Google Shape;160;p16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000" y="349752"/>
            <a:ext cx="457200" cy="492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71796" y="2227085"/>
            <a:ext cx="430129" cy="440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666814" y="2211187"/>
            <a:ext cx="447381" cy="466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46064" y="2726831"/>
            <a:ext cx="462910" cy="46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156623" y="2734162"/>
            <a:ext cx="460478" cy="45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88173" y="1163773"/>
            <a:ext cx="550004" cy="5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88173" y="2309559"/>
            <a:ext cx="550004" cy="5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88173" y="3762876"/>
            <a:ext cx="550004" cy="5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6" title="firebase_icon-logo_brandlogos.net_tcvck-512x646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161250" y="4114800"/>
            <a:ext cx="172500" cy="21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6" title="pngwing.co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24950" y="1978450"/>
            <a:ext cx="217651" cy="21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6" title="pngwing.com (1)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415025" y="1670866"/>
            <a:ext cx="777302" cy="210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/>
          <p:nvPr/>
        </p:nvSpPr>
        <p:spPr>
          <a:xfrm>
            <a:off x="364067" y="-143134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rPr lang="ko-KR" sz="14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 – 화면 목록 - 1</a:t>
            </a:r>
            <a:endParaRPr sz="14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graphicFrame>
        <p:nvGraphicFramePr>
          <p:cNvPr id="176" name="Google Shape;176;p17"/>
          <p:cNvGraphicFramePr/>
          <p:nvPr>
            <p:extLst>
              <p:ext uri="{D42A27DB-BD31-4B8C-83A1-F6EECF244321}">
                <p14:modId xmlns:p14="http://schemas.microsoft.com/office/powerpoint/2010/main" val="25037829"/>
              </p:ext>
            </p:extLst>
          </p:nvPr>
        </p:nvGraphicFramePr>
        <p:xfrm>
          <a:off x="154151" y="214582"/>
          <a:ext cx="11628375" cy="3599345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94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8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대메뉴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중메뉴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화면ID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페이지제목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설명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비고</a:t>
                      </a:r>
                      <a:endParaRPr sz="1100" u="none" strike="noStrike" cap="none" dirty="0">
                        <a:solidFill>
                          <a:schemeClr val="lt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200">
                <a:tc row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Login</a:t>
                      </a:r>
                      <a:endParaRPr sz="11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Login</a:t>
                      </a:r>
                      <a:endParaRPr sz="11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ABCD-L-001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Login</a:t>
                      </a: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endParaRPr sz="11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로그인과 회원가입신청기능이 있는 </a:t>
                      </a: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시작페이지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ABCD-L-002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Login Error 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로그인과정에 있어 오류 발생 시 다시 시도하라는 알림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Join</a:t>
                      </a:r>
                      <a:endParaRPr sz="11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ABCD-L-003</a:t>
                      </a:r>
                      <a:endParaRPr sz="11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join</a:t>
                      </a:r>
                      <a:endParaRPr sz="11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회원가입신청을 클릭 시 뜨는 회원가입 요청 </a:t>
                      </a: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팝업창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ABCD-L-004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JoinError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회원가입 과정에서 오류 발생 시 다시 시도하라는 알림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200"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Main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Menu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ABCD-M-001</a:t>
                      </a:r>
                      <a:endParaRPr sz="11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Menu</a:t>
                      </a:r>
                      <a:endParaRPr sz="11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주요 페이지들 간편한 </a:t>
                      </a: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이동기능을</a:t>
                      </a: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가지는 사이드 메뉴(어디서든)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TopMenu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ABCD-M-002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TopMenu</a:t>
                      </a:r>
                      <a:endParaRPr sz="11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주요 페이지인 데이터 목록 페이지 </a:t>
                      </a: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이동기능을</a:t>
                      </a: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가진 상단 메뉴  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6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Building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ABCD-M-003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Building</a:t>
                      </a:r>
                      <a:endParaRPr sz="11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등록한 층 수의 현황을 아이콘으로 간단표시하고 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클릭 시  </a:t>
                      </a: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Floors</a:t>
                      </a: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(건물 층수 분할) 페이지로 넘어감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6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Park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ABCD-M-004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Park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등록한 층 수의 남은 주차 공간 수를 표시하고 이를 클릭 시 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ParkingStatus주차현황페이지로</a:t>
                      </a: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넘어감 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ABCD-M-005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ParkingStatus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주차타워 층별 잔여 자리 수를 보여주는 페이지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UserMain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ABCD-M-006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UserMain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유저가 이용할 페이지.. 관리자에게 요구사항 작성과 </a:t>
                      </a:r>
                      <a:r>
                        <a:rPr lang="ko-KR" sz="11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요구내역</a:t>
                      </a: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확인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ABCD-M-007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UserRequests</a:t>
                      </a:r>
                      <a:endParaRPr sz="11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유저의 요구사항 내역</a:t>
                      </a:r>
                      <a:endParaRPr sz="11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177" name="Google Shape;177;p17"/>
          <p:cNvGraphicFramePr/>
          <p:nvPr>
            <p:extLst>
              <p:ext uri="{D42A27DB-BD31-4B8C-83A1-F6EECF244321}">
                <p14:modId xmlns:p14="http://schemas.microsoft.com/office/powerpoint/2010/main" val="2577795401"/>
              </p:ext>
            </p:extLst>
          </p:nvPr>
        </p:nvGraphicFramePr>
        <p:xfrm>
          <a:off x="154152" y="3804280"/>
          <a:ext cx="11628375" cy="2910920"/>
        </p:xfrm>
        <a:graphic>
          <a:graphicData uri="http://schemas.openxmlformats.org/drawingml/2006/table">
            <a:tbl>
              <a:tblPr firstRow="1" bandRow="1">
                <a:noFill/>
                <a:tableStyleId>{F5AA53EC-F1A8-4E5B-B68D-3257ED8EF5E8}</a:tableStyleId>
              </a:tblPr>
              <a:tblGrid>
                <a:gridCol w="94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4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29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1950">
                <a:tc row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Alarm</a:t>
                      </a:r>
                      <a:endParaRPr sz="1100" b="1" u="none" strike="noStrike" cap="none" dirty="0">
                        <a:solidFill>
                          <a:schemeClr val="dk1"/>
                        </a:solidFill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Request</a:t>
                      </a:r>
                      <a:r>
                        <a:rPr lang="ko-KR" sz="1100" b="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b="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ABCD-A-001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Request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b="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건물 관리인에게 요청할 수 있는 입력 창(</a:t>
                      </a:r>
                      <a:r>
                        <a:rPr lang="ko-KR" sz="1100" b="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유저용</a:t>
                      </a:r>
                      <a:r>
                        <a:rPr lang="ko-KR" sz="1100" b="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)</a:t>
                      </a:r>
                      <a:endParaRPr sz="11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AlarmRequest</a:t>
                      </a:r>
                      <a:endParaRPr sz="1100" b="1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ABCD-A-002</a:t>
                      </a:r>
                      <a:endParaRPr sz="1100" b="1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AlarmRequest</a:t>
                      </a:r>
                      <a:endParaRPr sz="1100" b="1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우측 상단에 </a:t>
                      </a: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종모양을</a:t>
                      </a: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클릭하면 </a:t>
                      </a: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최신순으로</a:t>
                      </a: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정리된 요청 내역 화면이 </a:t>
                      </a:r>
                      <a:endParaRPr sz="1100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우측에서 나옴</a:t>
                      </a:r>
                      <a:endParaRPr sz="1100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1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ABCD-A-003</a:t>
                      </a:r>
                      <a:endParaRPr sz="1100" b="1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RequestArrival</a:t>
                      </a:r>
                      <a:endParaRPr sz="1100" b="1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요청내역</a:t>
                      </a: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항목 </a:t>
                      </a: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클릭시</a:t>
                      </a: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보이는 요청 </a:t>
                      </a: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수신팝업창</a:t>
                      </a:r>
                      <a:endParaRPr sz="1100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ABCD-A-004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Response</a:t>
                      </a:r>
                      <a:endParaRPr sz="1100" b="1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건물 관리인이 보내는 답신 </a:t>
                      </a: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팝업창</a:t>
                      </a:r>
                      <a:endParaRPr sz="1100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AlarmProblems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ABCD-A-005</a:t>
                      </a:r>
                      <a:endParaRPr sz="1100" b="1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AlarmProblems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문제를 클릭 시 문제 알림 내역이 경고와 주의로 나뉘어 </a:t>
                      </a:r>
                      <a:endParaRPr sz="1100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최신순으로</a:t>
                      </a: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보여주는 화면 </a:t>
                      </a:r>
                      <a:endParaRPr sz="1100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6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AlramDropDownRequest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ABCD-A-006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AlarmDropDownRequest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화면 가운데 </a:t>
                      </a: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최상단에서</a:t>
                      </a: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건물 관리인에게 뜨는 요청 알림이 </a:t>
                      </a:r>
                      <a:endParaRPr sz="1100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AlarmDropDownUrgent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ABCD-A-007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AlarmDropDownUrgent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화면 가운데 </a:t>
                      </a: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최상단에서</a:t>
                      </a: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건물 관리인에게 뜨는 긴급한 </a:t>
                      </a: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문제사항</a:t>
                      </a: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알림</a:t>
                      </a:r>
                      <a:endParaRPr sz="1100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66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AlarmDropDownCaution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Malgun Gothic"/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ABCD-A-008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>
                          <a:latin typeface="+mj-lt"/>
                          <a:ea typeface="Pyeojin Gothic" panose="02000803000000020004" pitchFamily="2" charset="-127"/>
                        </a:rPr>
                        <a:t>AlarmDropDownCaution</a:t>
                      </a:r>
                      <a:endParaRPr sz="1100" b="1" u="none" strike="noStrike" cap="none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화면 가운데 </a:t>
                      </a: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최상단에서</a:t>
                      </a: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건물 관리인에게 뜨는 주의가 필요한 </a:t>
                      </a:r>
                      <a:r>
                        <a:rPr lang="ko-KR" sz="1100" u="none" strike="noStrike" cap="none" dirty="0" err="1">
                          <a:latin typeface="+mj-lt"/>
                          <a:ea typeface="Pyeojin Gothic" panose="02000803000000020004" pitchFamily="2" charset="-127"/>
                        </a:rPr>
                        <a:t>문제사항</a:t>
                      </a:r>
                      <a:r>
                        <a:rPr lang="ko-KR" sz="1100" u="none" strike="noStrike" cap="none" dirty="0">
                          <a:latin typeface="+mj-lt"/>
                          <a:ea typeface="Pyeojin Gothic" panose="02000803000000020004" pitchFamily="2" charset="-127"/>
                        </a:rPr>
                        <a:t> 알림</a:t>
                      </a:r>
                      <a:endParaRPr sz="1100" u="none" strike="noStrike" cap="none" dirty="0">
                        <a:latin typeface="+mj-lt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78" name="Google Shape;178;p17" title="logo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00" y="20077"/>
            <a:ext cx="180601" cy="1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" name="Google Shape;183;p18"/>
          <p:cNvGraphicFramePr/>
          <p:nvPr>
            <p:extLst>
              <p:ext uri="{D42A27DB-BD31-4B8C-83A1-F6EECF244321}">
                <p14:modId xmlns:p14="http://schemas.microsoft.com/office/powerpoint/2010/main" val="3940975078"/>
              </p:ext>
            </p:extLst>
          </p:nvPr>
        </p:nvGraphicFramePr>
        <p:xfrm>
          <a:off x="168442" y="543458"/>
          <a:ext cx="11965050" cy="6093240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43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3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6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86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대메뉴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중메뉴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화면ID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페이지제목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설명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비고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950"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ElecData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ElecData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ABCD-E-001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ElecData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전력 현황 데이터를 요약해서 보여주는 화면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ElecError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ABCD-E-002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ElecError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내에서 일어나는 전력 관련 문제들을 보여주는 리스트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5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ABCD-E-003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건물 월별 전력 사용량 / 평균 월별 전력 사용량을 나타내는 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세로 막대 그래프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ABCD-E-004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실시간 전력 사용량 나타내는 선 그래프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ABCD-E-005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항목들 전력 사용량 비율 나타내는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파이차트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ABCD-E-006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일주일 단위의 일별 전력 사용량을 나타내는 세로 막대 그래프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5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MaxData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ABCD-E-007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MaxData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기준 최대 사용량 값과 금월 누적 사용량과 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최다 사용 층수를 보여주는 차트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575"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WaterData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WaterData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ABCD-WA-001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WaterData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수도 현황 데이터를 요약해서 보여주는 화면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5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WaterError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ABCD-WA-002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WaterError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내에서 일어나는 수도 관련 문제들을 보여주는 리스트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15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ABCD-WA-003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건물 월별 수도 사용량 / 평균 월별 수도 사용량을 보여주는 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세로 막대 그래프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15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ABCD-WA-004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실시간 수도 사용량을 보여주는 선 그래프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115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ABCD-WA-005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항목들 수도 사용량 비율을 보여주는 파이차트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115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ABCD-WA-006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일주일 단위의 일별 수도 사용량을 보여주는 세로 막대 그래프</a:t>
                      </a:r>
                      <a:endParaRPr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15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MaxData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ABCD-WA-007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MaxData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기준 최대 사용량 값과 최다 사용 층수 보여주는 차트</a:t>
                      </a:r>
                      <a:endParaRPr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84" name="Google Shape;184;p18"/>
          <p:cNvSpPr txBox="1"/>
          <p:nvPr/>
        </p:nvSpPr>
        <p:spPr>
          <a:xfrm>
            <a:off x="565150" y="0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 – 화면 목록 - 2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185" name="Google Shape;185;p18" title="logo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138" y="96715"/>
            <a:ext cx="331870" cy="31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Google Shape;190;p19"/>
          <p:cNvGraphicFramePr/>
          <p:nvPr>
            <p:extLst>
              <p:ext uri="{D42A27DB-BD31-4B8C-83A1-F6EECF244321}">
                <p14:modId xmlns:p14="http://schemas.microsoft.com/office/powerpoint/2010/main" val="2240596311"/>
              </p:ext>
            </p:extLst>
          </p:nvPr>
        </p:nvGraphicFramePr>
        <p:xfrm>
          <a:off x="182089" y="454329"/>
          <a:ext cx="11701800" cy="6134760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40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9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14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4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대메뉴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중메뉴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화면ID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페이지제목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설명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비고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250">
                <a:tc row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ABCD-TE-001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TempData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온도 현황 데이터를 요약해서 보여주는 화면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2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TempError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ABCD-TE-002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TempError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건물내의 온도관련 문제들을 보여주는 리스트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2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ABCD-TE-003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MData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건물 월별 온도 사용량 / 평균 월별 온도 사용량을 보여주는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세로 막대 그래프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2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InOutData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ABCD-TE-004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InOutData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실시간 실내, 실외 온도를 보여주는 선 그래프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2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ACData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ABCD-TE-005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ACData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일주일 단위의 일별 사용량을 보여주는 세로 막대 그래프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2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MaxData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ABCD-TE-006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MaxData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기준 최대 사용량 값과 최다 사용 층수를 보여주는 리스트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050"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GasData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GasData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ABCD-GA-001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GasData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가스 현황 데이터 요약해서 보여주는 화면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GasError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ABCD-GA-002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GasError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건물내의 가스 관련 문제들을 보여주는 리스트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85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ABCD-GA-003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MData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건물 월별 가스 사용량 / 평균 월별 가스 사용량을 보여주는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세로 막대 그래프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52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ABCD-GA-004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TData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실시간 가스 사용량을 보여주는 선 그래프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1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ABCD-GA-005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PData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항목들 가스 사용량 비율을 보여주는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파이차트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99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ABCD-GA-006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DData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일주일 단위의 일별 가스 사용량을 보여주는 세로 막대 그래프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32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MaxData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ABCD-GA-007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MaxData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기준 금일 시간 기준의 사용량과 최다 사용 층을 보여주는 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리스트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91" name="Google Shape;191;p19"/>
          <p:cNvSpPr txBox="1"/>
          <p:nvPr/>
        </p:nvSpPr>
        <p:spPr>
          <a:xfrm>
            <a:off x="566126" y="0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 – 화면 목록 - 3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5" name="Google Shape;185;p18" title="logo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138" y="96715"/>
            <a:ext cx="331870" cy="31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7" name="Google Shape;197;p20"/>
          <p:cNvGraphicFramePr/>
          <p:nvPr>
            <p:extLst>
              <p:ext uri="{D42A27DB-BD31-4B8C-83A1-F6EECF244321}">
                <p14:modId xmlns:p14="http://schemas.microsoft.com/office/powerpoint/2010/main" val="3014126364"/>
              </p:ext>
            </p:extLst>
          </p:nvPr>
        </p:nvGraphicFramePr>
        <p:xfrm>
          <a:off x="73027" y="421421"/>
          <a:ext cx="11965050" cy="3904175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43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5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2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8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대메뉴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중메뉴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화면ID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페이지제목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설명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비고</a:t>
                      </a:r>
                      <a:endParaRPr sz="16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025"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Floors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Floors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ABCD-FL-001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Floors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층별 현황을 알 수 있는 데이터 차트 대시보드 페이지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FloorsStatus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ABCD-FL-002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FloorsStatus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10층씩 아이콘을 이용하여 문제 현황을 요약해서 보여주는 화면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ABCD-FL-003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RankData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4가지 에너지 항목의 층별 사용량을 나타내는 4개의 가로막대 그래프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ABCD-FL-004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1F~2F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한층 씩 현황 아이콘을 이용해서 보여주는 화면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ABCD-FL-005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FloorData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현재 선택한 층의 현황데이터를 차트로 화면에 나타낸 화면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ABCD-FL-006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FloorAlarmList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한 층씩 문제들 내역을 우측 상단에 리스트로 보여주는 화면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ABCD-FL-007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ParkingStatus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주차 버튼을 클릭 시 주차 잔여 자리 수를 보여주는 화면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33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Elevators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Elevator   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ABCD-EL-001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Elevator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사이트 관리자 페이지에서 등록한 승강기 개수에 따라 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승강기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조작화면을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나타낸 화면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Status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ABCD-EL-002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Status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승강기의 총 층수와 현재 층수를 점멸등을 이용하여 나타낸 화면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41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Control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ABCD-EL-003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Control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선택 층 비활성화, 운영 층 설정, 운전상태를 조작 가능한 버튼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98" name="Google Shape;198;p20"/>
          <p:cNvSpPr txBox="1"/>
          <p:nvPr/>
        </p:nvSpPr>
        <p:spPr>
          <a:xfrm>
            <a:off x="569058" y="0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 – 화면 목록 - 4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graphicFrame>
        <p:nvGraphicFramePr>
          <p:cNvPr id="199" name="Google Shape;199;p20"/>
          <p:cNvGraphicFramePr/>
          <p:nvPr>
            <p:extLst>
              <p:ext uri="{D42A27DB-BD31-4B8C-83A1-F6EECF244321}">
                <p14:modId xmlns:p14="http://schemas.microsoft.com/office/powerpoint/2010/main" val="1970094308"/>
              </p:ext>
            </p:extLst>
          </p:nvPr>
        </p:nvGraphicFramePr>
        <p:xfrm>
          <a:off x="73027" y="4325510"/>
          <a:ext cx="11965050" cy="2072700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43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3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2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2900">
                <a:tc rowSpan="6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Log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Log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ABCD-LO-001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Log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요청 알림과 점검 기록 관리가 가능한 페이지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0" u="none" strike="noStrike" cap="none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7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AlarmLog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ABCD-LO-002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AlarmLog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알림 기록 클릭 시 요청 알림 기록 날짜순 표시와 진행 단계 표시를 보여주는 화면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7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AlarmL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ABCD-LO-003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AlarmL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요청 알림 항목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7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CheckLog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ABCD-LO-004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CheckLog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점검 기록 </a:t>
                      </a: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날짜별</a:t>
                      </a: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진행 단계별 정리한 리스트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57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CheckL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ABCD-LO-005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CheckL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점검 현황 항목을 </a:t>
                      </a: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날짜순으로표시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57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CheckForm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ABCD-LO-006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CheckForm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점검 항목 클릭 시 나타나는 창에 글쓰기를 클릭하면 나타나는 내용 수정이 가능한 </a:t>
                      </a: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모달창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 dirty="0">
                        <a:solidFill>
                          <a:schemeClr val="dk1"/>
                        </a:solidFill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Google Shape;185;p18" title="logo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138" y="96715"/>
            <a:ext cx="331870" cy="31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Google Shape;205;p21"/>
          <p:cNvGraphicFramePr/>
          <p:nvPr>
            <p:extLst>
              <p:ext uri="{D42A27DB-BD31-4B8C-83A1-F6EECF244321}">
                <p14:modId xmlns:p14="http://schemas.microsoft.com/office/powerpoint/2010/main" val="2100850745"/>
              </p:ext>
            </p:extLst>
          </p:nvPr>
        </p:nvGraphicFramePr>
        <p:xfrm>
          <a:off x="168440" y="656362"/>
          <a:ext cx="11965075" cy="2808350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43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2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9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1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대메뉴</a:t>
                      </a:r>
                      <a:endParaRPr sz="14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중메뉴</a:t>
                      </a:r>
                      <a:endParaRPr sz="14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화면ID</a:t>
                      </a:r>
                      <a:endParaRPr sz="14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페이지제목</a:t>
                      </a:r>
                      <a:endParaRPr sz="14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설명</a:t>
                      </a:r>
                      <a:endParaRPr sz="14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비고</a:t>
                      </a:r>
                      <a:endParaRPr sz="14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500">
                <a:tc row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Admin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Admin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ABCD-AD-001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Admin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관리인이 건물 관리에 필요한 데이터를 요약해서 보여주는 화면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EnergyData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ABCD-AD-002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EnergyData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데이터 항목을 선택하면 보여주는 데이터 요약 차트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Todo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ABCD-AD-003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Todo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점검목록을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우측에 표시함과 동시에 항목을 클릭 시 점검 기록 페이지로 이동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MemberList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ABCD-AD-004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MemberList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화면 가운데에 층별 담당자 정보 리스트를 보여줌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3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ABCD-AD-005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CreateAccount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회원목록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우측에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십자버튼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클릭 시 나타나는 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층별 담당자 계정 등록 입력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모달창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Vacant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ABCD-AD-006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Vacant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주차 잔여 자리 수 표시와 이를 클릭 시 주차현황페이지로 이동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6" name="Google Shape;206;p21"/>
          <p:cNvSpPr txBox="1"/>
          <p:nvPr/>
        </p:nvSpPr>
        <p:spPr>
          <a:xfrm>
            <a:off x="571013" y="0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 – 화면 목록 - 5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graphicFrame>
        <p:nvGraphicFramePr>
          <p:cNvPr id="207" name="Google Shape;207;p21"/>
          <p:cNvGraphicFramePr/>
          <p:nvPr>
            <p:extLst>
              <p:ext uri="{D42A27DB-BD31-4B8C-83A1-F6EECF244321}">
                <p14:modId xmlns:p14="http://schemas.microsoft.com/office/powerpoint/2010/main" val="364313994"/>
              </p:ext>
            </p:extLst>
          </p:nvPr>
        </p:nvGraphicFramePr>
        <p:xfrm>
          <a:off x="168441" y="3450442"/>
          <a:ext cx="11965075" cy="2506645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43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7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8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6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05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67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7225">
                <a:tc rowSpan="7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Problems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Problems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ABCD-PR-001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Problems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관리 목록 별로 문제를 볼 수 있는 페이지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Report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ABCD-PR-002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Report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원인내역 우측에 십자버튼 클릭 시 나타나는 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문제들을 기록 할 수 있는 모달 창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typeData</a:t>
                      </a:r>
                      <a:endParaRPr sz="1200" b="0" u="none" strike="noStrike" cap="none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ABCD-PR-003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 err="1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typeData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b="0" u="none" strike="noStrike" cap="none" dirty="0">
                          <a:solidFill>
                            <a:schemeClr val="dk1"/>
                          </a:solidFill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관리 목록의 문제 유형의 비율 차트</a:t>
                      </a:r>
                      <a:endParaRPr sz="1200" b="0" u="none" strike="noStrike" cap="none" dirty="0">
                        <a:solidFill>
                          <a:schemeClr val="dk1"/>
                        </a:solidFill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QuaterData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ABCD-PR-004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QuaterData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관리 목록의 전체 문제 발생 수를 4분기로 표시,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typeData의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문제 유형을 클릭 시 해당 유형의 발생 수를 4분기로 표시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UnsolvedList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ABCD-PR-005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UnsolvedList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typeData클릭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시 이와 관련된 미해결 민원이나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문제항목을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보여줌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0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ProbelmsLog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ABCD-PR-006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ProblemsLog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관리 목록의 전체 문제 원인 내역 표시,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TypeData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문제 유형 클릭 시 해당 유형의 문제 원인 내역 표시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ABCD-PR-007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ProblemsDetail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원인 항목 클릭 시 자세한 내용을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모달창으로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보여줌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Google Shape;185;p18" title="logo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138" y="96715"/>
            <a:ext cx="331870" cy="31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3" name="Google Shape;213;p22"/>
          <p:cNvGraphicFramePr/>
          <p:nvPr>
            <p:extLst>
              <p:ext uri="{D42A27DB-BD31-4B8C-83A1-F6EECF244321}">
                <p14:modId xmlns:p14="http://schemas.microsoft.com/office/powerpoint/2010/main" val="1872485823"/>
              </p:ext>
            </p:extLst>
          </p:nvPr>
        </p:nvGraphicFramePr>
        <p:xfrm>
          <a:off x="293536" y="505350"/>
          <a:ext cx="11545275" cy="5884530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344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1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5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2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72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8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5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대메뉴</a:t>
                      </a:r>
                      <a:endParaRPr sz="14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중메뉴</a:t>
                      </a:r>
                      <a:endParaRPr sz="14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화면ID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페이지제목</a:t>
                      </a:r>
                      <a:endParaRPr sz="1400" u="none" strike="noStrike" cap="none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설명</a:t>
                      </a:r>
                      <a:endParaRPr sz="14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비고</a:t>
                      </a:r>
                      <a:endParaRPr sz="1400" u="none" strike="noStrike" cap="none" dirty="0">
                        <a:solidFill>
                          <a:schemeClr val="lt1"/>
                        </a:solidFill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475">
                <a:tc rowSpan="1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Master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Master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ABCD-MA-001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Master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사이트 관리자가 수행해야 할 기능을 모아보는 페이지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BuildingMnagemanet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ABCD-MA-001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BuildingMnagemanet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가운데에 위치한 건물등록 클릭 시 탭 바로 아래 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사용할 건물의 정보를 등록할 수 있는 화면을 보여줌</a:t>
                      </a:r>
                      <a:endParaRPr sz="12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ABCD-MA-002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ParkingManagement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등록 안에 있는 주차 타워 층 수 입력 폼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4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BuildingLog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ABCD-MA-003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BuildingLog</a:t>
                      </a:r>
                      <a:endParaRPr sz="12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등록된 건물들의 항목 나열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4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ABCD-MA-004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BuildingEdit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항목을 클릭하면 해당 건물의 정보를 수정 할 수 있는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모달창을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보여줌.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ElevatorManagement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ABCD-MA-005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ElevatorManagement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가운데에 위치한 승강기 클릭 시 탭 바로 아래 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사용할 건물의 정보를 등록할 수 있는 화면을 보여줌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4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ElevatorLog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ABCD-MA-006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ElevatorLog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승강기 탭 클릭 시 우측에 등록된 승강기 항목을 보여줌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4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ABCD-MA-007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ElevatorEdit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승강기 항목을 클릭하면 해당 정보를 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수정 가능한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모달창을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보여줌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54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MemberManagement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ABCD-MA-008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MemberManagement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회원관리 탭을 클릭 시 탭 아래에 회원 목록이 나타남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54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ABCD-MA-009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Permission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회원 목록에 항목을 클릭 시 해당 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회원 권한 설정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모달창을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보여줌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54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JoinRequestList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ABCD-MA-010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JoinRequestList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회원관리 탭을 클릭 시 우측에 가입 신청 목록 표시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/>
                        <a:t> </a:t>
                      </a:r>
                      <a:endParaRPr sz="12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547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Malgun Gothic"/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ABCD-MA-011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JoinRequest</a:t>
                      </a:r>
                      <a:endParaRPr sz="12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우측에 회원가입신청 항목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클릭시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회원 정보와 함께 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가입 승인 </a:t>
                      </a:r>
                      <a:r>
                        <a:rPr lang="ko-KR" sz="12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모달창을</a:t>
                      </a:r>
                      <a:r>
                        <a:rPr lang="ko-KR" sz="12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보여줌</a:t>
                      </a:r>
                      <a:endParaRPr sz="12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14" name="Google Shape;214;p22"/>
          <p:cNvSpPr txBox="1"/>
          <p:nvPr/>
        </p:nvSpPr>
        <p:spPr>
          <a:xfrm>
            <a:off x="571504" y="123091"/>
            <a:ext cx="3611100" cy="3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 – 화면 목록 - 6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5" name="Google Shape;185;p18" title="logo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138" y="96715"/>
            <a:ext cx="331870" cy="31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23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로그인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Ready-001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박승찬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25.11.19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로그인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L-001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1" name="Google Shape;221;p23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22" name="Google Shape;222;p23"/>
          <p:cNvGraphicFramePr/>
          <p:nvPr>
            <p:extLst>
              <p:ext uri="{D42A27DB-BD31-4B8C-83A1-F6EECF244321}">
                <p14:modId xmlns:p14="http://schemas.microsoft.com/office/powerpoint/2010/main" val="1160490199"/>
              </p:ext>
            </p:extLst>
          </p:nvPr>
        </p:nvGraphicFramePr>
        <p:xfrm>
          <a:off x="9648824" y="485774"/>
          <a:ext cx="2143125" cy="605863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로그인 버튼 –</a:t>
                      </a:r>
                      <a:b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</a:b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메인페이지로 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회원가입신청 – </a:t>
                      </a:r>
                      <a:b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</a:b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회원가입 페이지로 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Check Point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Related ID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/>
                        <a:t>Main-001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23" name="Google Shape;22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6005" y="1243871"/>
            <a:ext cx="8689213" cy="5039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3"/>
          <p:cNvSpPr txBox="1"/>
          <p:nvPr/>
        </p:nvSpPr>
        <p:spPr>
          <a:xfrm>
            <a:off x="3759268" y="4383714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" name="Google Shape;225;p23"/>
          <p:cNvSpPr txBox="1"/>
          <p:nvPr/>
        </p:nvSpPr>
        <p:spPr>
          <a:xfrm>
            <a:off x="4247560" y="4821702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UX설계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227" name="Google Shape;227;p23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2" name="Google Shape;232;p24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로그인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UserM-001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주총민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25.11.26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로그인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Um-001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3" name="Google Shape;233;p24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34" name="Google Shape;234;p24"/>
          <p:cNvGraphicFramePr/>
          <p:nvPr>
            <p:extLst>
              <p:ext uri="{D42A27DB-BD31-4B8C-83A1-F6EECF244321}">
                <p14:modId xmlns:p14="http://schemas.microsoft.com/office/powerpoint/2010/main" val="3429519960"/>
              </p:ext>
            </p:extLst>
          </p:nvPr>
        </p:nvGraphicFramePr>
        <p:xfrm>
          <a:off x="9648824" y="485774"/>
          <a:ext cx="2143125" cy="605790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공지사항을 클릭 시 해당 내용을 </a:t>
                      </a:r>
                      <a:r>
                        <a:rPr lang="ko-KR" sz="1400" u="none" strike="noStrike" cap="none" dirty="0" err="1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모달창</a:t>
                      </a:r>
                      <a:endParaRPr sz="1400" u="none" strike="noStrike" cap="none" dirty="0">
                        <a:latin typeface="Pretendard Medium" panose="02000603000000020004" pitchFamily="50" charset="-127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Check Point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Related ID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35" name="Google Shape;235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999" y="1226921"/>
            <a:ext cx="9309102" cy="523937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UX설계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237" name="Google Shape;237;p24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" name="Google Shape;242;p25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메인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Main-001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주총민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25.11.25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메인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M-001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3" name="Google Shape;243;p25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44" name="Google Shape;244;p25"/>
          <p:cNvGraphicFramePr/>
          <p:nvPr>
            <p:extLst>
              <p:ext uri="{D42A27DB-BD31-4B8C-83A1-F6EECF244321}">
                <p14:modId xmlns:p14="http://schemas.microsoft.com/office/powerpoint/2010/main" val="1333928464"/>
              </p:ext>
            </p:extLst>
          </p:nvPr>
        </p:nvGraphicFramePr>
        <p:xfrm>
          <a:off x="9648824" y="485774"/>
          <a:ext cx="2143125" cy="605936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   : 경고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   : 주의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ㅊ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: 민원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10층 단위로 건물을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클릭시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해당 층 분할페이지로 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61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주차빌딩에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잔여 주차공간 및 주차 현황 표시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주차빌딩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클릭 시 주차 현황페이지로 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/>
                        <a:t>Check</a:t>
                      </a:r>
                      <a:r>
                        <a:rPr lang="ko-KR" sz="1400" u="none" strike="noStrike" cap="none" dirty="0"/>
                        <a:t> </a:t>
                      </a:r>
                      <a:r>
                        <a:rPr lang="ko-KR" sz="1400" u="none" strike="noStrike" cap="none" dirty="0" err="1"/>
                        <a:t>Point</a:t>
                      </a:r>
                      <a:endParaRPr sz="14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Related ID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Floor-001</a:t>
                      </a:r>
                      <a:endParaRPr dirty="0"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Park-001</a:t>
                      </a:r>
                      <a:endParaRPr dirty="0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245" name="Google Shape;24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5031" y="1188757"/>
            <a:ext cx="9191162" cy="532821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5"/>
          <p:cNvSpPr/>
          <p:nvPr/>
        </p:nvSpPr>
        <p:spPr>
          <a:xfrm>
            <a:off x="3084021" y="2552007"/>
            <a:ext cx="1878677" cy="1612669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3084020" y="2500113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3469268" y="4269199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49" name="Google Shape;249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13373" y="1259030"/>
            <a:ext cx="238991" cy="197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3373" y="1471799"/>
            <a:ext cx="250867" cy="207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41455" y="1695142"/>
            <a:ext cx="210535" cy="20717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/>
          <p:nvPr/>
        </p:nvSpPr>
        <p:spPr>
          <a:xfrm>
            <a:off x="4962699" y="2552007"/>
            <a:ext cx="1685752" cy="3201093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6341083" y="2554427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25"/>
          <p:cNvSpPr/>
          <p:nvPr/>
        </p:nvSpPr>
        <p:spPr>
          <a:xfrm>
            <a:off x="3733411" y="4216570"/>
            <a:ext cx="579896" cy="1050755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UI/UX설계</a:t>
            </a:r>
            <a:endParaRPr sz="180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256" name="Google Shape;256;p25" title="logoic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1" name="Google Shape;261;p26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층 분할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Floor-001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이예준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25.11.26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층 분할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F-001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2" name="Google Shape;262;p26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63" name="Google Shape;263;p26"/>
          <p:cNvGraphicFramePr/>
          <p:nvPr>
            <p:extLst>
              <p:ext uri="{D42A27DB-BD31-4B8C-83A1-F6EECF244321}">
                <p14:modId xmlns:p14="http://schemas.microsoft.com/office/powerpoint/2010/main" val="229697402"/>
              </p:ext>
            </p:extLst>
          </p:nvPr>
        </p:nvGraphicFramePr>
        <p:xfrm>
          <a:off x="9648824" y="485774"/>
          <a:ext cx="2143125" cy="627997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74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1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화살표 아이콘-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10층 단위로 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2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주차, 승강기 버튼 클릭 시 주차타워, 승강기 페이지로 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3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한 층씩 클릭하면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층의 데이터 차트로 전환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1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4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빨강 : 경고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노랑 : 주의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하얀 : 민원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3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17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층 클릭 시 현재 데이터 차트가 해당 층 관련 데이터 차트로 전환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3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Related ID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17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Elve-001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Park-001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Floor-002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64" name="Google Shape;264;p26"/>
          <p:cNvSpPr txBox="1"/>
          <p:nvPr/>
        </p:nvSpPr>
        <p:spPr>
          <a:xfrm>
            <a:off x="3678933" y="1789954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5" name="Google Shape;265;p26"/>
          <p:cNvSpPr txBox="1"/>
          <p:nvPr/>
        </p:nvSpPr>
        <p:spPr>
          <a:xfrm>
            <a:off x="5982171" y="1915569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6" name="Google Shape;266;p26"/>
          <p:cNvSpPr txBox="1"/>
          <p:nvPr/>
        </p:nvSpPr>
        <p:spPr>
          <a:xfrm>
            <a:off x="5982171" y="5226805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67" name="Google Shape;26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7201" y="1241153"/>
            <a:ext cx="9286821" cy="5223418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6"/>
          <p:cNvSpPr/>
          <p:nvPr/>
        </p:nvSpPr>
        <p:spPr>
          <a:xfrm>
            <a:off x="4734544" y="1789954"/>
            <a:ext cx="323231" cy="288352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9" name="Google Shape;269;p26"/>
          <p:cNvSpPr txBox="1"/>
          <p:nvPr/>
        </p:nvSpPr>
        <p:spPr>
          <a:xfrm>
            <a:off x="4488296" y="1749464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5420758" y="1880459"/>
            <a:ext cx="636937" cy="288352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1" name="Google Shape;271;p26"/>
          <p:cNvSpPr txBox="1"/>
          <p:nvPr/>
        </p:nvSpPr>
        <p:spPr>
          <a:xfrm>
            <a:off x="5147576" y="175670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3821241" y="5372100"/>
            <a:ext cx="2160930" cy="243087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4147474" y="2878873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4430158" y="2941996"/>
            <a:ext cx="926067" cy="243087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3565106" y="5308977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UX설계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277" name="Google Shape;277;p26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2" name="Google Shape;282;p27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층 분할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Floor-002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이예준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25.11.26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층별 현황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F-005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83" name="Google Shape;283;p27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284" name="Google Shape;284;p27"/>
          <p:cNvGraphicFramePr/>
          <p:nvPr>
            <p:extLst>
              <p:ext uri="{D42A27DB-BD31-4B8C-83A1-F6EECF244321}">
                <p14:modId xmlns:p14="http://schemas.microsoft.com/office/powerpoint/2010/main" val="121098501"/>
              </p:ext>
            </p:extLst>
          </p:nvPr>
        </p:nvGraphicFramePr>
        <p:xfrm>
          <a:off x="9648824" y="485774"/>
          <a:ext cx="2143125" cy="6109235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5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1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층클릭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시 해당 층의 문제 리스트와 실시간 데이터를 보여줌 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2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3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4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5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클릭된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층의 데이터 차트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5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Related ID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5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Elve-001, Elec-001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Temp-001, Water-001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Gas-001, PB-001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85" name="Google Shape;28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620" y="1253905"/>
            <a:ext cx="9249983" cy="519791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535116" y="3527557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535116" y="3527557"/>
            <a:ext cx="2160930" cy="2463668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7114192" y="2432182"/>
            <a:ext cx="2160930" cy="3701918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3743945" y="5265913"/>
            <a:ext cx="2294905" cy="430037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0" name="Google Shape;290;p27"/>
          <p:cNvSpPr txBox="1"/>
          <p:nvPr/>
        </p:nvSpPr>
        <p:spPr>
          <a:xfrm>
            <a:off x="3743945" y="5296265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p27"/>
          <p:cNvSpPr txBox="1"/>
          <p:nvPr/>
        </p:nvSpPr>
        <p:spPr>
          <a:xfrm>
            <a:off x="7063392" y="2432182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UI/UX설계</a:t>
            </a:r>
            <a:endParaRPr sz="180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293" name="Google Shape;293;p27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8" name="Google Shape;298;p28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주차현황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Park-001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이예준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25.11.26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주차 현황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F-005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9" name="Google Shape;299;p28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00" name="Google Shape;300;p28"/>
          <p:cNvGraphicFramePr/>
          <p:nvPr>
            <p:extLst>
              <p:ext uri="{D42A27DB-BD31-4B8C-83A1-F6EECF244321}">
                <p14:modId xmlns:p14="http://schemas.microsoft.com/office/powerpoint/2010/main" val="943394114"/>
              </p:ext>
            </p:extLst>
          </p:nvPr>
        </p:nvGraphicFramePr>
        <p:xfrm>
          <a:off x="9648824" y="485774"/>
          <a:ext cx="2143125" cy="6057875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58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클릭시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층 분할 페이지로 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6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55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5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5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Related ID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0585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Floor-001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01" name="Google Shape;301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3373" y="1260649"/>
            <a:ext cx="9134477" cy="51844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8"/>
          <p:cNvSpPr/>
          <p:nvPr/>
        </p:nvSpPr>
        <p:spPr>
          <a:xfrm>
            <a:off x="2768879" y="4952999"/>
            <a:ext cx="520421" cy="1076325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3" name="Google Shape;303;p28"/>
          <p:cNvSpPr txBox="1"/>
          <p:nvPr/>
        </p:nvSpPr>
        <p:spPr>
          <a:xfrm>
            <a:off x="2503218" y="4854398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4" name="Google Shape;304;p28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UX설계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305" name="Google Shape;305;p28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" name="Google Shape;310;p29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승강기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Elve-001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이예준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25.11.24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승강기 조작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EL-001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11" name="Google Shape;311;p29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12" name="Google Shape;312;p29"/>
          <p:cNvGraphicFramePr/>
          <p:nvPr>
            <p:extLst>
              <p:ext uri="{D42A27DB-BD31-4B8C-83A1-F6EECF244321}">
                <p14:modId xmlns:p14="http://schemas.microsoft.com/office/powerpoint/2010/main" val="27332439"/>
              </p:ext>
            </p:extLst>
          </p:nvPr>
        </p:nvGraphicFramePr>
        <p:xfrm>
          <a:off x="9648824" y="485774"/>
          <a:ext cx="2143125" cy="605790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  <a:latin typeface="+mj-lt"/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승강기 등록 수대로 추가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승강기 상태 표시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승강기 운행 층수 설정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승강기 등록 수대로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추가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Related ID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13" name="Google Shape;31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08896" y="1306997"/>
            <a:ext cx="5988196" cy="523667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9"/>
          <p:cNvSpPr txBox="1"/>
          <p:nvPr/>
        </p:nvSpPr>
        <p:spPr>
          <a:xfrm>
            <a:off x="5722014" y="2234224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5" name="Google Shape;315;p29"/>
          <p:cNvSpPr txBox="1"/>
          <p:nvPr/>
        </p:nvSpPr>
        <p:spPr>
          <a:xfrm>
            <a:off x="3048086" y="2162181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p29"/>
          <p:cNvSpPr txBox="1"/>
          <p:nvPr/>
        </p:nvSpPr>
        <p:spPr>
          <a:xfrm>
            <a:off x="3314091" y="3330059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p29"/>
          <p:cNvSpPr/>
          <p:nvPr/>
        </p:nvSpPr>
        <p:spPr>
          <a:xfrm>
            <a:off x="2956650" y="3263555"/>
            <a:ext cx="423945" cy="595277"/>
          </a:xfrm>
          <a:prstGeom prst="ellipse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p29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UI/UX설계</a:t>
            </a:r>
            <a:endParaRPr sz="180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319" name="Google Shape;319;p29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4" name="Google Shape;324;p30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전력현황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Elec-001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박승찬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25.11.23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전력현황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E-001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25" name="Google Shape;325;p30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26" name="Google Shape;326;p30"/>
          <p:cNvGraphicFramePr/>
          <p:nvPr>
            <p:extLst>
              <p:ext uri="{D42A27DB-BD31-4B8C-83A1-F6EECF244321}">
                <p14:modId xmlns:p14="http://schemas.microsoft.com/office/powerpoint/2010/main" val="3547797912"/>
              </p:ext>
            </p:extLst>
          </p:nvPr>
        </p:nvGraphicFramePr>
        <p:xfrm>
          <a:off x="9648824" y="485774"/>
          <a:ext cx="2143125" cy="605936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다른 데이터 현황 페이지로 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전력에서 발생한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 표시와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문제페이지로 이동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Related ID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Temp-001, Water-001</a:t>
                      </a:r>
                      <a:endParaRPr dirty="0"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Gas-001, PB-001</a:t>
                      </a: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27" name="Google Shape;32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7721" y="1162050"/>
            <a:ext cx="8665782" cy="5404746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 txBox="1"/>
          <p:nvPr/>
        </p:nvSpPr>
        <p:spPr>
          <a:xfrm>
            <a:off x="1457585" y="179365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9" name="Google Shape;329;p30"/>
          <p:cNvSpPr txBox="1"/>
          <p:nvPr/>
        </p:nvSpPr>
        <p:spPr>
          <a:xfrm>
            <a:off x="1287174" y="242525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0" name="Google Shape;330;p30"/>
          <p:cNvSpPr txBox="1"/>
          <p:nvPr/>
        </p:nvSpPr>
        <p:spPr>
          <a:xfrm>
            <a:off x="1640040" y="1243361"/>
            <a:ext cx="6463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4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가스</a:t>
            </a:r>
            <a:endParaRPr sz="1400" b="1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331" name="Google Shape;331;p30"/>
          <p:cNvCxnSpPr/>
          <p:nvPr/>
        </p:nvCxnSpPr>
        <p:spPr>
          <a:xfrm rot="10800000">
            <a:off x="1884130" y="1514513"/>
            <a:ext cx="51232" cy="352387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332" name="Google Shape;332;p30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UI/UX설계</a:t>
            </a:r>
            <a:endParaRPr sz="180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333" name="Google Shape;333;p30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8" name="Google Shape;338;p31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온도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Temp-001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박승찬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25.11.24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온도 현황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T-001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9" name="Google Shape;339;p31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40" name="Google Shape;340;p31"/>
          <p:cNvGraphicFramePr/>
          <p:nvPr>
            <p:extLst>
              <p:ext uri="{D42A27DB-BD31-4B8C-83A1-F6EECF244321}">
                <p14:modId xmlns:p14="http://schemas.microsoft.com/office/powerpoint/2010/main" val="521311711"/>
              </p:ext>
            </p:extLst>
          </p:nvPr>
        </p:nvGraphicFramePr>
        <p:xfrm>
          <a:off x="9648824" y="485774"/>
          <a:ext cx="2143125" cy="605936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다른 데이터 현황 페이지로 이동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온도에서 발생한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 표시와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문제페이지로 이동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Related ID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Elec-001, Water-001</a:t>
                      </a:r>
                      <a:endParaRPr dirty="0"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Gas-001, PB-001</a:t>
                      </a:r>
                      <a:endParaRPr sz="1400" u="none" strike="noStrike" cap="none" dirty="0"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41" name="Google Shape;341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5222" y="1231967"/>
            <a:ext cx="8750779" cy="5311708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1"/>
          <p:cNvSpPr txBox="1"/>
          <p:nvPr/>
        </p:nvSpPr>
        <p:spPr>
          <a:xfrm>
            <a:off x="1457585" y="179365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3" name="Google Shape;343;p31"/>
          <p:cNvSpPr txBox="1"/>
          <p:nvPr/>
        </p:nvSpPr>
        <p:spPr>
          <a:xfrm>
            <a:off x="1287174" y="242525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4" name="Google Shape;344;p31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UX설계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345" name="Google Shape;345;p31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0" name="Google Shape;350;p32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수도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Water-001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박승찬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25.11.24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수도 현황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W-001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51" name="Google Shape;351;p32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52" name="Google Shape;352;p32"/>
          <p:cNvGraphicFramePr/>
          <p:nvPr>
            <p:extLst>
              <p:ext uri="{D42A27DB-BD31-4B8C-83A1-F6EECF244321}">
                <p14:modId xmlns:p14="http://schemas.microsoft.com/office/powerpoint/2010/main" val="537958641"/>
              </p:ext>
            </p:extLst>
          </p:nvPr>
        </p:nvGraphicFramePr>
        <p:xfrm>
          <a:off x="9648824" y="485774"/>
          <a:ext cx="2143125" cy="605936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1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다른 데이터 현황 페이지로 이동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2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수도에서 발생한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 표시와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문제페이지로 이동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3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4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Related ID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Temp-001, Elec-001</a:t>
                      </a:r>
                      <a:endParaRPr dirty="0"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Gas-001, PB-001</a:t>
                      </a:r>
                      <a:endParaRPr sz="1400" u="none" strike="noStrike" cap="none" dirty="0"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53" name="Google Shape;353;p32"/>
          <p:cNvSpPr txBox="1"/>
          <p:nvPr/>
        </p:nvSpPr>
        <p:spPr>
          <a:xfrm>
            <a:off x="1457585" y="179365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4" name="Google Shape;354;p32"/>
          <p:cNvSpPr txBox="1"/>
          <p:nvPr/>
        </p:nvSpPr>
        <p:spPr>
          <a:xfrm>
            <a:off x="1287174" y="242525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55" name="Google Shape;355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6582" y="1225550"/>
            <a:ext cx="9316518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2"/>
          <p:cNvSpPr txBox="1"/>
          <p:nvPr/>
        </p:nvSpPr>
        <p:spPr>
          <a:xfrm>
            <a:off x="1116763" y="136431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7" name="Google Shape;357;p32"/>
          <p:cNvSpPr txBox="1"/>
          <p:nvPr/>
        </p:nvSpPr>
        <p:spPr>
          <a:xfrm>
            <a:off x="979950" y="2055918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p32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UX설계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359" name="Google Shape;359;p32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4" name="Google Shape;364;p33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가스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Gas-001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박승찬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25.11.24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가스 현황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G-001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65" name="Google Shape;365;p33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66" name="Google Shape;366;p33"/>
          <p:cNvGraphicFramePr/>
          <p:nvPr>
            <p:extLst>
              <p:ext uri="{D42A27DB-BD31-4B8C-83A1-F6EECF244321}">
                <p14:modId xmlns:p14="http://schemas.microsoft.com/office/powerpoint/2010/main" val="1629945521"/>
              </p:ext>
            </p:extLst>
          </p:nvPr>
        </p:nvGraphicFramePr>
        <p:xfrm>
          <a:off x="9648824" y="485774"/>
          <a:ext cx="2143125" cy="605936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다른 데이터 현황 페이지로 이동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가스에서 발생한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 표시와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문제페이지로 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Related ID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Temp-001, Water-001</a:t>
                      </a:r>
                      <a:endParaRPr dirty="0"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Elec-001, PB-001</a:t>
                      </a:r>
                      <a:endParaRPr sz="1400" u="none" strike="noStrike" cap="none" dirty="0"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67" name="Google Shape;367;p33"/>
          <p:cNvSpPr txBox="1"/>
          <p:nvPr/>
        </p:nvSpPr>
        <p:spPr>
          <a:xfrm>
            <a:off x="1457585" y="179365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8" name="Google Shape;368;p33"/>
          <p:cNvSpPr txBox="1"/>
          <p:nvPr/>
        </p:nvSpPr>
        <p:spPr>
          <a:xfrm>
            <a:off x="1287174" y="242525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69" name="Google Shape;36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053" y="1238250"/>
            <a:ext cx="9308047" cy="525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3"/>
          <p:cNvSpPr txBox="1"/>
          <p:nvPr/>
        </p:nvSpPr>
        <p:spPr>
          <a:xfrm>
            <a:off x="1116763" y="1383625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1" name="Google Shape;371;p33"/>
          <p:cNvSpPr txBox="1"/>
          <p:nvPr/>
        </p:nvSpPr>
        <p:spPr>
          <a:xfrm>
            <a:off x="1011989" y="2081283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2" name="Google Shape;372;p33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UI/UX설계</a:t>
            </a:r>
            <a:endParaRPr sz="180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373" name="Google Shape;373;p33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" name="Google Shape;378;p34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기록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Log-001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 전서영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25.11.25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알림기록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Lo-002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79" name="Google Shape;379;p34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80" name="Google Shape;380;p34"/>
          <p:cNvGraphicFramePr/>
          <p:nvPr>
            <p:extLst>
              <p:ext uri="{D42A27DB-BD31-4B8C-83A1-F6EECF244321}">
                <p14:modId xmlns:p14="http://schemas.microsoft.com/office/powerpoint/2010/main" val="1852855575"/>
              </p:ext>
            </p:extLst>
          </p:nvPr>
        </p:nvGraphicFramePr>
        <p:xfrm>
          <a:off x="9648824" y="485774"/>
          <a:ext cx="2143125" cy="605790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토글버튼으로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상태를 표시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버튼을 누르면 전체 선택 상태 쉽게 수정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항목 클릭시 요청 온 알림 수신 모달창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리스트 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Related ID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solidFill>
                            <a:schemeClr val="dk1"/>
                          </a:solidFill>
                          <a:latin typeface="+mj-lt"/>
                        </a:rPr>
                        <a:t>Log-002 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 dirty="0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81" name="Google Shape;381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0787" y="1250065"/>
            <a:ext cx="8979650" cy="520559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 txBox="1"/>
          <p:nvPr/>
        </p:nvSpPr>
        <p:spPr>
          <a:xfrm>
            <a:off x="6974552" y="3384809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3" name="Google Shape;383;p34"/>
          <p:cNvSpPr txBox="1"/>
          <p:nvPr/>
        </p:nvSpPr>
        <p:spPr>
          <a:xfrm>
            <a:off x="6928701" y="517238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1478281" y="3724547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3326016" y="5090989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6" name="Google Shape;386;p34"/>
          <p:cNvSpPr/>
          <p:nvPr/>
        </p:nvSpPr>
        <p:spPr>
          <a:xfrm>
            <a:off x="1735023" y="3743597"/>
            <a:ext cx="6332652" cy="293931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7" name="Google Shape;387;p34"/>
          <p:cNvSpPr/>
          <p:nvPr/>
        </p:nvSpPr>
        <p:spPr>
          <a:xfrm>
            <a:off x="3582758" y="5247781"/>
            <a:ext cx="2665642" cy="293931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8" name="Google Shape;388;p34"/>
          <p:cNvSpPr/>
          <p:nvPr/>
        </p:nvSpPr>
        <p:spPr>
          <a:xfrm>
            <a:off x="7183063" y="5236419"/>
            <a:ext cx="603625" cy="293931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9" name="Google Shape;389;p34"/>
          <p:cNvSpPr/>
          <p:nvPr/>
        </p:nvSpPr>
        <p:spPr>
          <a:xfrm>
            <a:off x="7192760" y="3449666"/>
            <a:ext cx="603625" cy="293931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p34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UX설계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391" name="Google Shape;391;p34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6" name="Google Shape;396;p35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기록 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Log-002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전서영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25.11.26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점검기록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Lo-004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97" name="Google Shape;397;p35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398" name="Google Shape;398;p35"/>
          <p:cNvGraphicFramePr/>
          <p:nvPr>
            <p:extLst>
              <p:ext uri="{D42A27DB-BD31-4B8C-83A1-F6EECF244321}">
                <p14:modId xmlns:p14="http://schemas.microsoft.com/office/powerpoint/2010/main" val="197974100"/>
              </p:ext>
            </p:extLst>
          </p:nvPr>
        </p:nvGraphicFramePr>
        <p:xfrm>
          <a:off x="9648824" y="485774"/>
          <a:ext cx="2143125" cy="605790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1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점검 상태 표시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2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버튼을 누르면 전체 선택 상태 수정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3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점검 항목 클릭 시 점검 모달창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4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리스트 이동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상태 수정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Related ID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solidFill>
                            <a:schemeClr val="dk1"/>
                          </a:solidFill>
                          <a:latin typeface="+mj-lt"/>
                        </a:rPr>
                        <a:t>Log-001</a:t>
                      </a:r>
                      <a:endParaRPr sz="1400" u="none" strike="noStrike" cap="none" dirty="0">
                        <a:solidFill>
                          <a:schemeClr val="dk1"/>
                        </a:solidFill>
                        <a:latin typeface="+mj-lt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99" name="Google Shape;399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3536" y="1247713"/>
            <a:ext cx="8733343" cy="6972362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5"/>
          <p:cNvSpPr txBox="1"/>
          <p:nvPr/>
        </p:nvSpPr>
        <p:spPr>
          <a:xfrm>
            <a:off x="6847004" y="3304718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1" name="Google Shape;401;p35"/>
          <p:cNvSpPr txBox="1"/>
          <p:nvPr/>
        </p:nvSpPr>
        <p:spPr>
          <a:xfrm>
            <a:off x="6929009" y="4845769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2" name="Google Shape;402;p35"/>
          <p:cNvSpPr txBox="1"/>
          <p:nvPr/>
        </p:nvSpPr>
        <p:spPr>
          <a:xfrm>
            <a:off x="2327667" y="4438912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3" name="Google Shape;403;p35"/>
          <p:cNvSpPr txBox="1"/>
          <p:nvPr/>
        </p:nvSpPr>
        <p:spPr>
          <a:xfrm>
            <a:off x="3756417" y="4845769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4" name="Google Shape;404;p35"/>
          <p:cNvSpPr/>
          <p:nvPr/>
        </p:nvSpPr>
        <p:spPr>
          <a:xfrm>
            <a:off x="7105649" y="3406894"/>
            <a:ext cx="813841" cy="184031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p35"/>
          <p:cNvSpPr/>
          <p:nvPr/>
        </p:nvSpPr>
        <p:spPr>
          <a:xfrm>
            <a:off x="7187827" y="4894843"/>
            <a:ext cx="641724" cy="290235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4012552" y="4941589"/>
            <a:ext cx="1677947" cy="204596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p35"/>
          <p:cNvSpPr/>
          <p:nvPr/>
        </p:nvSpPr>
        <p:spPr>
          <a:xfrm>
            <a:off x="2564752" y="4548974"/>
            <a:ext cx="778523" cy="175426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UI/UX설계</a:t>
            </a:r>
            <a:endParaRPr sz="180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409" name="Google Shape;409;p35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4" name="Google Shape;414;p36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건물관리자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Admin-001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이예준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25.11.09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건물 관리자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Ad-001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5" name="Google Shape;415;p36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16" name="Google Shape;416;p36"/>
          <p:cNvGraphicFramePr/>
          <p:nvPr>
            <p:extLst>
              <p:ext uri="{D42A27DB-BD31-4B8C-83A1-F6EECF244321}">
                <p14:modId xmlns:p14="http://schemas.microsoft.com/office/powerpoint/2010/main" val="1781091550"/>
              </p:ext>
            </p:extLst>
          </p:nvPr>
        </p:nvGraphicFramePr>
        <p:xfrm>
          <a:off x="9648824" y="485774"/>
          <a:ext cx="2143125" cy="5859075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1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1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십자버튼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클릭 시 해당 항목에 정보를 등록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2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2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보고싶은 데이터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타입선택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3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5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4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1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Check Point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1975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4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</a:rPr>
                        <a:t>Related ID</a:t>
                      </a:r>
                      <a:endParaRPr sz="1400" u="none" strike="noStrike" cap="none">
                        <a:latin typeface="+mj-lt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91975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</a:rPr>
                        <a:t>Park-001, Log-002</a:t>
                      </a:r>
                      <a:endParaRPr sz="1400" u="none" strike="noStrike" cap="none" dirty="0">
                        <a:latin typeface="+mj-lt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17" name="Google Shape;417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7337" y="1389784"/>
            <a:ext cx="8954750" cy="5153891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6"/>
          <p:cNvSpPr/>
          <p:nvPr/>
        </p:nvSpPr>
        <p:spPr>
          <a:xfrm flipH="1">
            <a:off x="5968999" y="2196716"/>
            <a:ext cx="193673" cy="159134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p36"/>
          <p:cNvSpPr txBox="1"/>
          <p:nvPr/>
        </p:nvSpPr>
        <p:spPr>
          <a:xfrm>
            <a:off x="5725620" y="2088250"/>
            <a:ext cx="3280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 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p36"/>
          <p:cNvSpPr/>
          <p:nvPr/>
        </p:nvSpPr>
        <p:spPr>
          <a:xfrm flipH="1">
            <a:off x="1790698" y="2355850"/>
            <a:ext cx="457201" cy="159134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p36"/>
          <p:cNvSpPr txBox="1"/>
          <p:nvPr/>
        </p:nvSpPr>
        <p:spPr>
          <a:xfrm>
            <a:off x="1536024" y="2250751"/>
            <a:ext cx="3280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 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2" name="Google Shape;422;p36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UX설계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423" name="Google Shape;423;p36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8" name="Google Shape;428;p37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044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사이트관리자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Mas-001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주총민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2025-11-27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사이트 관리자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Ms-001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29" name="Google Shape;429;p37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30" name="Google Shape;430;p37"/>
          <p:cNvGraphicFramePr/>
          <p:nvPr>
            <p:extLst>
              <p:ext uri="{D42A27DB-BD31-4B8C-83A1-F6EECF244321}">
                <p14:modId xmlns:p14="http://schemas.microsoft.com/office/powerpoint/2010/main" val="2973079703"/>
              </p:ext>
            </p:extLst>
          </p:nvPr>
        </p:nvGraphicFramePr>
        <p:xfrm>
          <a:off x="9648824" y="485774"/>
          <a:ext cx="2143125" cy="606009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08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탭 기능을 이용해 사이트 관리자에게 필요한 항목을 배치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선택된 탭에 맞게 우측에 내역이 바뀌어 나타남.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우측에 회원가입 요청 클릭 시 승인 모달창이 나타남 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08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수정버튼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클릭 시 권한 설정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모달창이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나타남 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13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Check Point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97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Related ID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0800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31" name="Google Shape;431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465" y="1029228"/>
            <a:ext cx="10114059" cy="5299743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7"/>
          <p:cNvSpPr/>
          <p:nvPr/>
        </p:nvSpPr>
        <p:spPr>
          <a:xfrm>
            <a:off x="2926821" y="2999067"/>
            <a:ext cx="4228722" cy="382762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3" name="Google Shape;433;p37"/>
          <p:cNvSpPr txBox="1"/>
          <p:nvPr/>
        </p:nvSpPr>
        <p:spPr>
          <a:xfrm>
            <a:off x="2680079" y="3012497"/>
            <a:ext cx="6669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4" name="Google Shape;434;p37"/>
          <p:cNvSpPr/>
          <p:nvPr/>
        </p:nvSpPr>
        <p:spPr>
          <a:xfrm>
            <a:off x="7460344" y="2430629"/>
            <a:ext cx="1625448" cy="3636341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5" name="Google Shape;435;p37"/>
          <p:cNvSpPr txBox="1"/>
          <p:nvPr/>
        </p:nvSpPr>
        <p:spPr>
          <a:xfrm>
            <a:off x="7184571" y="2344455"/>
            <a:ext cx="6669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p37"/>
          <p:cNvSpPr/>
          <p:nvPr/>
        </p:nvSpPr>
        <p:spPr>
          <a:xfrm>
            <a:off x="7632699" y="3282639"/>
            <a:ext cx="693117" cy="124590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p37"/>
          <p:cNvSpPr txBox="1"/>
          <p:nvPr/>
        </p:nvSpPr>
        <p:spPr>
          <a:xfrm>
            <a:off x="7395142" y="3146831"/>
            <a:ext cx="6669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8" name="Google Shape;438;p37"/>
          <p:cNvSpPr/>
          <p:nvPr/>
        </p:nvSpPr>
        <p:spPr>
          <a:xfrm>
            <a:off x="6311900" y="3752851"/>
            <a:ext cx="381000" cy="268052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9" name="Google Shape;439;p37"/>
          <p:cNvSpPr txBox="1"/>
          <p:nvPr/>
        </p:nvSpPr>
        <p:spPr>
          <a:xfrm>
            <a:off x="6064045" y="3702211"/>
            <a:ext cx="6669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0" name="Google Shape;440;p37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UX설계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441" name="Google Shape;441;p37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6" name="Google Shape;446;p38"/>
          <p:cNvGraphicFramePr/>
          <p:nvPr/>
        </p:nvGraphicFramePr>
        <p:xfrm>
          <a:off x="238124" y="485776"/>
          <a:ext cx="9324975" cy="613320"/>
        </p:xfrm>
        <a:graphic>
          <a:graphicData uri="http://schemas.openxmlformats.org/drawingml/2006/table">
            <a:tbl>
              <a:tblPr firstRow="1" bandRow="1">
                <a:noFill/>
                <a:tableStyleId>{E7274F3E-29C1-41AD-B719-D87E80B50E3F}</a:tableStyleId>
              </a:tblPr>
              <a:tblGrid>
                <a:gridCol w="116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1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165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28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페이지제목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문제페이지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화면ID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PB-001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전서영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날짜</a:t>
                      </a:r>
                      <a:endParaRPr/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00" u="none" strike="noStrike" cap="none">
                          <a:solidFill>
                            <a:schemeClr val="dk1"/>
                          </a:solidFill>
                        </a:rPr>
                        <a:t>25.11.27</a:t>
                      </a:r>
                      <a:endParaRPr sz="13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>
                          <a:solidFill>
                            <a:schemeClr val="dk1"/>
                          </a:solidFill>
                        </a:rPr>
                        <a:t>화면명</a:t>
                      </a: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74975" marR="74975" marT="37500" marB="37500"/>
                </a:tc>
                <a:tc gridSpan="4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문제 페이지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b="1" u="none" strike="noStrike" cap="none"/>
                        <a:t>요구사항 ID</a:t>
                      </a:r>
                      <a:endParaRPr sz="1400" b="1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P-001</a:t>
                      </a:r>
                      <a:endParaRPr sz="1400" u="none" strike="noStrike" cap="none"/>
                    </a:p>
                  </a:txBody>
                  <a:tcPr marL="111625" marR="111625" marT="55800" marB="55800"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47" name="Google Shape;447;p38"/>
          <p:cNvSpPr/>
          <p:nvPr/>
        </p:nvSpPr>
        <p:spPr>
          <a:xfrm>
            <a:off x="238124" y="1162050"/>
            <a:ext cx="9324976" cy="5381625"/>
          </a:xfrm>
          <a:prstGeom prst="rect">
            <a:avLst/>
          </a:prstGeom>
          <a:noFill/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448" name="Google Shape;448;p38"/>
          <p:cNvGraphicFramePr/>
          <p:nvPr>
            <p:extLst>
              <p:ext uri="{D42A27DB-BD31-4B8C-83A1-F6EECF244321}">
                <p14:modId xmlns:p14="http://schemas.microsoft.com/office/powerpoint/2010/main" val="111227986"/>
              </p:ext>
            </p:extLst>
          </p:nvPr>
        </p:nvGraphicFramePr>
        <p:xfrm>
          <a:off x="9648824" y="485774"/>
          <a:ext cx="2143125" cy="605795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32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225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solidFill>
                            <a:schemeClr val="dk1"/>
                          </a:solidFill>
                        </a:rPr>
                        <a:t>기능 명세서</a:t>
                      </a:r>
                      <a:endParaRPr sz="14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원인을 클릭 하면 페이지 내의 항목들이 해당 타입 관련 데이터로 변환된다.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5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원인 내역을 클릭하면 해당 항목의 내용을 모달창으로 보여줌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9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십자 표시를 클릭 시 모달창을 이용해 문제를 등록 할 수있음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4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알림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기록중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접수,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처리중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표시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65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Check Point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4225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000"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/>
                        <a:t>Related ID</a:t>
                      </a:r>
                      <a:endParaRPr sz="14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4225"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/>
                        <a:t>Log-001,</a:t>
                      </a:r>
                      <a:endParaRPr sz="14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49" name="Google Shape;44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1573" y="1250687"/>
            <a:ext cx="9234389" cy="5355946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8"/>
          <p:cNvSpPr/>
          <p:nvPr/>
        </p:nvSpPr>
        <p:spPr>
          <a:xfrm>
            <a:off x="2043734" y="3206882"/>
            <a:ext cx="343866" cy="247518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1" name="Google Shape;451;p38"/>
          <p:cNvSpPr txBox="1"/>
          <p:nvPr/>
        </p:nvSpPr>
        <p:spPr>
          <a:xfrm>
            <a:off x="1787599" y="3145975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2" name="Google Shape;452;p38"/>
          <p:cNvSpPr/>
          <p:nvPr/>
        </p:nvSpPr>
        <p:spPr>
          <a:xfrm>
            <a:off x="6592886" y="2311400"/>
            <a:ext cx="2658422" cy="4076700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3" name="Google Shape;453;p38"/>
          <p:cNvSpPr/>
          <p:nvPr/>
        </p:nvSpPr>
        <p:spPr>
          <a:xfrm>
            <a:off x="1625600" y="4349750"/>
            <a:ext cx="4897438" cy="2038350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38"/>
          <p:cNvSpPr/>
          <p:nvPr/>
        </p:nvSpPr>
        <p:spPr>
          <a:xfrm>
            <a:off x="4622799" y="2311401"/>
            <a:ext cx="1900239" cy="2038350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455" name="Google Shape;455;p38"/>
          <p:cNvCxnSpPr/>
          <p:nvPr/>
        </p:nvCxnSpPr>
        <p:spPr>
          <a:xfrm>
            <a:off x="2387600" y="3454400"/>
            <a:ext cx="1117600" cy="1264681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6" name="Google Shape;456;p38"/>
          <p:cNvCxnSpPr/>
          <p:nvPr/>
        </p:nvCxnSpPr>
        <p:spPr>
          <a:xfrm>
            <a:off x="2377355" y="3336926"/>
            <a:ext cx="2494378" cy="2142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57" name="Google Shape;457;p38"/>
          <p:cNvCxnSpPr/>
          <p:nvPr/>
        </p:nvCxnSpPr>
        <p:spPr>
          <a:xfrm>
            <a:off x="2377355" y="3391427"/>
            <a:ext cx="4526948" cy="123666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58" name="Google Shape;458;p38"/>
          <p:cNvSpPr/>
          <p:nvPr/>
        </p:nvSpPr>
        <p:spPr>
          <a:xfrm>
            <a:off x="2191921" y="5034486"/>
            <a:ext cx="3841619" cy="236015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9" name="Google Shape;459;p38"/>
          <p:cNvSpPr txBox="1"/>
          <p:nvPr/>
        </p:nvSpPr>
        <p:spPr>
          <a:xfrm>
            <a:off x="1935786" y="4939270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0" name="Google Shape;460;p38"/>
          <p:cNvSpPr/>
          <p:nvPr/>
        </p:nvSpPr>
        <p:spPr>
          <a:xfrm>
            <a:off x="5981700" y="4632856"/>
            <a:ext cx="237274" cy="236015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1" name="Google Shape;461;p38"/>
          <p:cNvSpPr txBox="1"/>
          <p:nvPr/>
        </p:nvSpPr>
        <p:spPr>
          <a:xfrm>
            <a:off x="5729172" y="4566197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2" name="Google Shape;462;p38"/>
          <p:cNvSpPr txBox="1"/>
          <p:nvPr/>
        </p:nvSpPr>
        <p:spPr>
          <a:xfrm>
            <a:off x="6565900" y="2318516"/>
            <a:ext cx="3408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1">
                <a:solidFill>
                  <a:srgbClr val="C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sz="1800" b="1">
              <a:solidFill>
                <a:srgbClr val="C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3" name="Google Shape;463;p38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UI/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UX설계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464" name="Google Shape;464;p38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9"/>
          <p:cNvSpPr/>
          <p:nvPr/>
        </p:nvSpPr>
        <p:spPr>
          <a:xfrm>
            <a:off x="215620" y="1845423"/>
            <a:ext cx="840091" cy="1030782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유저</a:t>
            </a:r>
            <a:endParaRPr sz="16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470" name="Google Shape;470;p39"/>
          <p:cNvSpPr/>
          <p:nvPr/>
        </p:nvSpPr>
        <p:spPr>
          <a:xfrm>
            <a:off x="1596041" y="1324960"/>
            <a:ext cx="1130400" cy="18621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웹</a:t>
            </a:r>
            <a:endParaRPr sz="16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브라우저</a:t>
            </a:r>
            <a:endParaRPr sz="16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471" name="Google Shape;471;p39"/>
          <p:cNvSpPr/>
          <p:nvPr/>
        </p:nvSpPr>
        <p:spPr>
          <a:xfrm>
            <a:off x="3243508" y="1837116"/>
            <a:ext cx="947650" cy="847896"/>
          </a:xfrm>
          <a:prstGeom prst="rect">
            <a:avLst/>
          </a:prstGeom>
          <a:solidFill>
            <a:srgbClr val="D9D2E9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로그인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472" name="Google Shape;472;p39"/>
          <p:cNvSpPr/>
          <p:nvPr/>
        </p:nvSpPr>
        <p:spPr>
          <a:xfrm>
            <a:off x="4727859" y="1837116"/>
            <a:ext cx="789709" cy="847896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메인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473" name="Google Shape;473;p39"/>
          <p:cNvSpPr/>
          <p:nvPr/>
        </p:nvSpPr>
        <p:spPr>
          <a:xfrm>
            <a:off x="4727850" y="380078"/>
            <a:ext cx="789600" cy="847800"/>
          </a:xfrm>
          <a:prstGeom prst="rect">
            <a:avLst/>
          </a:prstGeom>
          <a:solidFill>
            <a:srgbClr val="FFF2CC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 smtClean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유저</a:t>
            </a:r>
            <a:endParaRPr lang="en-US" altLang="ko-KR" sz="1600" dirty="0" smtClean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 smtClean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메인</a:t>
            </a:r>
            <a:endParaRPr sz="16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474" name="Google Shape;474;p39"/>
          <p:cNvSpPr/>
          <p:nvPr/>
        </p:nvSpPr>
        <p:spPr>
          <a:xfrm>
            <a:off x="6001789" y="952851"/>
            <a:ext cx="1137282" cy="1080656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 err="1" smtClean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건물보기</a:t>
            </a:r>
            <a:endParaRPr lang="en-US" altLang="ko-KR" sz="1600" dirty="0" smtClean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 smtClean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페이지</a:t>
            </a:r>
            <a:endParaRPr sz="16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475" name="Google Shape;475;p39"/>
          <p:cNvSpPr/>
          <p:nvPr/>
        </p:nvSpPr>
        <p:spPr>
          <a:xfrm>
            <a:off x="7515733" y="952850"/>
            <a:ext cx="1137282" cy="1072341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층별표시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476" name="Google Shape;476;p39"/>
          <p:cNvSpPr/>
          <p:nvPr/>
        </p:nvSpPr>
        <p:spPr>
          <a:xfrm>
            <a:off x="9029677" y="961165"/>
            <a:ext cx="1161988" cy="1072341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조작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페이지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sp>
        <p:nvSpPr>
          <p:cNvPr id="477" name="Google Shape;477;p39"/>
          <p:cNvSpPr/>
          <p:nvPr/>
        </p:nvSpPr>
        <p:spPr>
          <a:xfrm>
            <a:off x="6001789" y="2484989"/>
            <a:ext cx="1137282" cy="1072341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데이터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페이지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cxnSp>
        <p:nvCxnSpPr>
          <p:cNvPr id="478" name="Google Shape;478;p39"/>
          <p:cNvCxnSpPr>
            <a:stCxn id="471" idx="3"/>
          </p:cNvCxnSpPr>
          <p:nvPr/>
        </p:nvCxnSpPr>
        <p:spPr>
          <a:xfrm>
            <a:off x="4191158" y="2261064"/>
            <a:ext cx="536700" cy="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79" name="Google Shape;479;p39"/>
          <p:cNvCxnSpPr>
            <a:stCxn id="472" idx="3"/>
          </p:cNvCxnSpPr>
          <p:nvPr/>
        </p:nvCxnSpPr>
        <p:spPr>
          <a:xfrm rot="10800000" flipH="1">
            <a:off x="5517568" y="1497264"/>
            <a:ext cx="484200" cy="76380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80" name="Google Shape;480;p39"/>
          <p:cNvCxnSpPr/>
          <p:nvPr/>
        </p:nvCxnSpPr>
        <p:spPr>
          <a:xfrm>
            <a:off x="5521728" y="2242778"/>
            <a:ext cx="469922" cy="81579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81" name="Google Shape;481;p39"/>
          <p:cNvCxnSpPr>
            <a:endCxn id="473" idx="1"/>
          </p:cNvCxnSpPr>
          <p:nvPr/>
        </p:nvCxnSpPr>
        <p:spPr>
          <a:xfrm rot="10800000" flipH="1">
            <a:off x="3712050" y="803978"/>
            <a:ext cx="1015800" cy="104370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82" name="Google Shape;482;p39"/>
          <p:cNvCxnSpPr>
            <a:stCxn id="474" idx="3"/>
            <a:endCxn id="475" idx="1"/>
          </p:cNvCxnSpPr>
          <p:nvPr/>
        </p:nvCxnSpPr>
        <p:spPr>
          <a:xfrm rot="10800000" flipH="1">
            <a:off x="7139071" y="1488979"/>
            <a:ext cx="376800" cy="420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83" name="Google Shape;483;p39"/>
          <p:cNvCxnSpPr>
            <a:stCxn id="475" idx="3"/>
            <a:endCxn id="476" idx="1"/>
          </p:cNvCxnSpPr>
          <p:nvPr/>
        </p:nvCxnSpPr>
        <p:spPr>
          <a:xfrm>
            <a:off x="8653015" y="1489021"/>
            <a:ext cx="376800" cy="840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84" name="Google Shape;484;p39"/>
          <p:cNvCxnSpPr>
            <a:stCxn id="470" idx="3"/>
            <a:endCxn id="471" idx="1"/>
          </p:cNvCxnSpPr>
          <p:nvPr/>
        </p:nvCxnSpPr>
        <p:spPr>
          <a:xfrm>
            <a:off x="2726441" y="2256010"/>
            <a:ext cx="517200" cy="510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85" name="Google Shape;485;p39"/>
          <p:cNvCxnSpPr/>
          <p:nvPr/>
        </p:nvCxnSpPr>
        <p:spPr>
          <a:xfrm>
            <a:off x="1055711" y="2261064"/>
            <a:ext cx="521623" cy="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6" name="Google Shape;486;p39"/>
          <p:cNvSpPr/>
          <p:nvPr/>
        </p:nvSpPr>
        <p:spPr>
          <a:xfrm>
            <a:off x="9029676" y="2484987"/>
            <a:ext cx="1161989" cy="1072344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문제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페이지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cxnSp>
        <p:nvCxnSpPr>
          <p:cNvPr id="487" name="Google Shape;487;p39"/>
          <p:cNvCxnSpPr>
            <a:stCxn id="477" idx="3"/>
            <a:endCxn id="486" idx="1"/>
          </p:cNvCxnSpPr>
          <p:nvPr/>
        </p:nvCxnSpPr>
        <p:spPr>
          <a:xfrm>
            <a:off x="7139071" y="3021160"/>
            <a:ext cx="1890600" cy="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88" name="Google Shape;488;p39"/>
          <p:cNvSpPr/>
          <p:nvPr/>
        </p:nvSpPr>
        <p:spPr>
          <a:xfrm>
            <a:off x="5991650" y="3998426"/>
            <a:ext cx="1147421" cy="1088967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상단메뉴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cxnSp>
        <p:nvCxnSpPr>
          <p:cNvPr id="489" name="Google Shape;489;p39"/>
          <p:cNvCxnSpPr>
            <a:stCxn id="488" idx="3"/>
            <a:endCxn id="490" idx="1"/>
          </p:cNvCxnSpPr>
          <p:nvPr/>
        </p:nvCxnSpPr>
        <p:spPr>
          <a:xfrm>
            <a:off x="7139071" y="4542910"/>
            <a:ext cx="1905300" cy="129510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90" name="Google Shape;490;p39"/>
          <p:cNvSpPr/>
          <p:nvPr/>
        </p:nvSpPr>
        <p:spPr>
          <a:xfrm>
            <a:off x="9044246" y="5310279"/>
            <a:ext cx="1679172" cy="1055191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관리자 페이지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(Admin</a:t>
            </a:r>
            <a:endParaRPr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/Master)</a:t>
            </a:r>
            <a:endParaRPr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491" name="Google Shape;491;p39"/>
          <p:cNvSpPr/>
          <p:nvPr/>
        </p:nvSpPr>
        <p:spPr>
          <a:xfrm>
            <a:off x="10901995" y="3998426"/>
            <a:ext cx="903317" cy="1088967"/>
          </a:xfrm>
          <a:prstGeom prst="rect">
            <a:avLst/>
          </a:prstGeom>
          <a:solidFill>
            <a:srgbClr val="D9EAD3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 smtClean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기록</a:t>
            </a:r>
            <a:endParaRPr lang="en-US" altLang="ko-KR" sz="1600" dirty="0" smtClean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 dirty="0" smtClean="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페이지</a:t>
            </a:r>
            <a:endParaRPr sz="1600" dirty="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cxnSp>
        <p:nvCxnSpPr>
          <p:cNvPr id="492" name="Google Shape;492;p39"/>
          <p:cNvCxnSpPr>
            <a:stCxn id="488" idx="3"/>
            <a:endCxn id="486" idx="1"/>
          </p:cNvCxnSpPr>
          <p:nvPr/>
        </p:nvCxnSpPr>
        <p:spPr>
          <a:xfrm rot="10800000" flipH="1">
            <a:off x="7139071" y="3021010"/>
            <a:ext cx="1890600" cy="152190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3" name="Google Shape;493;p39"/>
          <p:cNvCxnSpPr>
            <a:stCxn id="488" idx="3"/>
            <a:endCxn id="494" idx="1"/>
          </p:cNvCxnSpPr>
          <p:nvPr/>
        </p:nvCxnSpPr>
        <p:spPr>
          <a:xfrm>
            <a:off x="7139071" y="4542910"/>
            <a:ext cx="1934400" cy="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94" name="Google Shape;494;p39"/>
          <p:cNvSpPr/>
          <p:nvPr/>
        </p:nvSpPr>
        <p:spPr>
          <a:xfrm>
            <a:off x="9073335" y="3998426"/>
            <a:ext cx="1118331" cy="1088967"/>
          </a:xfrm>
          <a:prstGeom prst="rect">
            <a:avLst/>
          </a:prstGeom>
          <a:solidFill>
            <a:srgbClr val="FCE5CD"/>
          </a:solidFill>
          <a:ln w="19050" cap="flat" cmpd="sng">
            <a:solidFill>
              <a:srgbClr val="054E7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600">
                <a:solidFill>
                  <a:schemeClr val="dk1"/>
                </a:solidFill>
                <a:latin typeface="+mj-lt"/>
                <a:ea typeface="Pretendard Medium" panose="02000603000000020004" pitchFamily="50" charset="-127"/>
                <a:cs typeface="Pretendard Medium" panose="02000603000000020004" pitchFamily="50" charset="-127"/>
                <a:sym typeface="Malgun Gothic"/>
              </a:rPr>
              <a:t>알림내역</a:t>
            </a:r>
            <a:endParaRPr sz="1600">
              <a:solidFill>
                <a:schemeClr val="dk1"/>
              </a:solidFill>
              <a:latin typeface="+mj-lt"/>
              <a:ea typeface="Pretendard Medium" panose="02000603000000020004" pitchFamily="50" charset="-127"/>
              <a:cs typeface="Pretendard Medium" panose="02000603000000020004" pitchFamily="50" charset="-127"/>
              <a:sym typeface="Malgun Gothic"/>
            </a:endParaRPr>
          </a:p>
        </p:txBody>
      </p:sp>
      <p:cxnSp>
        <p:nvCxnSpPr>
          <p:cNvPr id="495" name="Google Shape;495;p39"/>
          <p:cNvCxnSpPr/>
          <p:nvPr/>
        </p:nvCxnSpPr>
        <p:spPr>
          <a:xfrm>
            <a:off x="10191665" y="4542910"/>
            <a:ext cx="680939" cy="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6" name="Google Shape;496;p39"/>
          <p:cNvCxnSpPr>
            <a:stCxn id="494" idx="3"/>
            <a:endCxn id="476" idx="3"/>
          </p:cNvCxnSpPr>
          <p:nvPr/>
        </p:nvCxnSpPr>
        <p:spPr>
          <a:xfrm rot="10800000" flipH="1">
            <a:off x="10191666" y="1497310"/>
            <a:ext cx="600" cy="3045600"/>
          </a:xfrm>
          <a:prstGeom prst="bentConnector3">
            <a:avLst>
              <a:gd name="adj1" fmla="val 38100000"/>
            </a:avLst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7" name="Google Shape;497;p39"/>
          <p:cNvCxnSpPr>
            <a:stCxn id="490" idx="1"/>
            <a:endCxn id="477" idx="3"/>
          </p:cNvCxnSpPr>
          <p:nvPr/>
        </p:nvCxnSpPr>
        <p:spPr>
          <a:xfrm rot="10800000">
            <a:off x="7138946" y="3021175"/>
            <a:ext cx="1905300" cy="281670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8" name="Google Shape;498;p39"/>
          <p:cNvCxnSpPr>
            <a:stCxn id="486" idx="0"/>
            <a:endCxn id="476" idx="2"/>
          </p:cNvCxnSpPr>
          <p:nvPr/>
        </p:nvCxnSpPr>
        <p:spPr>
          <a:xfrm rot="10800000">
            <a:off x="9610671" y="2033487"/>
            <a:ext cx="0" cy="451500"/>
          </a:xfrm>
          <a:prstGeom prst="straightConnector1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499" name="Google Shape;499;p39"/>
          <p:cNvCxnSpPr>
            <a:stCxn id="490" idx="3"/>
            <a:endCxn id="491" idx="2"/>
          </p:cNvCxnSpPr>
          <p:nvPr/>
        </p:nvCxnSpPr>
        <p:spPr>
          <a:xfrm rot="10800000" flipH="1">
            <a:off x="10723418" y="5087275"/>
            <a:ext cx="630300" cy="750600"/>
          </a:xfrm>
          <a:prstGeom prst="bentConnector2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500" name="Google Shape;500;p39"/>
          <p:cNvCxnSpPr>
            <a:stCxn id="472" idx="2"/>
            <a:endCxn id="488" idx="1"/>
          </p:cNvCxnSpPr>
          <p:nvPr/>
        </p:nvCxnSpPr>
        <p:spPr>
          <a:xfrm rot="-5400000" flipH="1">
            <a:off x="4628164" y="3179562"/>
            <a:ext cx="1857900" cy="868800"/>
          </a:xfrm>
          <a:prstGeom prst="bentConnector2">
            <a:avLst/>
          </a:prstGeom>
          <a:noFill/>
          <a:ln w="28575" cap="flat" cmpd="sng">
            <a:solidFill>
              <a:srgbClr val="1E6A9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501" name="Google Shape;501;p39"/>
          <p:cNvSpPr txBox="1"/>
          <p:nvPr/>
        </p:nvSpPr>
        <p:spPr>
          <a:xfrm>
            <a:off x="469900" y="-9521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 – 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Flow</a:t>
            </a: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 </a:t>
            </a:r>
            <a:r>
              <a:rPr lang="ko-KR" sz="1800" dirty="0" err="1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Chart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502" name="Google Shape;502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06259" y="1507057"/>
            <a:ext cx="430129" cy="440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1277" y="1491159"/>
            <a:ext cx="447381" cy="466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3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80527" y="2006803"/>
            <a:ext cx="462910" cy="462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3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91085" y="2014134"/>
            <a:ext cx="460478" cy="455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0476" y="1918422"/>
            <a:ext cx="622222" cy="60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9" title="logoico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p40"/>
          <p:cNvGraphicFramePr/>
          <p:nvPr>
            <p:extLst>
              <p:ext uri="{D42A27DB-BD31-4B8C-83A1-F6EECF244321}">
                <p14:modId xmlns:p14="http://schemas.microsoft.com/office/powerpoint/2010/main" val="287332757"/>
              </p:ext>
            </p:extLst>
          </p:nvPr>
        </p:nvGraphicFramePr>
        <p:xfrm>
          <a:off x="854826" y="1715907"/>
          <a:ext cx="10438175" cy="3930975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66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9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7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대구분</a:t>
                      </a:r>
                      <a:endParaRPr sz="1800" u="none" strike="noStrike" cap="none"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 algn="ctr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중구분</a:t>
                      </a:r>
                      <a:endParaRPr sz="1800" u="none" strike="noStrike" cap="none"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 algn="ctr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설명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 algn="ctr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비고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850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UI/UX 정책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전체 UI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톤 앤 매너</a:t>
                      </a:r>
                      <a:endParaRPr sz="16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AutoNum type="alphaLcPeriod"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Primary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Color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: #E7F3F8 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342900" marR="0" lvl="0" indent="-3429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AutoNum type="alphaLcPeriod"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Secondary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Color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: #0888D4, #054E76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8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구조</a:t>
                      </a:r>
                      <a:endParaRPr sz="16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전체 페이지는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카드형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UI(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Card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Layout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)을 기본 구조로 사용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8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반응형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(모바일, 태블릿, 데스크탑)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모바일 : 375px 기준 태블릿 : 768px 기준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데스크탑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: 1280px 기준 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6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입력 폼, 에러 텍스트, 라벨 위치 통일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12월 1일</a:t>
                      </a:r>
                      <a:endParaRPr sz="16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결정</a:t>
                      </a:r>
                      <a:endParaRPr sz="16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5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공통 컴포넌트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정책</a:t>
                      </a:r>
                      <a:endParaRPr sz="16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버튼·탭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등은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Tailwind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기반 공용 스타일 사용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동일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UI의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중복 개발을 방지한다.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13" name="Google Shape;513;p40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정책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514" name="Google Shape;514;p40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9" name="Google Shape;519;p41"/>
          <p:cNvGraphicFramePr/>
          <p:nvPr>
            <p:extLst>
              <p:ext uri="{D42A27DB-BD31-4B8C-83A1-F6EECF244321}">
                <p14:modId xmlns:p14="http://schemas.microsoft.com/office/powerpoint/2010/main" val="463789120"/>
              </p:ext>
            </p:extLst>
          </p:nvPr>
        </p:nvGraphicFramePr>
        <p:xfrm>
          <a:off x="854826" y="672632"/>
          <a:ext cx="10515600" cy="5567655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66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9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2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대구분</a:t>
                      </a:r>
                      <a:endParaRPr sz="1800" u="none" strike="noStrike" cap="none"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중구분</a:t>
                      </a:r>
                      <a:endParaRPr sz="1800" u="none" strike="noStrike" cap="none"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설명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비고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8350"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저작권</a:t>
                      </a:r>
                      <a:endParaRPr sz="16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정책</a:t>
                      </a:r>
                      <a:endParaRPr sz="16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연락처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E164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formatting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표준으로 진행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Case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1: (+) +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국가코드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+ 지역코드 + 폰 넘버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Case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2: (+) +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국가코드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+ 폰 넘버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통화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ISO 표준으로 진행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Case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1: 국가-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통화명칭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Case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2: 국가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시간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ISO 표준으로 진행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Case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1: 국가-지역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Case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2: 국가-지역-(GMT+09:00)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Case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3: 지역-(GMT+09:00)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375">
                <a:tc row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협업/버전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관리 정책</a:t>
                      </a:r>
                      <a:endParaRPr sz="16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프론트엔드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4인 프로젝트 기준 최소한의 규칙을 적용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브랜치 전략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GitHub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Flow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사용 (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main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직접 수정 금지)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기능 개발 시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feat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/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기능명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브랜치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생성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커밋 메시지 규칙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feat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- 새로운 기능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fix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- 오류 수정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style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- UI 스타일 변경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refactor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-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로직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개선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5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 규칙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모든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PR은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팀원 1명 이상 리뷰 후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merge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20" name="Google Shape;520;p41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정책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521" name="Google Shape;521;p41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6" name="Google Shape;526;p42"/>
          <p:cNvGraphicFramePr/>
          <p:nvPr>
            <p:extLst>
              <p:ext uri="{D42A27DB-BD31-4B8C-83A1-F6EECF244321}">
                <p14:modId xmlns:p14="http://schemas.microsoft.com/office/powerpoint/2010/main" val="4263048540"/>
              </p:ext>
            </p:extLst>
          </p:nvPr>
        </p:nvGraphicFramePr>
        <p:xfrm>
          <a:off x="854826" y="534551"/>
          <a:ext cx="10515600" cy="5801100"/>
        </p:xfrm>
        <a:graphic>
          <a:graphicData uri="http://schemas.openxmlformats.org/drawingml/2006/table">
            <a:tbl>
              <a:tblPr firstRow="1" bandRow="1">
                <a:noFill/>
                <a:tableStyleId>{5F02655C-BE57-43CC-999A-6CFCB148EFB4}</a:tableStyleId>
              </a:tblPr>
              <a:tblGrid>
                <a:gridCol w="1663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52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대구분</a:t>
                      </a:r>
                      <a:endParaRPr sz="1800" u="none" strike="noStrike" cap="none"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중구분</a:t>
                      </a:r>
                      <a:endParaRPr sz="1800" u="none" strike="noStrike" cap="none"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설명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비고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3850">
                <a:tc rowSpan="4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데이터</a:t>
                      </a:r>
                      <a:endParaRPr sz="16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처리 정책</a:t>
                      </a:r>
                      <a:endParaRPr sz="1600" b="1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Firebase</a:t>
                      </a:r>
                      <a:r>
                        <a:rPr lang="ko-KR" sz="16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사용 기준</a:t>
                      </a:r>
                      <a:endParaRPr sz="16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실시간 에너지 사용량 : Realtime Database 활용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시설 점검/고장 신고/방문자 기록 : Firestore 저장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38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로그인 :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FirebaseUI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완전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삽입형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인증 솔루션으로 사용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전화번호 인증 :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Firebase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Authentication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 SDK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385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데이터 상태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관리 규칙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각 요청은 다음 구조로 처리함 → {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isLoading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,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isError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,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data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}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00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시각화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데이터 규칙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Chart.js 데이터는 {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labels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: [],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datasets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: [] } 형식으로 통일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데이터 포맷 혼선을 방하기 위함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355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데이터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보관 정책</a:t>
                      </a:r>
                      <a:endParaRPr sz="16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기록 데이터의 효율적 관리를 위해 다음 기준을 적용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방문자 출입 기록 : 3개월 보관 후 자동 삭제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점검/고장 신고 이력 : 누적 보관(삭제 없음)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신고 사진 업로드 경로 :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Storage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/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faultImages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/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9050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인증 및 접근 권한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Malgun Gothic"/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정책</a:t>
                      </a:r>
                      <a:endParaRPr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Firebase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Auth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기반으로 역할을 구분한다.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권한 분리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Master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(사이트관리자) : 관리 담당자 배정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Admin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(관리자) : 점검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생성·신고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처리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User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(일반 사용자) : 고장 신고 생성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5225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6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보호 라우팅</a:t>
                      </a:r>
                      <a:endParaRPr sz="16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인증 필요 페이지는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ProtectRoute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적용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미로그인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시 로그인 페이지로 이동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27" name="Google Shape;527;p42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정책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528" name="Google Shape;528;p42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3" name="Google Shape;533;p43"/>
          <p:cNvGraphicFramePr/>
          <p:nvPr>
            <p:extLst>
              <p:ext uri="{D42A27DB-BD31-4B8C-83A1-F6EECF244321}">
                <p14:modId xmlns:p14="http://schemas.microsoft.com/office/powerpoint/2010/main" val="201703453"/>
              </p:ext>
            </p:extLst>
          </p:nvPr>
        </p:nvGraphicFramePr>
        <p:xfrm>
          <a:off x="1390061" y="1451674"/>
          <a:ext cx="9396550" cy="4215550"/>
        </p:xfrm>
        <a:graphic>
          <a:graphicData uri="http://schemas.openxmlformats.org/drawingml/2006/table">
            <a:tbl>
              <a:tblPr firstRow="1" bandRow="1">
                <a:noFill/>
                <a:tableStyleId>{CBDB5585-C6D8-41E9-BCA3-ED18A7C1D8B0}</a:tableStyleId>
              </a:tblPr>
              <a:tblGrid>
                <a:gridCol w="55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9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89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번호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상황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문구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Pyeojin Gothic" panose="02000803000000020004" pitchFamily="2" charset="-127"/>
                          <a:ea typeface="Pyeojin Gothic" panose="02000803000000020004" pitchFamily="2" charset="-127"/>
                        </a:rPr>
                        <a:t>처리 시나리오</a:t>
                      </a:r>
                      <a:endParaRPr dirty="0">
                        <a:latin typeface="Pyeojin Gothic" panose="02000803000000020004" pitchFamily="2" charset="-127"/>
                        <a:ea typeface="Pyeojin Gothic" panose="02000803000000020004" pitchFamily="2" charset="-127"/>
                      </a:endParaRPr>
                    </a:p>
                  </a:txBody>
                  <a:tcPr marL="91450" marR="91450" marT="45725" marB="45725" anchor="ctr">
                    <a:lnB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54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4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1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로그인 정보 미 입력 시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“빈 항목이 있습니다.”</a:t>
                      </a:r>
                      <a:endParaRPr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Alert로 #000000색 문구 출력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63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2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아이디 또는 비번이 틀렸을 시</a:t>
                      </a:r>
                      <a:endParaRPr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”아이디 또는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비밀번호가 틀렸 습니다.”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input의 테두리가 “빨간색”으로 바뀌고 바로 하단에 “빨간색 문구” 출력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2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3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권한 설정에서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관리자 비밀번호를 틀렸을 시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“비밀번호가 틀렸습니다.”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input의 테두리가 “빨간색”으로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바뀌고 바로 하단에 “빨간색 문구” 출력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4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건물등록이나 이외의 정보 등록 시 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미 입력 항목이 있을 경우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없음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버튼 비활성화 및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색을 #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AAAAAA로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적용하여 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비활성화를 표현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5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회원가입 시 전화번호입력란에 “-”를 포함했을 경우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400" u="none" strike="noStrike" cap="none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“숫자만 입력해주세요”</a:t>
                      </a:r>
                      <a:endParaRPr sz="1400" u="none" strike="noStrike" cap="none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해당 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input의</a:t>
                      </a: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 테두리가 “</a:t>
                      </a:r>
                      <a:r>
                        <a:rPr lang="ko-KR" sz="1400" u="none" strike="noStrike" cap="none" dirty="0" err="1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빨간색”으로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Malgun Gothic"/>
                        <a:buNone/>
                      </a:pPr>
                      <a:r>
                        <a:rPr lang="ko-KR" sz="1400" u="none" strike="noStrike" cap="none" dirty="0">
                          <a:latin typeface="+mj-lt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바뀌고 바로 하단에 “빨간색 문구” 출력</a:t>
                      </a:r>
                      <a:endParaRPr sz="1400" u="none" strike="noStrike" cap="none" dirty="0">
                        <a:latin typeface="+mj-lt"/>
                        <a:ea typeface="Pretendard Medium" panose="02000603000000020004" pitchFamily="50" charset="-127"/>
                        <a:cs typeface="Pretendard Medium" panose="02000603000000020004" pitchFamily="50" charset="-127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54E7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4" name="Google Shape;534;p43"/>
          <p:cNvSpPr txBox="1"/>
          <p:nvPr/>
        </p:nvSpPr>
        <p:spPr>
          <a:xfrm>
            <a:off x="473074" y="-9796"/>
            <a:ext cx="3611100" cy="5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None/>
            </a:pPr>
            <a:r>
              <a:rPr lang="ko-KR" sz="1800" dirty="0">
                <a:solidFill>
                  <a:schemeClr val="dk1"/>
                </a:solidFill>
                <a:latin typeface="Pyeojin Gothic" panose="02000803000000020004" pitchFamily="2" charset="-127"/>
                <a:ea typeface="Pyeojin Gothic" panose="02000803000000020004" pitchFamily="2" charset="-127"/>
                <a:cs typeface="Malgun Gothic"/>
                <a:sym typeface="Malgun Gothic"/>
              </a:rPr>
              <a:t>설계- 유효성 검사</a:t>
            </a:r>
            <a:endParaRPr sz="1800" dirty="0">
              <a:solidFill>
                <a:schemeClr val="dk1"/>
              </a:solidFill>
              <a:latin typeface="Pyeojin Gothic" panose="02000803000000020004" pitchFamily="2" charset="-127"/>
              <a:ea typeface="Pyeojin Gothic" panose="02000803000000020004" pitchFamily="2" charset="-127"/>
              <a:cs typeface="Malgun Gothic"/>
              <a:sym typeface="Malgun Gothic"/>
            </a:endParaRPr>
          </a:p>
        </p:txBody>
      </p:sp>
      <p:pic>
        <p:nvPicPr>
          <p:cNvPr id="535" name="Google Shape;535;p43" title="logo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800" y="70875"/>
            <a:ext cx="281200" cy="302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2642</Words>
  <Application>Microsoft Office PowerPoint</Application>
  <PresentationFormat>와이드스크린</PresentationFormat>
  <Paragraphs>1072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8" baseType="lpstr">
      <vt:lpstr>Malgun Gothic</vt:lpstr>
      <vt:lpstr>Pretendard Medium</vt:lpstr>
      <vt:lpstr>Pyeojin Gothic</vt:lpstr>
      <vt:lpstr>Malgun Gothic</vt:lpstr>
      <vt:lpstr>Arial</vt:lpstr>
      <vt:lpstr>Pretendard Light</vt:lpstr>
      <vt:lpstr>Office 테마</vt:lpstr>
      <vt:lpstr>PowerPoint 프레젠테이션</vt:lpstr>
      <vt:lpstr>PowerPoint 프레젠테이션</vt:lpstr>
      <vt:lpstr>히스토리</vt:lpstr>
      <vt:lpstr>설계 - 아키텍처 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dw-001</dc:creator>
  <cp:lastModifiedBy>dw-001</cp:lastModifiedBy>
  <cp:revision>10</cp:revision>
  <dcterms:modified xsi:type="dcterms:W3CDTF">2025-12-01T00:58:45Z</dcterms:modified>
</cp:coreProperties>
</file>