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7" r:id="rId4"/>
    <p:sldId id="261" r:id="rId5"/>
    <p:sldId id="268" r:id="rId6"/>
    <p:sldId id="265" r:id="rId7"/>
    <p:sldId id="263" r:id="rId8"/>
    <p:sldId id="269" r:id="rId9"/>
    <p:sldId id="264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AE2E8"/>
    <a:srgbClr val="F0A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EF9A5-0C81-46DA-8DF4-4B017A9E37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287EB4-B529-4C09-A776-6916470F6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3E9B93-55F6-4FF4-9604-B47D94FE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7C27CF-4942-4C47-9A40-B121CD66E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52307F-D806-43F2-B8EA-02CB82AA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278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C00C5-EE49-4948-AB10-4FD80D0C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96BFCD-B156-4CC4-B46D-9A55C4247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5CB9AC-16B7-42AD-BC01-0DD97C8F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16919A-1863-4872-ACA0-15A41298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82297E-915D-4BB9-A283-1DBFCA25C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00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E0F809-8ABD-4182-B241-0E18714AF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53A40A-CCCA-4929-88AE-006B1348A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F46E2-C856-4B63-8C66-27288B9D4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6B12D0-6BDA-4E58-A20D-D218591B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05AE3E-70C5-46CB-ADB4-EC17BBF23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6970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937BC-F506-4E00-95ED-F3A82E02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A32256-22F9-47F0-8F83-07EF153C9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B9D44C9-FE3F-4A0F-89D2-EFDF0905D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B10F85-6CC5-4D69-99E8-104812102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D6B457-654A-4EA5-BB0D-D1CA30D86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DB30D3-7AE5-4398-A827-A0BF61B9B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573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76964-51FA-402A-82C9-D3BDDF84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918191-E41F-4E79-9146-A650419F9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BFC166-E259-4AB6-8A21-612B5E597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861F77-6DBD-45C2-B3DC-AD77AC1BB3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75F7E73-5C8D-4B02-883A-68CC99F85D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5E2032B-EE95-4F05-B544-7CF3D23F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500040-0176-4258-9AA4-00896E94E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BC7D9E0-F493-4CF4-A2ED-F34E8CCA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434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416D-9A30-44DE-9A33-E022B78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79FF496-D12A-4478-BCE1-287C0D096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8E88B2-1847-49B6-94AE-0938D4307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F1DF2E0-BC59-477B-BCE7-83CDCCF4E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05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69D2A1B-B702-4F07-8E55-D11B194A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B2185AD-2885-470B-9C4C-E11D15E1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53830A-1DED-4DC9-A0F3-F86953D22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0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E92F3-CA8C-438A-B91E-BA5A71786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889273-D2AF-4E4C-90B8-A11C75DA5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AD3624-52EC-49C1-9B4C-D301813E48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FF1452-BE36-4E09-BC50-E5BF9F9FB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17ABB-8220-4E15-BCCE-0908D62A5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AE3A5E-9B67-4201-BD75-1D5D1729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627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2F71DB-C6C5-408B-B642-8CD259A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FF2DA53-52A1-4213-A874-6C577FD98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13F08D-8AB1-4BCB-AD2E-7D8ABE6FFF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E3989C-9503-491A-8B8C-D271A3EF8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50FAB0-A453-49B9-BDA1-E1B0DC1A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42D8B1-21F7-4312-900D-62565ABF1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98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69DAF-D0A0-4886-A3DD-CF0F22E01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46BC7-C880-48F6-B5E6-00853A87D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DE79C-2466-4BC9-A75F-9DF4C30E0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C9999-176D-4F1F-B39D-C14DBFF91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5892AA-B3BE-41AA-B812-5E64D5269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61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81548CB-417C-4BD8-9B59-47403E6EEA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0C1C8D-FB46-4880-BF6E-8D96711C0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271D49-37C2-45D0-B726-6B51433D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A3EF9-DC44-4AD4-998E-189E03D7B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AB35F7-A413-4071-90B4-5CF9D5B0B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658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91445CE-9D67-4BEE-93B4-BEA9F20F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116F94-4E3B-4CE4-8E34-7D0D2EEBF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B86691-C295-4E1E-9AF7-5F1D3EF5D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2DBC7-E752-4E4F-8B3C-84FCBF39FA17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B7B4D-1D34-4706-81B2-267136D56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EFB1E1-9E89-4275-BF70-93A11D91E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9B7861-D9F3-4E99-A168-A0F86F1D4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418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D62B84A-3CA8-4ED7-89BF-E1B7887051E4}"/>
              </a:ext>
            </a:extLst>
          </p:cNvPr>
          <p:cNvSpPr/>
          <p:nvPr/>
        </p:nvSpPr>
        <p:spPr>
          <a:xfrm>
            <a:off x="3541465" y="1001786"/>
            <a:ext cx="4840448" cy="26341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PHC </a:t>
            </a:r>
            <a:r>
              <a:rPr lang="ko-KR" altLang="en-US" dirty="0" smtClean="0">
                <a:solidFill>
                  <a:schemeClr val="tx1"/>
                </a:solidFill>
              </a:rPr>
              <a:t>감시단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8B6020AB-2BDF-4A38-A3C0-29D487CEC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794631"/>
              </p:ext>
            </p:extLst>
          </p:nvPr>
        </p:nvGraphicFramePr>
        <p:xfrm>
          <a:off x="3541464" y="3871568"/>
          <a:ext cx="4840448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20224">
                  <a:extLst>
                    <a:ext uri="{9D8B030D-6E8A-4147-A177-3AD203B41FA5}">
                      <a16:colId xmlns:a16="http://schemas.microsoft.com/office/drawing/2014/main" val="4074285381"/>
                    </a:ext>
                  </a:extLst>
                </a:gridCol>
                <a:gridCol w="2420224">
                  <a:extLst>
                    <a:ext uri="{9D8B030D-6E8A-4147-A177-3AD203B41FA5}">
                      <a16:colId xmlns:a16="http://schemas.microsoft.com/office/drawing/2014/main" val="2772484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버전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6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작성일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2026.03.23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284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소속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5Drone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146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작성자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169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671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FDBAA-E915-42FD-99F1-481D05B05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932D5859-AF5A-4796-9446-3AA4627629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7362011"/>
              </p:ext>
            </p:extLst>
          </p:nvPr>
        </p:nvGraphicFramePr>
        <p:xfrm>
          <a:off x="381000" y="1435659"/>
          <a:ext cx="11331388" cy="507271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65104">
                  <a:extLst>
                    <a:ext uri="{9D8B030D-6E8A-4147-A177-3AD203B41FA5}">
                      <a16:colId xmlns:a16="http://schemas.microsoft.com/office/drawing/2014/main" val="1427851512"/>
                    </a:ext>
                  </a:extLst>
                </a:gridCol>
                <a:gridCol w="2442817">
                  <a:extLst>
                    <a:ext uri="{9D8B030D-6E8A-4147-A177-3AD203B41FA5}">
                      <a16:colId xmlns:a16="http://schemas.microsoft.com/office/drawing/2014/main" val="3386957089"/>
                    </a:ext>
                  </a:extLst>
                </a:gridCol>
                <a:gridCol w="4567453">
                  <a:extLst>
                    <a:ext uri="{9D8B030D-6E8A-4147-A177-3AD203B41FA5}">
                      <a16:colId xmlns:a16="http://schemas.microsoft.com/office/drawing/2014/main" val="2839580860"/>
                    </a:ext>
                  </a:extLst>
                </a:gridCol>
                <a:gridCol w="2956014">
                  <a:extLst>
                    <a:ext uri="{9D8B030D-6E8A-4147-A177-3AD203B41FA5}">
                      <a16:colId xmlns:a16="http://schemas.microsoft.com/office/drawing/2014/main" val="3200472879"/>
                    </a:ext>
                  </a:extLst>
                </a:gridCol>
              </a:tblGrid>
              <a:tr h="724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version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작성자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날짜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91841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1.0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03205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3869317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97913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484859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129387"/>
                  </a:ext>
                </a:extLst>
              </a:tr>
              <a:tr h="7246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449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5940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93F6F58-31B8-4F4C-869F-D0F5B43B3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0000480"/>
              </p:ext>
            </p:extLst>
          </p:nvPr>
        </p:nvGraphicFramePr>
        <p:xfrm>
          <a:off x="871451" y="543452"/>
          <a:ext cx="10515600" cy="586843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33180844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43430728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398417252"/>
                    </a:ext>
                  </a:extLst>
                </a:gridCol>
                <a:gridCol w="1613881">
                  <a:extLst>
                    <a:ext uri="{9D8B030D-6E8A-4147-A177-3AD203B41FA5}">
                      <a16:colId xmlns:a16="http://schemas.microsoft.com/office/drawing/2014/main" val="2258252386"/>
                    </a:ext>
                  </a:extLst>
                </a:gridCol>
                <a:gridCol w="3253394">
                  <a:extLst>
                    <a:ext uri="{9D8B030D-6E8A-4147-A177-3AD203B41FA5}">
                      <a16:colId xmlns:a16="http://schemas.microsoft.com/office/drawing/2014/main" val="1566668642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557583394"/>
                    </a:ext>
                  </a:extLst>
                </a:gridCol>
              </a:tblGrid>
              <a:tr h="4125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대메뉴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중메뉴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화면</a:t>
                      </a:r>
                      <a:r>
                        <a:rPr lang="en-US" altLang="ko-KR">
                          <a:solidFill>
                            <a:schemeClr val="bg1"/>
                          </a:solidFill>
                        </a:rPr>
                        <a:t>ID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페이지제목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비고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861132"/>
                  </a:ext>
                </a:extLst>
              </a:tr>
              <a:tr h="14657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메인</a:t>
                      </a:r>
                      <a:endParaRPr lang="en-US" altLang="ko-KR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PHC-MA-01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MainSign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(</a:t>
                      </a:r>
                      <a:r>
                        <a:rPr lang="ko-KR" altLang="en-US" sz="1600" dirty="0" smtClean="0"/>
                        <a:t>로그인</a:t>
                      </a:r>
                      <a:r>
                        <a:rPr lang="en-US" altLang="ko-KR" sz="1600" dirty="0" smtClean="0"/>
                        <a:t>)</a:t>
                      </a:r>
                      <a:r>
                        <a:rPr lang="ko-KR" altLang="en-US" sz="1600" dirty="0" smtClean="0"/>
                        <a:t>메인 페이지에서 반려동물 상태 요약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알림 요약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최근 이벤트 정보를 통합 조회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950660"/>
                  </a:ext>
                </a:extLst>
              </a:tr>
              <a:tr h="5611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메인</a:t>
                      </a:r>
                      <a:r>
                        <a:rPr lang="en-US" altLang="ko-KR" sz="1600" dirty="0" smtClean="0"/>
                        <a:t>(</a:t>
                      </a:r>
                      <a:r>
                        <a:rPr lang="ko-KR" altLang="en-US" sz="1600" dirty="0" err="1" smtClean="0"/>
                        <a:t>비로그인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PHC-MA-02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MainNonSign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 smtClean="0"/>
                        <a:t>비로그인</a:t>
                      </a:r>
                      <a:r>
                        <a:rPr lang="ko-KR" altLang="en-US" sz="1600" dirty="0" smtClean="0"/>
                        <a:t> 상태로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화면 표시 내용을 제한적으로 공개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447572"/>
                  </a:ext>
                </a:extLst>
              </a:tr>
              <a:tr h="439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로그인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회원가입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PHC-LO-01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SignUp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127239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로그인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로그인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PHC-LO-02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SignIn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43203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랜딩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PHC-LA-01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Landing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3975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상태 데이터 표시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PHC-DA-01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DashStatus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상태 데이터를 반영한 영상 대시보드를 제공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45608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사료급여 피드백 </a:t>
                      </a:r>
                      <a:r>
                        <a:rPr lang="en-US" altLang="ko-KR" sz="1600" dirty="0"/>
                        <a:t>UI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PHC-DA-02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FeedResult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사료 급여 명령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즉시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예약</a:t>
                      </a:r>
                      <a:r>
                        <a:rPr lang="en-US" altLang="ko-KR" sz="1600" dirty="0"/>
                        <a:t>) </a:t>
                      </a:r>
                      <a:r>
                        <a:rPr lang="ko-KR" altLang="en-US" sz="1600" dirty="0"/>
                        <a:t>전송 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결과에 대한 피드백 </a:t>
                      </a:r>
                      <a:r>
                        <a:rPr lang="en-US" altLang="ko-KR" sz="1600" dirty="0"/>
                        <a:t>UI </a:t>
                      </a:r>
                      <a:r>
                        <a:rPr lang="ko-KR" altLang="en-US" sz="1600" dirty="0"/>
                        <a:t>제공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305855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갤러리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목록</a:t>
                      </a:r>
                      <a:endParaRPr lang="en-US" altLang="ko-K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PHC-GA-01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GAList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258641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갤러리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상세보기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PHC-GA-02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GADetail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494045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화면 목록</a:t>
            </a:r>
          </a:p>
        </p:txBody>
      </p:sp>
    </p:spTree>
    <p:extLst>
      <p:ext uri="{BB962C8B-B14F-4D97-AF65-F5344CB8AC3E}">
        <p14:creationId xmlns:p14="http://schemas.microsoft.com/office/powerpoint/2010/main" val="2501035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93F6F58-31B8-4F4C-869F-D0F5B43B3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9334728"/>
              </p:ext>
            </p:extLst>
          </p:nvPr>
        </p:nvGraphicFramePr>
        <p:xfrm>
          <a:off x="538942" y="565955"/>
          <a:ext cx="10515600" cy="6078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33180844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43430728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398417252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2258252386"/>
                    </a:ext>
                  </a:extLst>
                </a:gridCol>
                <a:gridCol w="3582670">
                  <a:extLst>
                    <a:ext uri="{9D8B030D-6E8A-4147-A177-3AD203B41FA5}">
                      <a16:colId xmlns:a16="http://schemas.microsoft.com/office/drawing/2014/main" val="1566668642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557583394"/>
                    </a:ext>
                  </a:extLst>
                </a:gridCol>
              </a:tblGrid>
              <a:tr h="6577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대메뉴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중메뉴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화면</a:t>
                      </a:r>
                      <a:r>
                        <a:rPr lang="en-US" altLang="ko-KR">
                          <a:solidFill>
                            <a:schemeClr val="bg1"/>
                          </a:solidFill>
                        </a:rPr>
                        <a:t>ID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페이지제목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비고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861132"/>
                  </a:ext>
                </a:extLst>
              </a:tr>
              <a:tr h="439719"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펫관리</a:t>
                      </a:r>
                      <a:endParaRPr lang="ko-KR" altLang="en-US" sz="16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PHC-PE-01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PetMain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950660"/>
                  </a:ext>
                </a:extLst>
              </a:tr>
              <a:tr h="439719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0382781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펫관리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알림기록관리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PHC-PE-02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AlertRecord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127239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펫관리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조치기록관리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PHC-PE-03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/>
                        <a:t>ActionRecord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43203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환경설정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마이페이지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PHC-SE-01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MyPage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로그인한 사용자의 계정 정보 조회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이메일 확인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비밀번호 변경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3975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반려동물관리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PHC-SE-02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PetPage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사용자 계정에 등록된 반려동물 목록과 선택 개체의 상세 정보 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45608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디바이스관리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PHC-SE-03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DevicePage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등록된 디바이스의 연결 상태를 조회하고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기기 위치 등 설정 정보 업데이트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305855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이벤트 및 </a:t>
                      </a:r>
                      <a:r>
                        <a:rPr lang="ko-KR" altLang="en-US" sz="1600" dirty="0" err="1"/>
                        <a:t>알림관리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PHC-SE-04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AlertPage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사용자가 이벤트 발생 조건과 알림 수신 여부를 설정</a:t>
                      </a:r>
                      <a:r>
                        <a:rPr lang="en-US" altLang="ko-KR" sz="1600" dirty="0"/>
                        <a:t>. </a:t>
                      </a:r>
                      <a:r>
                        <a:rPr lang="ko-KR" altLang="en-US" sz="1600" dirty="0"/>
                        <a:t>알림 수신 여부는 개별 이벤트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일괄 </a:t>
                      </a:r>
                      <a:r>
                        <a:rPr lang="en-US" altLang="ko-KR" sz="1600" dirty="0"/>
                        <a:t>on/off</a:t>
                      </a:r>
                      <a:r>
                        <a:rPr lang="ko-KR" altLang="en-US" sz="1600" dirty="0"/>
                        <a:t>로 구분</a:t>
                      </a:r>
                      <a:r>
                        <a:rPr lang="en-US" altLang="ko-KR" sz="1600" dirty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258641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PHC-AD-01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AdPetData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관리자가 전체 반려동물 데이터를 조회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상세 조회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수정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삭제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494045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화면 목록</a:t>
            </a:r>
          </a:p>
        </p:txBody>
      </p:sp>
    </p:spTree>
    <p:extLst>
      <p:ext uri="{BB962C8B-B14F-4D97-AF65-F5344CB8AC3E}">
        <p14:creationId xmlns:p14="http://schemas.microsoft.com/office/powerpoint/2010/main" val="3597388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93F6F58-31B8-4F4C-869F-D0F5B43B3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3416339"/>
              </p:ext>
            </p:extLst>
          </p:nvPr>
        </p:nvGraphicFramePr>
        <p:xfrm>
          <a:off x="829887" y="543452"/>
          <a:ext cx="10515600" cy="4497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33180844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43430728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398417252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2258252386"/>
                    </a:ext>
                  </a:extLst>
                </a:gridCol>
                <a:gridCol w="3582670">
                  <a:extLst>
                    <a:ext uri="{9D8B030D-6E8A-4147-A177-3AD203B41FA5}">
                      <a16:colId xmlns:a16="http://schemas.microsoft.com/office/drawing/2014/main" val="1566668642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557583394"/>
                    </a:ext>
                  </a:extLst>
                </a:gridCol>
              </a:tblGrid>
              <a:tr h="7008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대메뉴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</a:rPr>
                        <a:t>중메뉴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화면</a:t>
                      </a:r>
                      <a:r>
                        <a:rPr lang="en-US" altLang="ko-KR">
                          <a:solidFill>
                            <a:schemeClr val="bg1"/>
                          </a:solidFill>
                        </a:rPr>
                        <a:t>ID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페이지제목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861132"/>
                  </a:ext>
                </a:extLst>
              </a:tr>
              <a:tr h="36764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권한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PHC-AD-02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/>
                        <a:t>AdRole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관리자가 사용자의 권한을 관리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600" dirty="0" smtClean="0"/>
                        <a:t>(</a:t>
                      </a:r>
                      <a:r>
                        <a:rPr lang="ko-KR" altLang="en-US" sz="1600" dirty="0" smtClean="0"/>
                        <a:t>관리자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일반사용자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err="1" smtClean="0"/>
                        <a:t>휴면사용자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95066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PHC-SI-01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Simulation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127239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43203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39750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45608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305855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258641"/>
                  </a:ext>
                </a:extLst>
              </a:tr>
              <a:tr h="439719"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494045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화면 목록</a:t>
            </a:r>
          </a:p>
        </p:txBody>
      </p:sp>
    </p:spTree>
    <p:extLst>
      <p:ext uri="{BB962C8B-B14F-4D97-AF65-F5344CB8AC3E}">
        <p14:creationId xmlns:p14="http://schemas.microsoft.com/office/powerpoint/2010/main" val="2023318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5441835-2307-4AB1-9305-7B1BB03EA2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1793034"/>
              </p:ext>
            </p:extLst>
          </p:nvPr>
        </p:nvGraphicFramePr>
        <p:xfrm>
          <a:off x="238124" y="485776"/>
          <a:ext cx="9324977" cy="61331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65622">
                  <a:extLst>
                    <a:ext uri="{9D8B030D-6E8A-4147-A177-3AD203B41FA5}">
                      <a16:colId xmlns:a16="http://schemas.microsoft.com/office/drawing/2014/main" val="126716622"/>
                    </a:ext>
                  </a:extLst>
                </a:gridCol>
                <a:gridCol w="1165622">
                  <a:extLst>
                    <a:ext uri="{9D8B030D-6E8A-4147-A177-3AD203B41FA5}">
                      <a16:colId xmlns:a16="http://schemas.microsoft.com/office/drawing/2014/main" val="1322318634"/>
                    </a:ext>
                  </a:extLst>
                </a:gridCol>
                <a:gridCol w="1165622">
                  <a:extLst>
                    <a:ext uri="{9D8B030D-6E8A-4147-A177-3AD203B41FA5}">
                      <a16:colId xmlns:a16="http://schemas.microsoft.com/office/drawing/2014/main" val="1660694129"/>
                    </a:ext>
                  </a:extLst>
                </a:gridCol>
                <a:gridCol w="1165622">
                  <a:extLst>
                    <a:ext uri="{9D8B030D-6E8A-4147-A177-3AD203B41FA5}">
                      <a16:colId xmlns:a16="http://schemas.microsoft.com/office/drawing/2014/main" val="3708668572"/>
                    </a:ext>
                  </a:extLst>
                </a:gridCol>
                <a:gridCol w="582811">
                  <a:extLst>
                    <a:ext uri="{9D8B030D-6E8A-4147-A177-3AD203B41FA5}">
                      <a16:colId xmlns:a16="http://schemas.microsoft.com/office/drawing/2014/main" val="3735068164"/>
                    </a:ext>
                  </a:extLst>
                </a:gridCol>
                <a:gridCol w="582811">
                  <a:extLst>
                    <a:ext uri="{9D8B030D-6E8A-4147-A177-3AD203B41FA5}">
                      <a16:colId xmlns:a16="http://schemas.microsoft.com/office/drawing/2014/main" val="972816727"/>
                    </a:ext>
                  </a:extLst>
                </a:gridCol>
                <a:gridCol w="603507">
                  <a:extLst>
                    <a:ext uri="{9D8B030D-6E8A-4147-A177-3AD203B41FA5}">
                      <a16:colId xmlns:a16="http://schemas.microsoft.com/office/drawing/2014/main" val="1757301002"/>
                    </a:ext>
                  </a:extLst>
                </a:gridCol>
                <a:gridCol w="562115">
                  <a:extLst>
                    <a:ext uri="{9D8B030D-6E8A-4147-A177-3AD203B41FA5}">
                      <a16:colId xmlns:a16="http://schemas.microsoft.com/office/drawing/2014/main" val="1354470697"/>
                    </a:ext>
                  </a:extLst>
                </a:gridCol>
                <a:gridCol w="1165623">
                  <a:extLst>
                    <a:ext uri="{9D8B030D-6E8A-4147-A177-3AD203B41FA5}">
                      <a16:colId xmlns:a16="http://schemas.microsoft.com/office/drawing/2014/main" val="1865656820"/>
                    </a:ext>
                  </a:extLst>
                </a:gridCol>
                <a:gridCol w="1165622">
                  <a:extLst>
                    <a:ext uri="{9D8B030D-6E8A-4147-A177-3AD203B41FA5}">
                      <a16:colId xmlns:a16="http://schemas.microsoft.com/office/drawing/2014/main" val="1615924769"/>
                    </a:ext>
                  </a:extLst>
                </a:gridCol>
              </a:tblGrid>
              <a:tr h="22805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페이지제목</a:t>
                      </a: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날짜</a:t>
                      </a: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073315"/>
                  </a:ext>
                </a:extLst>
              </a:tr>
              <a:tr h="24036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74975" marR="74975" marT="37488" marB="37488"/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 marL="111621" marR="111621" marT="55810" marB="55810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/>
                        <a:t>요구사항 </a:t>
                      </a:r>
                      <a:r>
                        <a:rPr lang="en-US" altLang="ko-KR" sz="1400" b="1" dirty="0"/>
                        <a:t>ID</a:t>
                      </a:r>
                      <a:endParaRPr lang="ko-KR" altLang="en-US" sz="1400" b="1" dirty="0"/>
                    </a:p>
                  </a:txBody>
                  <a:tcPr marL="111621" marR="111621" marT="55810" marB="55810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 marL="111621" marR="111621" marT="55810" marB="55810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6741847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DC152919-BA68-4457-82D4-23B2A245DB72}"/>
              </a:ext>
            </a:extLst>
          </p:cNvPr>
          <p:cNvSpPr/>
          <p:nvPr/>
        </p:nvSpPr>
        <p:spPr>
          <a:xfrm>
            <a:off x="238124" y="1162050"/>
            <a:ext cx="9324976" cy="5381625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7">
            <a:extLst>
              <a:ext uri="{FF2B5EF4-FFF2-40B4-BE49-F238E27FC236}">
                <a16:creationId xmlns:a16="http://schemas.microsoft.com/office/drawing/2014/main" id="{A084186B-073C-4AFA-B9C8-8B6C37CF4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9331430"/>
              </p:ext>
            </p:extLst>
          </p:nvPr>
        </p:nvGraphicFramePr>
        <p:xfrm>
          <a:off x="9648824" y="485774"/>
          <a:ext cx="2143126" cy="55795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1">
                  <a:extLst>
                    <a:ext uri="{9D8B030D-6E8A-4147-A177-3AD203B41FA5}">
                      <a16:colId xmlns:a16="http://schemas.microsoft.com/office/drawing/2014/main" val="2466592032"/>
                    </a:ext>
                  </a:extLst>
                </a:gridCol>
                <a:gridCol w="1819275">
                  <a:extLst>
                    <a:ext uri="{9D8B030D-6E8A-4147-A177-3AD203B41FA5}">
                      <a16:colId xmlns:a16="http://schemas.microsoft.com/office/drawing/2014/main" val="2680353031"/>
                    </a:ext>
                  </a:extLst>
                </a:gridCol>
              </a:tblGrid>
              <a:tr h="673100">
                <a:tc gridSpan="2"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4605823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1802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107886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465595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70210"/>
                  </a:ext>
                </a:extLst>
              </a:tr>
              <a:tr h="42489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Check Point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501113"/>
                  </a:ext>
                </a:extLst>
              </a:tr>
              <a:tr h="673100">
                <a:tc gridSpan="2"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886630"/>
                  </a:ext>
                </a:extLst>
              </a:tr>
              <a:tr h="44300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Related ID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663461"/>
                  </a:ext>
                </a:extLst>
              </a:tr>
              <a:tr h="673100">
                <a:tc gridSpan="2">
                  <a:txBody>
                    <a:bodyPr/>
                    <a:lstStyle/>
                    <a:p>
                      <a:pPr latinLnBrk="1"/>
                      <a:endParaRPr lang="en-US" altLang="ko-KR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536753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238124" y="-22496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</a:t>
            </a:r>
            <a:r>
              <a:rPr lang="en-US" altLang="ko-KR" sz="1800" dirty="0"/>
              <a:t>- UI/UX</a:t>
            </a:r>
            <a:r>
              <a:rPr lang="ko-KR" altLang="en-US" sz="18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1871755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B8D3F86-825C-4406-8BA9-3FB201B06D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0263769"/>
              </p:ext>
            </p:extLst>
          </p:nvPr>
        </p:nvGraphicFramePr>
        <p:xfrm>
          <a:off x="838200" y="1021822"/>
          <a:ext cx="10515600" cy="48143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71625">
                  <a:extLst>
                    <a:ext uri="{9D8B030D-6E8A-4147-A177-3AD203B41FA5}">
                      <a16:colId xmlns:a16="http://schemas.microsoft.com/office/drawing/2014/main" val="188301874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510901609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756399835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190506336"/>
                    </a:ext>
                  </a:extLst>
                </a:gridCol>
              </a:tblGrid>
              <a:tr h="435214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err="1"/>
                        <a:t>대구분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err="1"/>
                        <a:t>중구분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63397"/>
                  </a:ext>
                </a:extLst>
              </a:tr>
              <a:tr h="663840">
                <a:tc rowSpan="5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저작권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정책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국가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북한을 제외한 모든 국가 선택 가능</a:t>
                      </a: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지원언어는 한국어 </a:t>
                      </a:r>
                      <a:r>
                        <a:rPr lang="en-US" altLang="ko-KR" strike="dblStrike" baseline="0" dirty="0"/>
                        <a:t>/ </a:t>
                      </a:r>
                      <a:r>
                        <a:rPr lang="ko-KR" altLang="en-US" strike="dblStrike" baseline="0" dirty="0"/>
                        <a:t>영어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22250"/>
                  </a:ext>
                </a:extLst>
              </a:tr>
              <a:tr h="663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위치지도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국내 카카오 </a:t>
                      </a:r>
                      <a:r>
                        <a:rPr lang="ko-KR" altLang="en-US" dirty="0" err="1"/>
                        <a:t>맵과</a:t>
                      </a:r>
                      <a:r>
                        <a:rPr lang="ko-KR" altLang="en-US" dirty="0"/>
                        <a:t> 연동 </a:t>
                      </a:r>
                      <a:r>
                        <a:rPr lang="en-US" altLang="ko-KR" dirty="0"/>
                        <a:t>(( </a:t>
                      </a:r>
                      <a:r>
                        <a:rPr lang="ko-KR" altLang="en-US" u="sng" dirty="0" err="1"/>
                        <a:t>카카오맵</a:t>
                      </a:r>
                      <a:r>
                        <a:rPr lang="ko-KR" altLang="en-US" u="sng" dirty="0"/>
                        <a:t> 혹은 </a:t>
                      </a:r>
                      <a:r>
                        <a:rPr lang="ko-KR" altLang="en-US" u="sng" dirty="0" err="1"/>
                        <a:t>구글맵</a:t>
                      </a:r>
                      <a:r>
                        <a:rPr lang="en-US" altLang="ko-KR" dirty="0"/>
                        <a:t>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68589"/>
                  </a:ext>
                </a:extLst>
              </a:tr>
              <a:tr h="948342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연락처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/>
                        <a:t>E164 formatting </a:t>
                      </a:r>
                      <a:r>
                        <a:rPr lang="ko-KR" altLang="en-US" dirty="0"/>
                        <a:t>표준으로 진행</a:t>
                      </a: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trike="dblStrike" baseline="0" dirty="0"/>
                        <a:t>Case 1: </a:t>
                      </a:r>
                      <a:r>
                        <a:rPr lang="en-US" altLang="ko-KR" strike="dblStrike" baseline="0" dirty="0">
                          <a:sym typeface="Wingdings" panose="05000000000000000000" pitchFamily="2" charset="2"/>
                        </a:rPr>
                        <a:t>(+) + </a:t>
                      </a:r>
                      <a:r>
                        <a:rPr lang="ko-KR" altLang="en-US" strike="dblStrike" baseline="0" dirty="0">
                          <a:sym typeface="Wingdings" panose="05000000000000000000" pitchFamily="2" charset="2"/>
                        </a:rPr>
                        <a:t>국가코드 </a:t>
                      </a:r>
                      <a:r>
                        <a:rPr lang="en-US" altLang="ko-KR" strike="dblStrike" baseline="0" dirty="0">
                          <a:sym typeface="Wingdings" panose="05000000000000000000" pitchFamily="2" charset="2"/>
                        </a:rPr>
                        <a:t>+ </a:t>
                      </a:r>
                      <a:r>
                        <a:rPr lang="ko-KR" altLang="en-US" strike="dblStrike" baseline="0" dirty="0">
                          <a:sym typeface="Wingdings" panose="05000000000000000000" pitchFamily="2" charset="2"/>
                        </a:rPr>
                        <a:t>지역코드 </a:t>
                      </a:r>
                      <a:r>
                        <a:rPr lang="en-US" altLang="ko-KR" strike="dblStrike" baseline="0" dirty="0">
                          <a:sym typeface="Wingdings" panose="05000000000000000000" pitchFamily="2" charset="2"/>
                        </a:rPr>
                        <a:t>+ </a:t>
                      </a:r>
                      <a:r>
                        <a:rPr lang="ko-KR" altLang="en-US" strike="dblStrike" baseline="0" dirty="0">
                          <a:sym typeface="Wingdings" panose="05000000000000000000" pitchFamily="2" charset="2"/>
                        </a:rPr>
                        <a:t>폰 넘버</a:t>
                      </a:r>
                      <a:endParaRPr lang="en-US" altLang="ko-KR" strike="dblStrike" baseline="0" dirty="0">
                        <a:sym typeface="Wingdings" panose="05000000000000000000" pitchFamily="2" charset="2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>
                          <a:sym typeface="Wingdings" panose="05000000000000000000" pitchFamily="2" charset="2"/>
                        </a:rPr>
                        <a:t>Case 2: (+) + </a:t>
                      </a:r>
                      <a:r>
                        <a:rPr lang="ko-KR" altLang="en-US" dirty="0">
                          <a:sym typeface="Wingdings" panose="05000000000000000000" pitchFamily="2" charset="2"/>
                        </a:rPr>
                        <a:t>국가코드 </a:t>
                      </a:r>
                      <a:r>
                        <a:rPr lang="en-US" altLang="ko-KR" dirty="0">
                          <a:sym typeface="Wingdings" panose="05000000000000000000" pitchFamily="2" charset="2"/>
                        </a:rPr>
                        <a:t>+ </a:t>
                      </a:r>
                      <a:r>
                        <a:rPr lang="ko-KR" altLang="en-US" dirty="0">
                          <a:sym typeface="Wingdings" panose="05000000000000000000" pitchFamily="2" charset="2"/>
                        </a:rPr>
                        <a:t>폰 넘버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안 채택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733710"/>
                  </a:ext>
                </a:extLst>
              </a:tr>
              <a:tr h="435214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통화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trike="dblStrike" baseline="0" dirty="0"/>
                        <a:t>ISO </a:t>
                      </a:r>
                      <a:r>
                        <a:rPr lang="ko-KR" altLang="en-US" strike="dblStrike" baseline="0" dirty="0"/>
                        <a:t>표준으로 진행</a:t>
                      </a:r>
                      <a:endParaRPr lang="en-US" altLang="ko-KR" strike="dblStrike" baseline="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trike="dblStrike" baseline="0" dirty="0"/>
                        <a:t>Case</a:t>
                      </a:r>
                      <a:r>
                        <a:rPr lang="ko-KR" altLang="en-US" strike="dblStrike" baseline="0" dirty="0"/>
                        <a:t> </a:t>
                      </a:r>
                      <a:r>
                        <a:rPr lang="en-US" altLang="ko-KR" strike="dblStrike" baseline="0" dirty="0"/>
                        <a:t>1:</a:t>
                      </a:r>
                      <a:r>
                        <a:rPr lang="ko-KR" altLang="en-US" strike="dblStrike" baseline="0" dirty="0"/>
                        <a:t> 국가</a:t>
                      </a:r>
                      <a:r>
                        <a:rPr lang="en-US" altLang="ko-KR" strike="dblStrike" baseline="0" dirty="0"/>
                        <a:t>-</a:t>
                      </a:r>
                      <a:r>
                        <a:rPr lang="ko-KR" altLang="en-US" strike="dblStrike" baseline="0" dirty="0"/>
                        <a:t>통화명칭</a:t>
                      </a:r>
                      <a:endParaRPr lang="en-US" altLang="ko-KR" strike="dblStrike" baseline="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trike="dblStrike" baseline="0" dirty="0"/>
                        <a:t>Case 2: </a:t>
                      </a:r>
                      <a:r>
                        <a:rPr lang="ko-KR" altLang="en-US" strike="dblStrike" baseline="0" dirty="0"/>
                        <a:t>국가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안 채택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87731"/>
                  </a:ext>
                </a:extLst>
              </a:tr>
              <a:tr h="435214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타임존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/>
                        <a:t>ISO </a:t>
                      </a:r>
                      <a:r>
                        <a:rPr lang="ko-KR" altLang="en-US" dirty="0"/>
                        <a:t>표준으로 진행</a:t>
                      </a: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/>
                        <a:t>Case 1: </a:t>
                      </a:r>
                      <a:r>
                        <a:rPr lang="ko-KR" altLang="en-US" dirty="0"/>
                        <a:t>국가</a:t>
                      </a:r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지역</a:t>
                      </a: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/>
                        <a:t>Case 2: </a:t>
                      </a:r>
                      <a:r>
                        <a:rPr lang="ko-KR" altLang="en-US" dirty="0"/>
                        <a:t>국가</a:t>
                      </a:r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-(GMT+09:00)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dirty="0"/>
                        <a:t>Case 3: </a:t>
                      </a:r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-(GMT+09:00)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안 채택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222853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정책</a:t>
            </a:r>
          </a:p>
        </p:txBody>
      </p:sp>
    </p:spTree>
    <p:extLst>
      <p:ext uri="{BB962C8B-B14F-4D97-AF65-F5344CB8AC3E}">
        <p14:creationId xmlns:p14="http://schemas.microsoft.com/office/powerpoint/2010/main" val="4030166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B8D3F86-825C-4406-8BA9-3FB201B06D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9026917"/>
              </p:ext>
            </p:extLst>
          </p:nvPr>
        </p:nvGraphicFramePr>
        <p:xfrm>
          <a:off x="755073" y="529951"/>
          <a:ext cx="10515603" cy="606551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71625">
                  <a:extLst>
                    <a:ext uri="{9D8B030D-6E8A-4147-A177-3AD203B41FA5}">
                      <a16:colId xmlns:a16="http://schemas.microsoft.com/office/drawing/2014/main" val="188301874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510901609"/>
                    </a:ext>
                  </a:extLst>
                </a:gridCol>
                <a:gridCol w="5381626">
                  <a:extLst>
                    <a:ext uri="{9D8B030D-6E8A-4147-A177-3AD203B41FA5}">
                      <a16:colId xmlns:a16="http://schemas.microsoft.com/office/drawing/2014/main" val="2756399835"/>
                    </a:ext>
                  </a:extLst>
                </a:gridCol>
                <a:gridCol w="1466852">
                  <a:extLst>
                    <a:ext uri="{9D8B030D-6E8A-4147-A177-3AD203B41FA5}">
                      <a16:colId xmlns:a16="http://schemas.microsoft.com/office/drawing/2014/main" val="1190506336"/>
                    </a:ext>
                  </a:extLst>
                </a:gridCol>
              </a:tblGrid>
              <a:tr h="262883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err="1"/>
                        <a:t>대구분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err="1"/>
                        <a:t>중구분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63397"/>
                  </a:ext>
                </a:extLst>
              </a:tr>
              <a:tr h="1066265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UI/UX </a:t>
                      </a:r>
                      <a:r>
                        <a:rPr lang="ko-KR" altLang="en-US" dirty="0" smtClean="0"/>
                        <a:t>정책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해상도 기준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dirty="0" smtClean="0"/>
                        <a:t>모바일</a:t>
                      </a:r>
                      <a:r>
                        <a:rPr lang="en-US" altLang="ko-KR" dirty="0" smtClean="0"/>
                        <a:t>(iPhone</a:t>
                      </a:r>
                      <a:r>
                        <a:rPr lang="en-US" altLang="ko-KR" baseline="0" dirty="0" smtClean="0"/>
                        <a:t> 14, 393x852px)</a:t>
                      </a:r>
                      <a:r>
                        <a:rPr lang="ko-KR" altLang="en-US" baseline="0" dirty="0" smtClean="0"/>
                        <a:t>을 기본으로 하며</a:t>
                      </a:r>
                      <a:r>
                        <a:rPr lang="en-US" altLang="ko-KR" baseline="0" dirty="0" smtClean="0"/>
                        <a:t>, ??</a:t>
                      </a:r>
                      <a:r>
                        <a:rPr lang="ko-KR" altLang="en-US" baseline="0" dirty="0" err="1" smtClean="0"/>
                        <a:t>반응형</a:t>
                      </a:r>
                      <a:r>
                        <a:rPr lang="ko-KR" altLang="en-US" baseline="0" dirty="0" smtClean="0"/>
                        <a:t> 여부는 팀원의 결정에 따른다</a:t>
                      </a:r>
                      <a:r>
                        <a:rPr lang="en-US" altLang="ko-KR" baseline="0" dirty="0" smtClean="0"/>
                        <a:t>??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baseline="0" dirty="0" smtClean="0"/>
                        <a:t>단</a:t>
                      </a:r>
                      <a:r>
                        <a:rPr lang="en-US" altLang="ko-KR" baseline="0" dirty="0" smtClean="0"/>
                        <a:t>, </a:t>
                      </a:r>
                      <a:r>
                        <a:rPr lang="ko-KR" altLang="en-US" baseline="0" dirty="0" smtClean="0"/>
                        <a:t>관리자 페이지는 예외적으로 </a:t>
                      </a:r>
                      <a:r>
                        <a:rPr lang="ko-KR" altLang="en-US" baseline="0" dirty="0" err="1" smtClean="0"/>
                        <a:t>데스크탑</a:t>
                      </a:r>
                      <a:r>
                        <a:rPr lang="ko-KR" altLang="en-US" baseline="0" dirty="0" smtClean="0"/>
                        <a:t> 전용 페이지로 구성한다</a:t>
                      </a:r>
                      <a:r>
                        <a:rPr lang="en-US" altLang="ko-KR" baseline="0" dirty="0" smtClean="0"/>
                        <a:t>.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22250"/>
                  </a:ext>
                </a:extLst>
              </a:tr>
              <a:tr h="401247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톤앤매너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dirty="0" smtClean="0"/>
                        <a:t>메인 컬러와 서브 컬러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68589"/>
                  </a:ext>
                </a:extLst>
              </a:tr>
              <a:tr h="90938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기술 및 개발 정책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기술 스택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733710"/>
                  </a:ext>
                </a:extLst>
              </a:tr>
              <a:tr h="254397"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협업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버전 </a:t>
                      </a:r>
                      <a:endParaRPr lang="en-US" altLang="ko-KR" dirty="0" smtClean="0"/>
                    </a:p>
                    <a:p>
                      <a:pPr latinLnBrk="1"/>
                      <a:r>
                        <a:rPr lang="ko-KR" altLang="en-US" dirty="0" smtClean="0"/>
                        <a:t>관리 정책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브랜치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dirty="0" smtClean="0"/>
                        <a:t>GitHub</a:t>
                      </a:r>
                      <a:r>
                        <a:rPr lang="ko-KR" altLang="en-US" baseline="0" dirty="0" smtClean="0"/>
                        <a:t> 활용</a:t>
                      </a:r>
                      <a:endParaRPr lang="en-US" altLang="ko-KR" baseline="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87731"/>
                  </a:ext>
                </a:extLst>
              </a:tr>
              <a:tr h="212833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n-US" dirty="0" smtClean="0"/>
                        <a:t>문서 관리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n-US" dirty="0" smtClean="0"/>
                        <a:t>모든 회의록과 일정 관리는 </a:t>
                      </a:r>
                      <a:r>
                        <a:rPr lang="en-US" altLang="ko-KR" dirty="0" smtClean="0"/>
                        <a:t>Notion</a:t>
                      </a:r>
                      <a:r>
                        <a:rPr lang="ko-KR" altLang="en-US" dirty="0" smtClean="0"/>
                        <a:t>을 통해 공유하며</a:t>
                      </a:r>
                      <a:r>
                        <a:rPr lang="en-US" altLang="ko-KR" dirty="0" smtClean="0"/>
                        <a:t>, </a:t>
                      </a:r>
                      <a:r>
                        <a:rPr lang="ko-KR" altLang="en-US" dirty="0" smtClean="0"/>
                        <a:t>최종 산출물은 </a:t>
                      </a:r>
                      <a:r>
                        <a:rPr lang="en-US" altLang="ko-KR" dirty="0" smtClean="0"/>
                        <a:t>GitHub</a:t>
                      </a:r>
                      <a:r>
                        <a:rPr lang="ko-KR" altLang="en-US" dirty="0" smtClean="0"/>
                        <a:t>에 정리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222853"/>
                  </a:ext>
                </a:extLst>
              </a:tr>
              <a:tr h="48715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인증 및 권한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권한 분리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Admin(</a:t>
                      </a:r>
                      <a:r>
                        <a:rPr lang="ko-KR" altLang="en-US" dirty="0" smtClean="0"/>
                        <a:t>관리자</a:t>
                      </a:r>
                      <a:r>
                        <a:rPr lang="en-US" altLang="ko-KR" dirty="0" smtClean="0"/>
                        <a:t>):</a:t>
                      </a:r>
                      <a:r>
                        <a:rPr lang="en-US" altLang="ko-KR" baseline="0" dirty="0" smtClean="0"/>
                        <a:t> </a:t>
                      </a:r>
                      <a:r>
                        <a:rPr lang="ko-KR" altLang="en-US" baseline="0" dirty="0" smtClean="0"/>
                        <a:t>관리 담당자 배정</a:t>
                      </a:r>
                      <a:endParaRPr lang="en-US" altLang="ko-KR" baseline="0" dirty="0" smtClean="0"/>
                    </a:p>
                    <a:p>
                      <a:pPr latinLnBrk="1"/>
                      <a:r>
                        <a:rPr lang="en-US" altLang="ko-KR" dirty="0" smtClean="0"/>
                        <a:t>User(</a:t>
                      </a:r>
                      <a:r>
                        <a:rPr lang="ko-KR" altLang="en-US" dirty="0" smtClean="0"/>
                        <a:t>일반 사용자</a:t>
                      </a:r>
                      <a:r>
                        <a:rPr lang="en-US" altLang="ko-KR" dirty="0" smtClean="0"/>
                        <a:t>): </a:t>
                      </a:r>
                      <a:r>
                        <a:rPr lang="ko-KR" altLang="en-US" dirty="0" smtClean="0"/>
                        <a:t>서비스 이용 및 피드백 제공</a:t>
                      </a:r>
                      <a:endParaRPr lang="en-US" altLang="ko-KR" dirty="0" smtClean="0"/>
                    </a:p>
                    <a:p>
                      <a:pPr latinLnBrk="1"/>
                      <a:r>
                        <a:rPr lang="en-US" altLang="ko-KR" dirty="0" smtClean="0"/>
                        <a:t>Inactive(</a:t>
                      </a:r>
                      <a:r>
                        <a:rPr lang="ko-KR" altLang="en-US" dirty="0" smtClean="0"/>
                        <a:t>휴면 사용자</a:t>
                      </a:r>
                      <a:r>
                        <a:rPr lang="en-US" altLang="ko-KR" dirty="0" smtClean="0"/>
                        <a:t>): </a:t>
                      </a:r>
                      <a:r>
                        <a:rPr lang="ko-KR" altLang="en-US" dirty="0" smtClean="0"/>
                        <a:t>장기 </a:t>
                      </a:r>
                      <a:r>
                        <a:rPr lang="ko-KR" altLang="en-US" dirty="0" err="1" smtClean="0"/>
                        <a:t>미사용자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6030164"/>
                  </a:ext>
                </a:extLst>
              </a:tr>
              <a:tr h="196207"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데이터 보관 정책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로그 보존 기간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dirty="0" smtClean="0"/>
                        <a:t>영상 데이터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en-US" altLang="ko-KR" dirty="0" err="1" smtClean="0"/>
                        <a:t>media_log</a:t>
                      </a:r>
                      <a:r>
                        <a:rPr lang="en-US" altLang="ko-KR" dirty="0" smtClean="0"/>
                        <a:t>)</a:t>
                      </a:r>
                      <a:r>
                        <a:rPr lang="ko-KR" altLang="en-US" dirty="0" smtClean="0"/>
                        <a:t>는 용량 관리를 위해 </a:t>
                      </a:r>
                      <a:r>
                        <a:rPr lang="en-US" altLang="ko-KR" dirty="0" smtClean="0"/>
                        <a:t>7</a:t>
                      </a:r>
                      <a:r>
                        <a:rPr lang="ko-KR" altLang="en-US" dirty="0" smtClean="0"/>
                        <a:t>일간</a:t>
                      </a:r>
                      <a:r>
                        <a:rPr lang="en-US" altLang="ko-KR" dirty="0" smtClean="0"/>
                        <a:t>(?) </a:t>
                      </a:r>
                      <a:r>
                        <a:rPr lang="ko-KR" altLang="en-US" dirty="0" smtClean="0"/>
                        <a:t>보관 후 자동 삭제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140594"/>
                  </a:ext>
                </a:extLst>
              </a:tr>
              <a:tr h="354346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개인정보 처리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dirty="0" smtClean="0"/>
                        <a:t>반려동물 주인의 정보는 암호화 하여 저장하며</a:t>
                      </a:r>
                      <a:r>
                        <a:rPr lang="en-US" altLang="ko-KR" dirty="0" smtClean="0"/>
                        <a:t>, </a:t>
                      </a:r>
                      <a:r>
                        <a:rPr lang="ko-KR" altLang="en-US" dirty="0" smtClean="0"/>
                        <a:t>로그아웃 시 세션을 즉시 만료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856114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정책</a:t>
            </a:r>
          </a:p>
        </p:txBody>
      </p:sp>
    </p:spTree>
    <p:extLst>
      <p:ext uri="{BB962C8B-B14F-4D97-AF65-F5344CB8AC3E}">
        <p14:creationId xmlns:p14="http://schemas.microsoft.com/office/powerpoint/2010/main" val="890247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04934F11-E744-4C2C-811A-C394D4AFEE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4108443"/>
              </p:ext>
            </p:extLst>
          </p:nvPr>
        </p:nvGraphicFramePr>
        <p:xfrm>
          <a:off x="838200" y="1221429"/>
          <a:ext cx="10515600" cy="402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224035850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540567398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1227049327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017462151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2286402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55320764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82408483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07670577"/>
                    </a:ext>
                  </a:extLst>
                </a:gridCol>
              </a:tblGrid>
              <a:tr h="32503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대구분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중구분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보기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쓰기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926583"/>
                  </a:ext>
                </a:extLst>
              </a:tr>
              <a:tr h="325030">
                <a:tc rowSpan="10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페이지별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권한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메인 배너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관리자 계정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807276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디자이너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752608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클라이언트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9311114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회사소개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관리자 계정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378200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디자이너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858236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클라이언트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026433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제품소개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관리자 계정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9492641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디자이너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44623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클라이언트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438375"/>
                  </a:ext>
                </a:extLst>
              </a:tr>
              <a:tr h="32503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276842"/>
                  </a:ext>
                </a:extLst>
              </a:tr>
            </a:tbl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권한</a:t>
            </a:r>
          </a:p>
        </p:txBody>
      </p:sp>
    </p:spTree>
    <p:extLst>
      <p:ext uri="{BB962C8B-B14F-4D97-AF65-F5344CB8AC3E}">
        <p14:creationId xmlns:p14="http://schemas.microsoft.com/office/powerpoint/2010/main" val="3632715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4D6DE18-1C9C-43CB-82E9-B019349A7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997660"/>
              </p:ext>
            </p:extLst>
          </p:nvPr>
        </p:nvGraphicFramePr>
        <p:xfrm>
          <a:off x="1411288" y="1660107"/>
          <a:ext cx="9369424" cy="2842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2356">
                  <a:extLst>
                    <a:ext uri="{9D8B030D-6E8A-4147-A177-3AD203B41FA5}">
                      <a16:colId xmlns:a16="http://schemas.microsoft.com/office/drawing/2014/main" val="574304036"/>
                    </a:ext>
                  </a:extLst>
                </a:gridCol>
                <a:gridCol w="2342356">
                  <a:extLst>
                    <a:ext uri="{9D8B030D-6E8A-4147-A177-3AD203B41FA5}">
                      <a16:colId xmlns:a16="http://schemas.microsoft.com/office/drawing/2014/main" val="537019085"/>
                    </a:ext>
                  </a:extLst>
                </a:gridCol>
                <a:gridCol w="2342356">
                  <a:extLst>
                    <a:ext uri="{9D8B030D-6E8A-4147-A177-3AD203B41FA5}">
                      <a16:colId xmlns:a16="http://schemas.microsoft.com/office/drawing/2014/main" val="1538042651"/>
                    </a:ext>
                  </a:extLst>
                </a:gridCol>
                <a:gridCol w="2342356">
                  <a:extLst>
                    <a:ext uri="{9D8B030D-6E8A-4147-A177-3AD203B41FA5}">
                      <a16:colId xmlns:a16="http://schemas.microsoft.com/office/drawing/2014/main" val="2670803437"/>
                    </a:ext>
                  </a:extLst>
                </a:gridCol>
              </a:tblGrid>
              <a:tr h="2073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상황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문구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처리 시나리오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971312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로그인 정보 미 입력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“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118500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아이디 또는 비번 오류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“</a:t>
                      </a:r>
                      <a:r>
                        <a:rPr lang="ko-KR" altLang="en-US" sz="1400" dirty="0" smtClean="0"/>
                        <a:t>아이디 또는 비밀번호를 확인해주시기 바랍니다</a:t>
                      </a:r>
                      <a:r>
                        <a:rPr lang="en-US" altLang="ko-KR" sz="1400" dirty="0" smtClean="0"/>
                        <a:t>＂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631364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반려동물이 특정 위치에 오랜 시간 머묾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“</a:t>
                      </a:r>
                      <a:r>
                        <a:rPr lang="ko-KR" altLang="en-US" sz="1400" dirty="0" smtClean="0"/>
                        <a:t>반려동물이 부릅니다</a:t>
                      </a:r>
                      <a:r>
                        <a:rPr lang="en-US" altLang="ko-KR" sz="1400" dirty="0" smtClean="0"/>
                        <a:t>!”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반려동물 </a:t>
                      </a:r>
                      <a:r>
                        <a:rPr lang="ko-KR" altLang="en-US" sz="1400" dirty="0" err="1" smtClean="0"/>
                        <a:t>능동알림</a:t>
                      </a:r>
                      <a:r>
                        <a:rPr lang="ko-KR" altLang="en-US" sz="1400" dirty="0" smtClean="0"/>
                        <a:t> 전송</a:t>
                      </a:r>
                      <a:r>
                        <a:rPr lang="en-US" altLang="ko-KR" sz="1400" dirty="0" smtClean="0"/>
                        <a:t>(</a:t>
                      </a:r>
                      <a:r>
                        <a:rPr lang="ko-KR" altLang="en-US" sz="1400" dirty="0" smtClean="0"/>
                        <a:t>사용자 스마트폰으로</a:t>
                      </a:r>
                      <a:r>
                        <a:rPr lang="en-US" altLang="ko-KR" sz="1400" dirty="0" smtClean="0"/>
                        <a:t>)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646237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사료 급여 결과 피드백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“</a:t>
                      </a:r>
                      <a:r>
                        <a:rPr lang="ko-KR" altLang="en-US" sz="1400" dirty="0" smtClean="0"/>
                        <a:t>사료 급여에 성공</a:t>
                      </a:r>
                      <a:r>
                        <a:rPr lang="en-US" altLang="ko-KR" sz="1400" dirty="0" smtClean="0"/>
                        <a:t>/</a:t>
                      </a:r>
                      <a:r>
                        <a:rPr lang="ko-KR" altLang="en-US" sz="1400" dirty="0" smtClean="0"/>
                        <a:t>실패했습니다</a:t>
                      </a:r>
                      <a:r>
                        <a:rPr lang="en-US" altLang="ko-KR" sz="1400" dirty="0" smtClean="0"/>
                        <a:t>”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18615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24318"/>
                  </a:ext>
                </a:extLst>
              </a:tr>
              <a:tr h="32771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948501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47864767-AC6F-412C-A047-E7EAECD9C5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11220" cy="5434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dirty="0"/>
              <a:t>설계 </a:t>
            </a:r>
            <a:r>
              <a:rPr lang="en-US" altLang="ko-KR" sz="1800" dirty="0"/>
              <a:t>– </a:t>
            </a:r>
            <a:r>
              <a:rPr lang="ko-KR" altLang="en-US" sz="1800" dirty="0"/>
              <a:t>유효성 검사</a:t>
            </a:r>
          </a:p>
        </p:txBody>
      </p:sp>
    </p:spTree>
    <p:extLst>
      <p:ext uri="{BB962C8B-B14F-4D97-AF65-F5344CB8AC3E}">
        <p14:creationId xmlns:p14="http://schemas.microsoft.com/office/powerpoint/2010/main" val="3080871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638</Words>
  <Application>Microsoft Office PowerPoint</Application>
  <PresentationFormat>와이드스크린</PresentationFormat>
  <Paragraphs>265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Office 테마</vt:lpstr>
      <vt:lpstr>PowerPoint 프레젠테이션</vt:lpstr>
      <vt:lpstr>히스토리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DW-203</cp:lastModifiedBy>
  <cp:revision>73</cp:revision>
  <dcterms:created xsi:type="dcterms:W3CDTF">2023-07-14T02:26:15Z</dcterms:created>
  <dcterms:modified xsi:type="dcterms:W3CDTF">2026-03-23T00:55:41Z</dcterms:modified>
</cp:coreProperties>
</file>