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7" r:id="rId4"/>
    <p:sldId id="261" r:id="rId5"/>
    <p:sldId id="268" r:id="rId6"/>
    <p:sldId id="269" r:id="rId7"/>
    <p:sldId id="265" r:id="rId8"/>
    <p:sldId id="271" r:id="rId9"/>
    <p:sldId id="272" r:id="rId10"/>
    <p:sldId id="273" r:id="rId11"/>
    <p:sldId id="274" r:id="rId12"/>
    <p:sldId id="275" r:id="rId13"/>
    <p:sldId id="276" r:id="rId14"/>
    <p:sldId id="270" r:id="rId15"/>
    <p:sldId id="277" r:id="rId16"/>
    <p:sldId id="263" r:id="rId17"/>
    <p:sldId id="264" r:id="rId18"/>
    <p:sldId id="266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FAE2E8"/>
    <a:srgbClr val="F0A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BEF9A5-0C81-46DA-8DF4-4B017A9E37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3287EB4-B529-4C09-A776-6916470F61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3E9B93-55F6-4FF4-9604-B47D94FE3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7C27CF-4942-4C47-9A40-B121CD66E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52307F-D806-43F2-B8EA-02CB82AA5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5278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4C00C5-EE49-4948-AB10-4FD80D0CA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96BFCD-B156-4CC4-B46D-9A55C4247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5CB9AC-16B7-42AD-BC01-0DD97C8FA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16919A-1863-4872-ACA0-15A412983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82297E-915D-4BB9-A283-1DBFCA25C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002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E0F809-8ABD-4182-B241-0E18714AF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53A40A-CCCA-4929-88AE-006B1348A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2F46E2-C856-4B63-8C66-27288B9D4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6B12D0-6BDA-4E58-A20D-D218591B9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05AE3E-70C5-46CB-ADB4-EC17BBF23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970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2937BC-F506-4E00-95ED-F3A82E02D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A32256-22F9-47F0-8F83-07EF153C92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B9D44C9-FE3F-4A0F-89D2-EFDF0905D1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4B10F85-6CC5-4D69-99E8-104812102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D6B457-654A-4EA5-BB0D-D1CA30D86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DB30D3-7AE5-4398-A827-A0BF61B9B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573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F76964-51FA-402A-82C9-D3BDDF84C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918191-E41F-4E79-9146-A650419F9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BFC166-E259-4AB6-8A21-612B5E5977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861F77-6DBD-45C2-B3DC-AD77AC1BB3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75F7E73-5C8D-4B02-883A-68CC99F85D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5E2032B-EE95-4F05-B544-7CF3D23F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0500040-0176-4258-9AA4-00896E94E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BC7D9E0-F493-4CF4-A2ED-F34E8CCAC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6434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9D416D-9A30-44DE-9A33-E022B7853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79FF496-D12A-4478-BCE1-287C0D096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8E88B2-1847-49B6-94AE-0938D4307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F1DF2E0-BC59-477B-BCE7-83CDCCF4E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058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69D2A1B-B702-4F07-8E55-D11B194A1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B2185AD-2885-470B-9C4C-E11D15E12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53830A-1DED-4DC9-A0F3-F86953D22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4104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CE92F3-CA8C-438A-B91E-BA5A71786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889273-D2AF-4E4C-90B8-A11C75DA5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AD3624-52EC-49C1-9B4C-D301813E4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FF1452-BE36-4E09-BC50-E5BF9F9FB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2617ABB-8220-4E15-BCCE-0908D62A5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AE3A5E-9B67-4201-BD75-1D5D1729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0627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2F71DB-C6C5-408B-B642-8CD259A5C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FF2DA53-52A1-4213-A874-6C577FD98E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213F08D-8AB1-4BCB-AD2E-7D8ABE6FFF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E3989C-9503-491A-8B8C-D271A3EF8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D50FAB0-A453-49B9-BDA1-E1B0DC1A4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42D8B1-21F7-4312-900D-62565ABF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988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869DAF-D0A0-4886-A3DD-CF0F22E01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B46BC7-C880-48F6-B5E6-00853A87D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DE79C-2466-4BC9-A75F-9DF4C30E0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3C9999-176D-4F1F-B39D-C14DBFF91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5892AA-B3BE-41AA-B812-5E64D5269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061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81548CB-417C-4BD8-9B59-47403E6EEA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0C1C8D-FB46-4880-BF6E-8D96711C0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271D49-37C2-45D0-B726-6B51433DA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7A3EF9-DC44-4AD4-998E-189E03D7B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AB35F7-A413-4071-90B4-5CF9D5B0B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4658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91445CE-9D67-4BEE-93B4-BEA9F20F8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D116F94-4E3B-4CE4-8E34-7D0D2EEBF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B86691-C295-4E1E-9AF7-5F1D3EF5DB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2DBC7-E752-4E4F-8B3C-84FCBF39FA1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8B7B4D-1D34-4706-81B2-267136D564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EFB1E1-9E89-4275-BF70-93A11D91EC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4418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D62B84A-3CA8-4ED7-89BF-E1B7887051E4}"/>
              </a:ext>
            </a:extLst>
          </p:cNvPr>
          <p:cNvSpPr/>
          <p:nvPr/>
        </p:nvSpPr>
        <p:spPr>
          <a:xfrm>
            <a:off x="3541465" y="1001786"/>
            <a:ext cx="4840448" cy="26341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프로젝트명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8B6020AB-2BDF-4A38-A3C0-29D487CECE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865841"/>
              </p:ext>
            </p:extLst>
          </p:nvPr>
        </p:nvGraphicFramePr>
        <p:xfrm>
          <a:off x="3541464" y="3871568"/>
          <a:ext cx="4840448" cy="148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20224">
                  <a:extLst>
                    <a:ext uri="{9D8B030D-6E8A-4147-A177-3AD203B41FA5}">
                      <a16:colId xmlns:a16="http://schemas.microsoft.com/office/drawing/2014/main" val="4074285381"/>
                    </a:ext>
                  </a:extLst>
                </a:gridCol>
                <a:gridCol w="2420224">
                  <a:extLst>
                    <a:ext uri="{9D8B030D-6E8A-4147-A177-3AD203B41FA5}">
                      <a16:colId xmlns:a16="http://schemas.microsoft.com/office/drawing/2014/main" val="2772484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버전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61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작성일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5284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소속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2146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작성자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1697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671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3FDBAA-E915-42FD-99F1-481D05B05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히스토리</a:t>
            </a:r>
          </a:p>
        </p:txBody>
      </p:sp>
      <p:graphicFrame>
        <p:nvGraphicFramePr>
          <p:cNvPr id="8" name="표 8">
            <a:extLst>
              <a:ext uri="{FF2B5EF4-FFF2-40B4-BE49-F238E27FC236}">
                <a16:creationId xmlns:a16="http://schemas.microsoft.com/office/drawing/2014/main" id="{932D5859-AF5A-4796-9446-3AA4627629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7362011"/>
              </p:ext>
            </p:extLst>
          </p:nvPr>
        </p:nvGraphicFramePr>
        <p:xfrm>
          <a:off x="381000" y="1435659"/>
          <a:ext cx="11331388" cy="507271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65104">
                  <a:extLst>
                    <a:ext uri="{9D8B030D-6E8A-4147-A177-3AD203B41FA5}">
                      <a16:colId xmlns:a16="http://schemas.microsoft.com/office/drawing/2014/main" val="1427851512"/>
                    </a:ext>
                  </a:extLst>
                </a:gridCol>
                <a:gridCol w="2442817">
                  <a:extLst>
                    <a:ext uri="{9D8B030D-6E8A-4147-A177-3AD203B41FA5}">
                      <a16:colId xmlns:a16="http://schemas.microsoft.com/office/drawing/2014/main" val="3386957089"/>
                    </a:ext>
                  </a:extLst>
                </a:gridCol>
                <a:gridCol w="4567453">
                  <a:extLst>
                    <a:ext uri="{9D8B030D-6E8A-4147-A177-3AD203B41FA5}">
                      <a16:colId xmlns:a16="http://schemas.microsoft.com/office/drawing/2014/main" val="2839580860"/>
                    </a:ext>
                  </a:extLst>
                </a:gridCol>
                <a:gridCol w="2956014">
                  <a:extLst>
                    <a:ext uri="{9D8B030D-6E8A-4147-A177-3AD203B41FA5}">
                      <a16:colId xmlns:a16="http://schemas.microsoft.com/office/drawing/2014/main" val="3200472879"/>
                    </a:ext>
                  </a:extLst>
                </a:gridCol>
              </a:tblGrid>
              <a:tr h="7246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version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작성자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날짜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691841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1.0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03205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3869317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697913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6484859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129387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449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5940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93F6F58-31B8-4F4C-869F-D0F5B43B3C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8594783"/>
              </p:ext>
            </p:extLst>
          </p:nvPr>
        </p:nvGraphicFramePr>
        <p:xfrm>
          <a:off x="505691" y="543452"/>
          <a:ext cx="10515600" cy="638348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85875">
                  <a:extLst>
                    <a:ext uri="{9D8B030D-6E8A-4147-A177-3AD203B41FA5}">
                      <a16:colId xmlns:a16="http://schemas.microsoft.com/office/drawing/2014/main" val="331808445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434307286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398417252"/>
                    </a:ext>
                  </a:extLst>
                </a:gridCol>
                <a:gridCol w="1613881">
                  <a:extLst>
                    <a:ext uri="{9D8B030D-6E8A-4147-A177-3AD203B41FA5}">
                      <a16:colId xmlns:a16="http://schemas.microsoft.com/office/drawing/2014/main" val="2258252386"/>
                    </a:ext>
                  </a:extLst>
                </a:gridCol>
                <a:gridCol w="3253394">
                  <a:extLst>
                    <a:ext uri="{9D8B030D-6E8A-4147-A177-3AD203B41FA5}">
                      <a16:colId xmlns:a16="http://schemas.microsoft.com/office/drawing/2014/main" val="1566668642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557583394"/>
                    </a:ext>
                  </a:extLst>
                </a:gridCol>
              </a:tblGrid>
              <a:tr h="6577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대메뉴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중메뉴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화면</a:t>
                      </a:r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ID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페이지제목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비고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861132"/>
                  </a:ext>
                </a:extLst>
              </a:tr>
              <a:tr h="879438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Main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Main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PHC-MA-01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Main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로그인 상태에 따라 주요 메뉴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반려동물 상태 요약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알림 요약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최근 이벤트 정보를 통합 제공하는 메인 화면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F-001, F-002 / UR-001~UR-011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950660"/>
                  </a:ext>
                </a:extLst>
              </a:tr>
              <a:tr h="879438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Main(</a:t>
                      </a:r>
                      <a:r>
                        <a:rPr lang="en-US" altLang="ko-KR" sz="1600" dirty="0" err="1" smtClean="0"/>
                        <a:t>NonSignIn</a:t>
                      </a:r>
                      <a:r>
                        <a:rPr lang="en-US" altLang="ko-KR" sz="1600" dirty="0" smtClean="0"/>
                        <a:t>)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PHC-MA-02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Main(N)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 smtClean="0"/>
                        <a:t>비로그인</a:t>
                      </a:r>
                      <a:r>
                        <a:rPr lang="ko-KR" altLang="en-US" sz="1600" dirty="0" smtClean="0"/>
                        <a:t> 상태로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화면 표시 내용을 제한적으로 공개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F-001, F-002 / UR-001~UR-011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2020735"/>
                  </a:ext>
                </a:extLst>
              </a:tr>
              <a:tr h="439719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SignIn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SignUp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PHC-LO-01</a:t>
                      </a:r>
                      <a:endParaRPr lang="ko-KR" altLang="en-US" sz="1600" dirty="0" smtClean="0"/>
                    </a:p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SignUp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사용자 기본정보 입력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err="1" smtClean="0"/>
                        <a:t>필수값</a:t>
                      </a:r>
                      <a:r>
                        <a:rPr lang="ko-KR" altLang="en-US" sz="1600" dirty="0" smtClean="0"/>
                        <a:t> 검증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중복 확인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이메일 인증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가입 완료 안내를 처리하는 화면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F-003, F-004 / UR-012~UR-019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127239"/>
                  </a:ext>
                </a:extLst>
              </a:tr>
              <a:tr h="439719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SignIn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PHC-LO-02</a:t>
                      </a:r>
                      <a:endParaRPr lang="ko-KR" altLang="en-US" sz="1600" dirty="0" smtClean="0"/>
                    </a:p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SignIn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아이디</a:t>
                      </a:r>
                      <a:r>
                        <a:rPr lang="en-US" altLang="ko-KR" sz="1600" dirty="0" smtClean="0"/>
                        <a:t>/</a:t>
                      </a:r>
                      <a:r>
                        <a:rPr lang="ko-KR" altLang="en-US" sz="1600" dirty="0" smtClean="0"/>
                        <a:t>비밀번호를 검증하여 로그인 처리하고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실패 시 오류 메시지와 회원가입 유도 정보를 제공하는 화면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F-005 / UR-020~UR-023, UR-004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432030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Landing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PHC-LA-01</a:t>
                      </a:r>
                      <a:endParaRPr lang="ko-KR" altLang="en-US" sz="1600" dirty="0" smtClean="0"/>
                    </a:p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Landing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서비스 소개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주요 기능 안내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err="1" smtClean="0"/>
                        <a:t>인터랙션</a:t>
                      </a:r>
                      <a:r>
                        <a:rPr lang="ko-KR" altLang="en-US" sz="1600" dirty="0" smtClean="0"/>
                        <a:t> 요소를 통해 사용자의 첫 진입 경험을 제공하는 화면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F-006 / UR-024~UR-027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039750"/>
                  </a:ext>
                </a:extLst>
              </a:tr>
              <a:tr h="8794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DashBoard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PHC-DA-01</a:t>
                      </a:r>
                      <a:endParaRPr lang="ko-KR" altLang="en-US" sz="1600" dirty="0" smtClean="0"/>
                    </a:p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DashBoard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실시간 영상</a:t>
                      </a:r>
                      <a:r>
                        <a:rPr lang="en-US" altLang="ko-KR" sz="1600" dirty="0" smtClean="0"/>
                        <a:t>, PTZ </a:t>
                      </a:r>
                      <a:r>
                        <a:rPr lang="ko-KR" altLang="en-US" sz="1600" dirty="0" smtClean="0"/>
                        <a:t>제어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양방향 오디오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급여 제어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환경 데이터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위험 알림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상태 시각화를 통합 제공하는 핵심 관제 화면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F-018~F-028 / UR-055~UR-074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45608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화면 목록</a:t>
            </a:r>
          </a:p>
        </p:txBody>
      </p:sp>
    </p:spTree>
    <p:extLst>
      <p:ext uri="{BB962C8B-B14F-4D97-AF65-F5344CB8AC3E}">
        <p14:creationId xmlns:p14="http://schemas.microsoft.com/office/powerpoint/2010/main" val="2501035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93F6F58-31B8-4F4C-869F-D0F5B43B3C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83788"/>
              </p:ext>
            </p:extLst>
          </p:nvPr>
        </p:nvGraphicFramePr>
        <p:xfrm>
          <a:off x="538942" y="565955"/>
          <a:ext cx="10515600" cy="415396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39982">
                  <a:extLst>
                    <a:ext uri="{9D8B030D-6E8A-4147-A177-3AD203B41FA5}">
                      <a16:colId xmlns:a16="http://schemas.microsoft.com/office/drawing/2014/main" val="3318084450"/>
                    </a:ext>
                  </a:extLst>
                </a:gridCol>
                <a:gridCol w="1569893">
                  <a:extLst>
                    <a:ext uri="{9D8B030D-6E8A-4147-A177-3AD203B41FA5}">
                      <a16:colId xmlns:a16="http://schemas.microsoft.com/office/drawing/2014/main" val="1434307286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398417252"/>
                    </a:ext>
                  </a:extLst>
                </a:gridCol>
                <a:gridCol w="1284605">
                  <a:extLst>
                    <a:ext uri="{9D8B030D-6E8A-4147-A177-3AD203B41FA5}">
                      <a16:colId xmlns:a16="http://schemas.microsoft.com/office/drawing/2014/main" val="2258252386"/>
                    </a:ext>
                  </a:extLst>
                </a:gridCol>
                <a:gridCol w="3582670">
                  <a:extLst>
                    <a:ext uri="{9D8B030D-6E8A-4147-A177-3AD203B41FA5}">
                      <a16:colId xmlns:a16="http://schemas.microsoft.com/office/drawing/2014/main" val="1566668642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557583394"/>
                    </a:ext>
                  </a:extLst>
                </a:gridCol>
              </a:tblGrid>
              <a:tr h="6577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대메뉴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중메뉴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화면</a:t>
                      </a:r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ID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페이지제목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비고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861132"/>
                  </a:ext>
                </a:extLst>
              </a:tr>
              <a:tr h="439719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Gallery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PHC-GA-01</a:t>
                      </a:r>
                      <a:endParaRPr lang="ko-KR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GalleryList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저장된 하이라이트 이미지</a:t>
                      </a:r>
                      <a:r>
                        <a:rPr lang="en-US" altLang="ko-KR" sz="1600" dirty="0" smtClean="0"/>
                        <a:t>·</a:t>
                      </a:r>
                      <a:r>
                        <a:rPr lang="ko-KR" altLang="en-US" sz="1600" dirty="0" smtClean="0"/>
                        <a:t>영상 목록을 갤러리 형태로 조회하고 조건에 따라 탐색하는 화면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F-007 / UR-028, UR-029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127239"/>
                  </a:ext>
                </a:extLst>
              </a:tr>
              <a:tr h="439719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Detail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PHC-GA-02</a:t>
                      </a:r>
                      <a:endParaRPr lang="ko-KR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GalleryDetail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선택한 미디어의 상세 정보</a:t>
                      </a:r>
                      <a:r>
                        <a:rPr lang="en-US" altLang="ko-K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날짜</a:t>
                      </a:r>
                      <a:r>
                        <a:rPr lang="en-US" altLang="ko-K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이벤트 유형</a:t>
                      </a:r>
                      <a:r>
                        <a:rPr lang="en-US" altLang="ko-K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와 알림</a:t>
                      </a:r>
                      <a:r>
                        <a:rPr lang="en-US" altLang="ko-K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/SNS </a:t>
                      </a:r>
                      <a:r>
                        <a:rPr lang="ko-KR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공유 설정을 확인</a:t>
                      </a:r>
                      <a:r>
                        <a:rPr lang="en-US" altLang="ko-K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처리하는 화면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F-007, F-009 / UR-029~UR-032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432030"/>
                  </a:ext>
                </a:extLst>
              </a:tr>
              <a:tr h="879438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PetManage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PetMain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PHC-PE-01</a:t>
                      </a:r>
                      <a:endParaRPr lang="ko-KR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PetMain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선택한 반려동물 기준으로 </a:t>
                      </a:r>
                      <a:r>
                        <a:rPr lang="ko-KR" altLang="en-US" sz="1600" dirty="0" err="1" smtClean="0"/>
                        <a:t>알림기록과</a:t>
                      </a:r>
                      <a:r>
                        <a:rPr lang="ko-KR" altLang="en-US" sz="1600" dirty="0" smtClean="0"/>
                        <a:t> </a:t>
                      </a:r>
                      <a:r>
                        <a:rPr lang="ko-KR" altLang="en-US" sz="1600" dirty="0" err="1" smtClean="0"/>
                        <a:t>조치기록</a:t>
                      </a:r>
                      <a:r>
                        <a:rPr lang="ko-KR" altLang="en-US" sz="1600" dirty="0" smtClean="0"/>
                        <a:t> 조회 기능으로 이동할 수 있는 </a:t>
                      </a:r>
                      <a:r>
                        <a:rPr lang="ko-KR" altLang="en-US" sz="1600" dirty="0" err="1" smtClean="0"/>
                        <a:t>펫관리</a:t>
                      </a:r>
                      <a:r>
                        <a:rPr lang="ko-KR" altLang="en-US" sz="1600" dirty="0" smtClean="0"/>
                        <a:t> 메인 화면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F-010, F-011, F-012 / UR-034~UR-039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039750"/>
                  </a:ext>
                </a:extLst>
              </a:tr>
              <a:tr h="879438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AlertRecord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PHC-PE-02</a:t>
                      </a:r>
                      <a:endParaRPr lang="ko-KR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600" b="0" dirty="0" err="1" smtClean="0"/>
                        <a:t>AlertRecord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선택한 반려동물의 </a:t>
                      </a:r>
                      <a:r>
                        <a:rPr lang="ko-KR" altLang="en-US" sz="1600" dirty="0" err="1" smtClean="0"/>
                        <a:t>알림기록을</a:t>
                      </a:r>
                      <a:r>
                        <a:rPr lang="ko-KR" altLang="en-US" sz="1600" dirty="0" smtClean="0"/>
                        <a:t> 기간별</a:t>
                      </a:r>
                      <a:r>
                        <a:rPr lang="en-US" altLang="ko-KR" sz="1600" dirty="0" smtClean="0"/>
                        <a:t>·</a:t>
                      </a:r>
                      <a:r>
                        <a:rPr lang="ko-KR" altLang="en-US" sz="1600" dirty="0" smtClean="0"/>
                        <a:t>종류별로 조회하고 연관 이벤트 메시지를 확인하는 화면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F-010 / UR-034, UR-035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305855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화면 목록</a:t>
            </a:r>
          </a:p>
        </p:txBody>
      </p:sp>
    </p:spTree>
    <p:extLst>
      <p:ext uri="{BB962C8B-B14F-4D97-AF65-F5344CB8AC3E}">
        <p14:creationId xmlns:p14="http://schemas.microsoft.com/office/powerpoint/2010/main" val="3597388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93F6F58-31B8-4F4C-869F-D0F5B43B3C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3156509"/>
              </p:ext>
            </p:extLst>
          </p:nvPr>
        </p:nvGraphicFramePr>
        <p:xfrm>
          <a:off x="829887" y="543452"/>
          <a:ext cx="10515600" cy="589580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85875">
                  <a:extLst>
                    <a:ext uri="{9D8B030D-6E8A-4147-A177-3AD203B41FA5}">
                      <a16:colId xmlns:a16="http://schemas.microsoft.com/office/drawing/2014/main" val="331808445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434307286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398417252"/>
                    </a:ext>
                  </a:extLst>
                </a:gridCol>
                <a:gridCol w="1284605">
                  <a:extLst>
                    <a:ext uri="{9D8B030D-6E8A-4147-A177-3AD203B41FA5}">
                      <a16:colId xmlns:a16="http://schemas.microsoft.com/office/drawing/2014/main" val="2258252386"/>
                    </a:ext>
                  </a:extLst>
                </a:gridCol>
                <a:gridCol w="3582670">
                  <a:extLst>
                    <a:ext uri="{9D8B030D-6E8A-4147-A177-3AD203B41FA5}">
                      <a16:colId xmlns:a16="http://schemas.microsoft.com/office/drawing/2014/main" val="1566668642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557583394"/>
                    </a:ext>
                  </a:extLst>
                </a:gridCol>
              </a:tblGrid>
              <a:tr h="6577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대메뉴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중메뉴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화면</a:t>
                      </a:r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ID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페이지제목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비고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861132"/>
                  </a:ext>
                </a:extLst>
              </a:tr>
              <a:tr h="8794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PetManage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ActionRecord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PHC-PE-03</a:t>
                      </a:r>
                      <a:endParaRPr lang="ko-KR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ActionRecord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선택한 반려동물의 수동</a:t>
                      </a:r>
                      <a:r>
                        <a:rPr lang="en-US" altLang="ko-KR" sz="1600" dirty="0" smtClean="0"/>
                        <a:t>·</a:t>
                      </a:r>
                      <a:r>
                        <a:rPr lang="ko-KR" altLang="en-US" sz="1600" dirty="0" smtClean="0"/>
                        <a:t>자동 조치 이력을 유형과 </a:t>
                      </a:r>
                      <a:r>
                        <a:rPr lang="ko-KR" altLang="en-US" sz="1600" dirty="0" err="1" smtClean="0"/>
                        <a:t>방식별로</a:t>
                      </a:r>
                      <a:r>
                        <a:rPr lang="ko-KR" altLang="en-US" sz="1600" dirty="0" smtClean="0"/>
                        <a:t> 조회하는 화면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F-011 / UR-036, UR-037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950660"/>
                  </a:ext>
                </a:extLst>
              </a:tr>
              <a:tr h="439719">
                <a:tc rowSpan="4"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Setting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MyPage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PHC-SE-01</a:t>
                      </a:r>
                      <a:endParaRPr lang="ko-KR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MyPage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사용자 계정 정보 조회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이메일 확인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비밀번호 변경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로그아웃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회원 탈퇴를 처리하는 화면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F-013 / UR-040~UR-042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127239"/>
                  </a:ext>
                </a:extLst>
              </a:tr>
              <a:tr h="439719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PetSetting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PHC-SE-02</a:t>
                      </a:r>
                      <a:endParaRPr lang="ko-KR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PetSetting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반려동물 목록</a:t>
                      </a:r>
                      <a:r>
                        <a:rPr lang="en-US" altLang="ko-KR" sz="1600" dirty="0" smtClean="0"/>
                        <a:t>/</a:t>
                      </a:r>
                      <a:r>
                        <a:rPr lang="ko-KR" altLang="en-US" sz="1600" dirty="0" smtClean="0"/>
                        <a:t>상세 조회와 등록</a:t>
                      </a:r>
                      <a:r>
                        <a:rPr lang="en-US" altLang="ko-KR" sz="1600" dirty="0" smtClean="0"/>
                        <a:t>·</a:t>
                      </a:r>
                      <a:r>
                        <a:rPr lang="ko-KR" altLang="en-US" sz="1600" dirty="0" smtClean="0"/>
                        <a:t>수정</a:t>
                      </a:r>
                      <a:r>
                        <a:rPr lang="en-US" altLang="ko-KR" sz="1600" dirty="0" smtClean="0"/>
                        <a:t>·</a:t>
                      </a:r>
                      <a:r>
                        <a:rPr lang="ko-KR" altLang="en-US" sz="1600" dirty="0" smtClean="0"/>
                        <a:t>삭제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프로필 이미지 관리 기능을 제공하는 화면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F-015, F-016 / UR-045~UR-051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432030"/>
                  </a:ext>
                </a:extLst>
              </a:tr>
              <a:tr h="439719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DeviceSetting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PHC-SE-03</a:t>
                      </a:r>
                      <a:endParaRPr lang="ko-KR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 smtClean="0"/>
                        <a:t>DeviceSetting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등록된 디바이스의 연결 상태를 조회하고 위치 등 설정 정보를 변경하는 화면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F-014 / UR-043, UR-044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039750"/>
                  </a:ext>
                </a:extLst>
              </a:tr>
              <a:tr h="439719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AlertEventSet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PHC-SE-04</a:t>
                      </a:r>
                      <a:endParaRPr lang="ko-KR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AlertEventSet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이벤트 발생 조건과 알림 수신 여부를 개별 또는 일괄 </a:t>
                      </a:r>
                      <a:r>
                        <a:rPr lang="en-US" altLang="ko-KR" sz="1600" dirty="0" smtClean="0"/>
                        <a:t>ON/OFF</a:t>
                      </a:r>
                      <a:r>
                        <a:rPr lang="ko-KR" altLang="en-US" sz="1600" dirty="0" smtClean="0"/>
                        <a:t>로 설정하는 화면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F-017 / UR-052~UR-054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45608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Admin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AdminData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PHC-AD-01</a:t>
                      </a:r>
                      <a:endParaRPr lang="ko-KR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AdminData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전체 반려동물 데이터 조회</a:t>
                      </a:r>
                      <a:r>
                        <a:rPr lang="en-US" altLang="ko-KR" sz="1600" dirty="0" smtClean="0"/>
                        <a:t>·</a:t>
                      </a:r>
                      <a:r>
                        <a:rPr lang="ko-KR" altLang="en-US" sz="1600" dirty="0" err="1" smtClean="0"/>
                        <a:t>상세조회</a:t>
                      </a:r>
                      <a:r>
                        <a:rPr lang="en-US" altLang="ko-KR" sz="1600" dirty="0" smtClean="0"/>
                        <a:t>·</a:t>
                      </a:r>
                      <a:r>
                        <a:rPr lang="ko-KR" altLang="en-US" sz="1600" dirty="0" smtClean="0"/>
                        <a:t>수정</a:t>
                      </a:r>
                      <a:r>
                        <a:rPr lang="en-US" altLang="ko-KR" sz="1600" dirty="0" smtClean="0"/>
                        <a:t>·</a:t>
                      </a:r>
                      <a:r>
                        <a:rPr lang="ko-KR" altLang="en-US" sz="1600" dirty="0" smtClean="0"/>
                        <a:t>삭제를 수행하는 관리자용 데이터 관리 화면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F-029 / ADM-001~ADM-004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305855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화면 목록</a:t>
            </a:r>
          </a:p>
        </p:txBody>
      </p:sp>
    </p:spTree>
    <p:extLst>
      <p:ext uri="{BB962C8B-B14F-4D97-AF65-F5344CB8AC3E}">
        <p14:creationId xmlns:p14="http://schemas.microsoft.com/office/powerpoint/2010/main" val="2023318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93F6F58-31B8-4F4C-869F-D0F5B43B3C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6570767"/>
              </p:ext>
            </p:extLst>
          </p:nvPr>
        </p:nvGraphicFramePr>
        <p:xfrm>
          <a:off x="730134" y="271726"/>
          <a:ext cx="10515600" cy="538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85875">
                  <a:extLst>
                    <a:ext uri="{9D8B030D-6E8A-4147-A177-3AD203B41FA5}">
                      <a16:colId xmlns:a16="http://schemas.microsoft.com/office/drawing/2014/main" val="331808445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434307286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398417252"/>
                    </a:ext>
                  </a:extLst>
                </a:gridCol>
                <a:gridCol w="1613881">
                  <a:extLst>
                    <a:ext uri="{9D8B030D-6E8A-4147-A177-3AD203B41FA5}">
                      <a16:colId xmlns:a16="http://schemas.microsoft.com/office/drawing/2014/main" val="2258252386"/>
                    </a:ext>
                  </a:extLst>
                </a:gridCol>
                <a:gridCol w="3253394">
                  <a:extLst>
                    <a:ext uri="{9D8B030D-6E8A-4147-A177-3AD203B41FA5}">
                      <a16:colId xmlns:a16="http://schemas.microsoft.com/office/drawing/2014/main" val="1566668642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557583394"/>
                    </a:ext>
                  </a:extLst>
                </a:gridCol>
              </a:tblGrid>
              <a:tr h="6577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대메뉴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중메뉴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화면</a:t>
                      </a:r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ID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페이지제목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비고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861132"/>
                  </a:ext>
                </a:extLst>
              </a:tr>
              <a:tr h="8794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Admin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Role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PHC-AD-02</a:t>
                      </a:r>
                      <a:endParaRPr lang="ko-KR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 smtClean="0"/>
                        <a:t>AdminRole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관리자가 사용자의 권한을 관리</a:t>
                      </a:r>
                      <a:endParaRPr lang="en-US" altLang="ko-KR" sz="1600" dirty="0" smtClean="0"/>
                    </a:p>
                    <a:p>
                      <a:pPr latinLnBrk="1"/>
                      <a:r>
                        <a:rPr lang="en-US" altLang="ko-KR" sz="1600" dirty="0" smtClean="0"/>
                        <a:t>(</a:t>
                      </a:r>
                      <a:r>
                        <a:rPr lang="ko-KR" altLang="en-US" sz="1600" dirty="0" smtClean="0"/>
                        <a:t>관리자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일반사용자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err="1" smtClean="0"/>
                        <a:t>휴면사용자</a:t>
                      </a:r>
                      <a:r>
                        <a:rPr lang="en-US" altLang="ko-KR" sz="1600" dirty="0" smtClean="0"/>
                        <a:t>)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F-031 / ADM-009, ADM-010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950660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Simulation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/>
                        <a:t>PHC-SI-01</a:t>
                      </a:r>
                      <a:endParaRPr lang="ko-KR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Simulation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반려동물 상태 데이터</a:t>
                      </a:r>
                      <a:r>
                        <a:rPr lang="en-US" altLang="ko-KR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6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심박수</a:t>
                      </a:r>
                      <a:r>
                        <a:rPr lang="en-US" altLang="ko-KR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체온</a:t>
                      </a:r>
                      <a:r>
                        <a:rPr lang="en-US" altLang="ko-KR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활동량 등</a:t>
                      </a:r>
                      <a:r>
                        <a:rPr lang="en-US" altLang="ko-KR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를 입력</a:t>
                      </a:r>
                      <a:r>
                        <a:rPr lang="en-US" altLang="ko-KR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전송하고</a:t>
                      </a:r>
                      <a:r>
                        <a:rPr lang="en-US" altLang="ko-KR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이벤트 판별 → 알림 푸시 → 조치 기록까지 전체 데이터 흐름 루프를 검증하는 관리자 전용 </a:t>
                      </a:r>
                      <a:r>
                        <a:rPr lang="ko-KR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화면</a:t>
                      </a:r>
                      <a:endParaRPr lang="ko-KR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smtClean="0"/>
                        <a:t>F-032, F-033 / ADM-011~ADM-017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127239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432030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0397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45608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305855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6258641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34940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6579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5554485"/>
              </p:ext>
            </p:extLst>
          </p:nvPr>
        </p:nvGraphicFramePr>
        <p:xfrm>
          <a:off x="238124" y="485776"/>
          <a:ext cx="9324977" cy="6133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 smtClean="0"/>
                        <a:t>MyPage</a:t>
                      </a:r>
                      <a:endParaRPr lang="ko-KR" altLang="en-US" sz="1600" dirty="0" smtClean="0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PHC-SE-01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</a:rPr>
                        <a:t>김 현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</a:rPr>
                        <a:t> 규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</a:rPr>
                        <a:t>2026.03.23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Setting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UR-040~UR-042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331430"/>
              </p:ext>
            </p:extLst>
          </p:nvPr>
        </p:nvGraphicFramePr>
        <p:xfrm>
          <a:off x="9648824" y="485774"/>
          <a:ext cx="2143126" cy="58513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로그인한 사용자의 계정 정보를 조회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이메일 확인 및 비밀번호 변경을 처리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smtClean="0"/>
                        <a:t>세션 종료</a:t>
                      </a:r>
                      <a:r>
                        <a:rPr lang="en-US" altLang="ko-KR" sz="1400" dirty="0" smtClean="0"/>
                        <a:t>(</a:t>
                      </a:r>
                      <a:r>
                        <a:rPr lang="ko-KR" altLang="en-US" sz="1400" dirty="0" smtClean="0"/>
                        <a:t>로그아웃</a:t>
                      </a:r>
                      <a:r>
                        <a:rPr lang="en-US" altLang="ko-KR" sz="1400" dirty="0" smtClean="0"/>
                        <a:t>) </a:t>
                      </a:r>
                      <a:r>
                        <a:rPr lang="ko-KR" altLang="en-US" sz="1400" dirty="0" smtClean="0"/>
                        <a:t>및 계정 탈퇴 시 </a:t>
                      </a:r>
                      <a:r>
                        <a:rPr lang="ko-KR" altLang="en-US" sz="1400" dirty="0" err="1" smtClean="0"/>
                        <a:t>연관데이터</a:t>
                      </a:r>
                      <a:r>
                        <a:rPr lang="ko-KR" altLang="en-US" sz="1400" dirty="0" smtClean="0"/>
                        <a:t> 비활성화 처리를 수행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PHC-MA-01</a:t>
                      </a:r>
                      <a:endParaRPr lang="ko-KR" altLang="en-US" sz="1400" dirty="0" smtClean="0"/>
                    </a:p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297" y="1201092"/>
            <a:ext cx="2433473" cy="5303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755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8585661"/>
              </p:ext>
            </p:extLst>
          </p:nvPr>
        </p:nvGraphicFramePr>
        <p:xfrm>
          <a:off x="238124" y="485776"/>
          <a:ext cx="9324977" cy="6133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 smtClean="0"/>
                        <a:t>PetSetting</a:t>
                      </a:r>
                      <a:endParaRPr lang="ko-KR" altLang="en-US" sz="1600" dirty="0" smtClean="0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PHC-SE-02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</a:rPr>
                        <a:t>김 현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</a:rPr>
                        <a:t> 규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</a:rPr>
                        <a:t>2026.03.23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Setting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UR-040~UR-042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121038"/>
              </p:ext>
            </p:extLst>
          </p:nvPr>
        </p:nvGraphicFramePr>
        <p:xfrm>
          <a:off x="9648824" y="485774"/>
          <a:ext cx="2143126" cy="61231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사용자 계정에 등록된 반려동물 목록과 선택 개체의 상세 정보를 조회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반려동물 정보를 등록</a:t>
                      </a:r>
                      <a:r>
                        <a:rPr lang="en-US" altLang="ko-KR" sz="1400" dirty="0" smtClean="0"/>
                        <a:t>·</a:t>
                      </a:r>
                      <a:r>
                        <a:rPr lang="ko-KR" altLang="en-US" sz="1400" dirty="0" smtClean="0"/>
                        <a:t>수정</a:t>
                      </a:r>
                      <a:r>
                        <a:rPr lang="en-US" altLang="ko-KR" sz="1400" dirty="0" smtClean="0"/>
                        <a:t>·</a:t>
                      </a:r>
                      <a:r>
                        <a:rPr lang="ko-KR" altLang="en-US" sz="1400" dirty="0" smtClean="0"/>
                        <a:t>삭제하고 프로필 이미지를 제한 조건에 따라 업로드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PHC-MA-01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434" y="1220937"/>
            <a:ext cx="2179715" cy="526384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7447" y="2556395"/>
            <a:ext cx="2909861" cy="1645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892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0502287"/>
              </p:ext>
            </p:extLst>
          </p:nvPr>
        </p:nvGraphicFramePr>
        <p:xfrm>
          <a:off x="238124" y="485776"/>
          <a:ext cx="9324977" cy="6133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err="1" smtClean="0"/>
                        <a:t>DeviceSetting</a:t>
                      </a:r>
                      <a:endParaRPr lang="ko-KR" altLang="en-US" sz="1200" dirty="0" smtClean="0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PHC-SE-03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</a:rPr>
                        <a:t>김 현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</a:rPr>
                        <a:t> 규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</a:rPr>
                        <a:t>2026.03.23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Setting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UR-040~UR-042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3782"/>
            <a:ext cx="9324976" cy="5379893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8711522"/>
              </p:ext>
            </p:extLst>
          </p:nvPr>
        </p:nvGraphicFramePr>
        <p:xfrm>
          <a:off x="9648824" y="485774"/>
          <a:ext cx="2143126" cy="60647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등록된 디바이스의 연결 상태를 조회하고 기기 위치 등 설정 정보를 </a:t>
                      </a:r>
                      <a:r>
                        <a:rPr lang="en-US" altLang="ko-KR" sz="1400" dirty="0" smtClean="0"/>
                        <a:t>DB</a:t>
                      </a:r>
                      <a:r>
                        <a:rPr lang="ko-KR" altLang="en-US" sz="1400" dirty="0" smtClean="0"/>
                        <a:t>에 업데이트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PHC-MA-01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7575" y="1163782"/>
            <a:ext cx="2205741" cy="503611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0612" y="2541692"/>
            <a:ext cx="2909861" cy="2624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553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9645275"/>
              </p:ext>
            </p:extLst>
          </p:nvPr>
        </p:nvGraphicFramePr>
        <p:xfrm>
          <a:off x="238124" y="485776"/>
          <a:ext cx="9324977" cy="6133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err="1" smtClean="0"/>
                        <a:t>AlertEventSet</a:t>
                      </a:r>
                      <a:endParaRPr lang="ko-KR" altLang="en-US" sz="1200" dirty="0" smtClean="0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PHC-SE-04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</a:rPr>
                        <a:t>김 현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</a:rPr>
                        <a:t> 규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</a:rPr>
                        <a:t>2026.03.23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Setting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UR-040~UR-042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80407"/>
            <a:ext cx="9324976" cy="5363268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5235408"/>
              </p:ext>
            </p:extLst>
          </p:nvPr>
        </p:nvGraphicFramePr>
        <p:xfrm>
          <a:off x="9648824" y="485774"/>
          <a:ext cx="2143126" cy="61815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사용자가 이벤트 발생 조건과 알림 수신 여부를 개별적으로 설정</a:t>
                      </a:r>
                      <a:endParaRPr lang="en-US" altLang="ko-KR" sz="14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smtClean="0"/>
                        <a:t>알림 </a:t>
                      </a:r>
                      <a:r>
                        <a:rPr lang="ko-KR" altLang="en-US" sz="1400" dirty="0" err="1" smtClean="0"/>
                        <a:t>수신여부는</a:t>
                      </a:r>
                      <a:r>
                        <a:rPr lang="ko-KR" altLang="en-US" sz="1400" dirty="0" smtClean="0"/>
                        <a:t> 개별 이벤트로 세분화하여 일괄 </a:t>
                      </a:r>
                      <a:r>
                        <a:rPr lang="en-US" altLang="ko-KR" sz="1400" dirty="0" smtClean="0"/>
                        <a:t>on/off </a:t>
                      </a:r>
                      <a:r>
                        <a:rPr lang="ko-KR" altLang="en-US" sz="1400" dirty="0" err="1" smtClean="0"/>
                        <a:t>토글</a:t>
                      </a:r>
                      <a:r>
                        <a:rPr lang="ko-KR" altLang="en-US" sz="1400" dirty="0" smtClean="0"/>
                        <a:t> 스위치로 제어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smtClean="0"/>
                        <a:t>세부 </a:t>
                      </a:r>
                      <a:r>
                        <a:rPr lang="ko-KR" altLang="en-US" sz="1400" dirty="0" err="1" smtClean="0"/>
                        <a:t>이벤트별</a:t>
                      </a:r>
                      <a:r>
                        <a:rPr lang="ko-KR" altLang="en-US" sz="1400" dirty="0" smtClean="0"/>
                        <a:t> </a:t>
                      </a:r>
                      <a:r>
                        <a:rPr lang="ko-KR" altLang="en-US" sz="1400" dirty="0" err="1" smtClean="0"/>
                        <a:t>임계값은</a:t>
                      </a:r>
                      <a:r>
                        <a:rPr lang="ko-KR" altLang="en-US" sz="1400" dirty="0" smtClean="0"/>
                        <a:t> 이벤트 감지에서 제어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PHC-MA-01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429" y="1178063"/>
            <a:ext cx="2426315" cy="536795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049" y="1178063"/>
            <a:ext cx="2322535" cy="4117578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8145" y="1220666"/>
            <a:ext cx="2089923" cy="5446685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1906" y="1220666"/>
            <a:ext cx="2390529" cy="4637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089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4950186"/>
              </p:ext>
            </p:extLst>
          </p:nvPr>
        </p:nvGraphicFramePr>
        <p:xfrm>
          <a:off x="238124" y="485776"/>
          <a:ext cx="9324977" cy="6133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 smtClean="0"/>
                        <a:t>DashBoard</a:t>
                      </a:r>
                      <a:endParaRPr lang="ko-KR" altLang="en-US" sz="1400" dirty="0" smtClean="0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PHC-DA-01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</a:rPr>
                        <a:t>김 현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</a:rPr>
                        <a:t> 규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</a:rPr>
                        <a:t>2026.03.23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DashBoard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UR-055~UR-074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3782"/>
            <a:ext cx="9324976" cy="5379893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0908492"/>
              </p:ext>
            </p:extLst>
          </p:nvPr>
        </p:nvGraphicFramePr>
        <p:xfrm>
          <a:off x="9648824" y="485774"/>
          <a:ext cx="2143126" cy="5540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smtClean="0"/>
                        <a:t>다중 영상 관제 및 디바이스 제어 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36258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smtClean="0"/>
                        <a:t>실시간 알림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smtClean="0"/>
                        <a:t>각종 조치</a:t>
                      </a:r>
                      <a:r>
                        <a:rPr lang="en-US" altLang="ko-KR" sz="1400" dirty="0" smtClean="0"/>
                        <a:t>(</a:t>
                      </a:r>
                      <a:r>
                        <a:rPr lang="ko-KR" altLang="en-US" sz="1400" dirty="0" smtClean="0"/>
                        <a:t>화면 캡처 및 녹화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사료</a:t>
                      </a:r>
                      <a:r>
                        <a:rPr lang="en-US" altLang="ko-KR" sz="1400" dirty="0" smtClean="0"/>
                        <a:t>/</a:t>
                      </a:r>
                      <a:r>
                        <a:rPr lang="ko-KR" altLang="en-US" sz="1400" dirty="0" smtClean="0"/>
                        <a:t>식수 급여</a:t>
                      </a:r>
                      <a:r>
                        <a:rPr lang="en-US" altLang="ko-KR" sz="1400" dirty="0" smtClean="0"/>
                        <a:t>, </a:t>
                      </a:r>
                      <a:r>
                        <a:rPr lang="ko-KR" altLang="en-US" sz="1400" dirty="0" smtClean="0"/>
                        <a:t>야간</a:t>
                      </a:r>
                      <a:r>
                        <a:rPr lang="ko-KR" altLang="en-US" sz="1400" baseline="0" dirty="0" smtClean="0"/>
                        <a:t> 모드</a:t>
                      </a:r>
                      <a:r>
                        <a:rPr lang="en-US" altLang="ko-KR" sz="1400" baseline="0" dirty="0" smtClean="0"/>
                        <a:t>, </a:t>
                      </a:r>
                      <a:r>
                        <a:rPr lang="ko-KR" altLang="en-US" sz="1400" baseline="0" dirty="0" smtClean="0"/>
                        <a:t>음성 송출 등</a:t>
                      </a:r>
                      <a:r>
                        <a:rPr lang="en-US" altLang="ko-KR" sz="1400" baseline="0" dirty="0" smtClean="0"/>
                        <a:t>)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smtClean="0"/>
                        <a:t>환경 데이터 표시</a:t>
                      </a:r>
                      <a:r>
                        <a:rPr lang="en-US" altLang="ko-KR" sz="1400" dirty="0" smtClean="0"/>
                        <a:t>(</a:t>
                      </a:r>
                      <a:r>
                        <a:rPr lang="ko-KR" altLang="en-US" sz="1400" dirty="0" smtClean="0"/>
                        <a:t>온</a:t>
                      </a:r>
                      <a:r>
                        <a:rPr lang="en-US" altLang="ko-KR" sz="1400" dirty="0" smtClean="0"/>
                        <a:t>/</a:t>
                      </a:r>
                      <a:r>
                        <a:rPr lang="ko-KR" altLang="en-US" sz="1400" dirty="0" smtClean="0"/>
                        <a:t>습도</a:t>
                      </a:r>
                      <a:r>
                        <a:rPr lang="en-US" altLang="ko-KR" sz="1400" dirty="0" smtClean="0"/>
                        <a:t>)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PHC-MA-01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5610" y="1264097"/>
            <a:ext cx="2420459" cy="5179262"/>
          </a:xfrm>
          <a:prstGeom prst="rect">
            <a:avLst/>
          </a:prstGeom>
        </p:spPr>
      </p:pic>
      <p:cxnSp>
        <p:nvCxnSpPr>
          <p:cNvPr id="8" name="직선 연결선 7"/>
          <p:cNvCxnSpPr/>
          <p:nvPr/>
        </p:nvCxnSpPr>
        <p:spPr>
          <a:xfrm>
            <a:off x="3773978" y="1729047"/>
            <a:ext cx="1211768" cy="25769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3849344" y="1845425"/>
            <a:ext cx="1050679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0973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6284532"/>
              </p:ext>
            </p:extLst>
          </p:nvPr>
        </p:nvGraphicFramePr>
        <p:xfrm>
          <a:off x="238124" y="485776"/>
          <a:ext cx="9324977" cy="6133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 smtClean="0"/>
                        <a:t>AdminData</a:t>
                      </a:r>
                      <a:endParaRPr lang="ko-KR" altLang="en-US" sz="1400" dirty="0" smtClean="0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PHC-AD-01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</a:rPr>
                        <a:t>김 현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</a:rPr>
                        <a:t> 규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</a:rPr>
                        <a:t>2026.03.23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Admin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ADM-001~ADM-004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3782"/>
            <a:ext cx="9324976" cy="5379893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872441"/>
              </p:ext>
            </p:extLst>
          </p:nvPr>
        </p:nvGraphicFramePr>
        <p:xfrm>
          <a:off x="9648824" y="485774"/>
          <a:ext cx="2143126" cy="61815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전체 반려동물 데이터를 확인하고</a:t>
                      </a:r>
                      <a:r>
                        <a:rPr lang="en-US" altLang="ko-KR" sz="1400" dirty="0" smtClean="0"/>
                        <a:t>,</a:t>
                      </a:r>
                      <a:r>
                        <a:rPr lang="ko-KR" altLang="en-US" sz="1400" baseline="0" dirty="0" smtClean="0"/>
                        <a:t> 관리하는 페이지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필터</a:t>
                      </a:r>
                      <a:r>
                        <a:rPr lang="en-US" altLang="ko-KR" sz="1400" dirty="0" smtClean="0"/>
                        <a:t>/</a:t>
                      </a:r>
                      <a:r>
                        <a:rPr lang="ko-KR" altLang="en-US" sz="1400" dirty="0" smtClean="0"/>
                        <a:t>검색 기능을 통한 반려 동물 상세 데이터 조회 가능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관리자가 사이트 내 주요 활동 및 시스템 로그를 통합적으로 확인할 수 있는 페이지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144" y="1273531"/>
            <a:ext cx="4888417" cy="516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442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7127709"/>
              </p:ext>
            </p:extLst>
          </p:nvPr>
        </p:nvGraphicFramePr>
        <p:xfrm>
          <a:off x="238124" y="485776"/>
          <a:ext cx="9324977" cy="6133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 smtClean="0"/>
                        <a:t>AdminRole</a:t>
                      </a:r>
                      <a:endParaRPr lang="ko-KR" altLang="en-US" sz="1400" dirty="0" smtClean="0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PHC-AD-02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</a:rPr>
                        <a:t>김 현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</a:rPr>
                        <a:t> 규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dirty="0" smtClean="0">
                          <a:solidFill>
                            <a:schemeClr val="tx1"/>
                          </a:solidFill>
                        </a:rPr>
                        <a:t>2026.03.23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Admin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ADM-009, ADM-010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97033"/>
            <a:ext cx="9324976" cy="5346642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179896"/>
              </p:ext>
            </p:extLst>
          </p:nvPr>
        </p:nvGraphicFramePr>
        <p:xfrm>
          <a:off x="9648824" y="485774"/>
          <a:ext cx="2143126" cy="58513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관리자가 수동 조치와 자동 조치 이력을 유형과 </a:t>
                      </a:r>
                      <a:r>
                        <a:rPr lang="ko-KR" altLang="en-US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방식별로</a:t>
                      </a:r>
                      <a:r>
                        <a:rPr lang="ko-KR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조회</a:t>
                      </a:r>
                      <a:endParaRPr lang="ko-KR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872" y="1272769"/>
            <a:ext cx="2318956" cy="5002933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7600" y="1279926"/>
            <a:ext cx="2318956" cy="499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647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6064399"/>
              </p:ext>
            </p:extLst>
          </p:nvPr>
        </p:nvGraphicFramePr>
        <p:xfrm>
          <a:off x="238124" y="485776"/>
          <a:ext cx="9324977" cy="67427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 smtClean="0"/>
                        <a:t>PetManage</a:t>
                      </a:r>
                      <a:endParaRPr lang="ko-KR" altLang="en-US" sz="1400" dirty="0" smtClean="0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PHC-PE-01</a:t>
                      </a:r>
                      <a:endParaRPr lang="ko-KR" altLang="en-US" sz="1400" dirty="0" smtClean="0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</a:rPr>
                        <a:t>김 현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</a:rPr>
                        <a:t> 규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 smtClean="0"/>
                        <a:t>PetManage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ADM-009, ADM-010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6967604"/>
              </p:ext>
            </p:extLst>
          </p:nvPr>
        </p:nvGraphicFramePr>
        <p:xfrm>
          <a:off x="9648824" y="485774"/>
          <a:ext cx="2143126" cy="5579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반려동물 선택 후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 smtClean="0"/>
                        <a:t>알림기록을</a:t>
                      </a:r>
                      <a:r>
                        <a:rPr lang="ko-KR" altLang="en-US" sz="1400" dirty="0" smtClean="0"/>
                        <a:t> 기간별</a:t>
                      </a:r>
                      <a:r>
                        <a:rPr lang="en-US" altLang="ko-KR" sz="1400" dirty="0" smtClean="0"/>
                        <a:t>,</a:t>
                      </a:r>
                      <a:r>
                        <a:rPr lang="ko-KR" altLang="en-US" sz="1400" dirty="0" smtClean="0"/>
                        <a:t> 종류별로 조회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smtClean="0"/>
                        <a:t>연관 이벤트 메시지를 함께 확인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PHC-MA-01</a:t>
                      </a:r>
                    </a:p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</p:spTree>
    <p:extLst>
      <p:ext uri="{BB962C8B-B14F-4D97-AF65-F5344CB8AC3E}">
        <p14:creationId xmlns:p14="http://schemas.microsoft.com/office/powerpoint/2010/main" val="4206966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5316804"/>
              </p:ext>
            </p:extLst>
          </p:nvPr>
        </p:nvGraphicFramePr>
        <p:xfrm>
          <a:off x="238124" y="485776"/>
          <a:ext cx="9324977" cy="67427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AlertRecord</a:t>
                      </a:r>
                      <a:endParaRPr lang="ko-KR" altLang="en-US" sz="1400" dirty="0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PHC-PE-02</a:t>
                      </a:r>
                      <a:endParaRPr lang="ko-KR" altLang="en-US" sz="1400" dirty="0" smtClean="0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>
                          <a:solidFill>
                            <a:schemeClr val="tx1"/>
                          </a:solidFill>
                        </a:rPr>
                        <a:t>김 현</a:t>
                      </a:r>
                      <a:r>
                        <a:rPr lang="ko-KR" altLang="en-US" sz="1400" baseline="0" dirty="0" smtClean="0">
                          <a:solidFill>
                            <a:schemeClr val="tx1"/>
                          </a:solidFill>
                        </a:rPr>
                        <a:t> 규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 smtClean="0"/>
                        <a:t>PetManage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ADM-009, ADM-010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540428"/>
              </p:ext>
            </p:extLst>
          </p:nvPr>
        </p:nvGraphicFramePr>
        <p:xfrm>
          <a:off x="9648824" y="485774"/>
          <a:ext cx="2143126" cy="56380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smtClean="0"/>
                        <a:t>수동 조치와 자동 조치 이력을 유형과 </a:t>
                      </a:r>
                      <a:r>
                        <a:rPr lang="ko-KR" altLang="en-US" sz="1400" dirty="0" err="1" smtClean="0"/>
                        <a:t>방식별로</a:t>
                      </a:r>
                      <a:r>
                        <a:rPr lang="ko-KR" altLang="en-US" sz="1400" dirty="0" smtClean="0"/>
                        <a:t> 조회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PHC-MA-01</a:t>
                      </a:r>
                    </a:p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</p:spTree>
    <p:extLst>
      <p:ext uri="{BB962C8B-B14F-4D97-AF65-F5344CB8AC3E}">
        <p14:creationId xmlns:p14="http://schemas.microsoft.com/office/powerpoint/2010/main" val="18714800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FB8D3F86-825C-4406-8BA9-3FB201B06D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1353922"/>
              </p:ext>
            </p:extLst>
          </p:nvPr>
        </p:nvGraphicFramePr>
        <p:xfrm>
          <a:off x="838200" y="1021822"/>
          <a:ext cx="10515600" cy="481435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71625">
                  <a:extLst>
                    <a:ext uri="{9D8B030D-6E8A-4147-A177-3AD203B41FA5}">
                      <a16:colId xmlns:a16="http://schemas.microsoft.com/office/drawing/2014/main" val="188301874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3510901609"/>
                    </a:ext>
                  </a:extLst>
                </a:gridCol>
                <a:gridCol w="5381625">
                  <a:extLst>
                    <a:ext uri="{9D8B030D-6E8A-4147-A177-3AD203B41FA5}">
                      <a16:colId xmlns:a16="http://schemas.microsoft.com/office/drawing/2014/main" val="2756399835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1190506336"/>
                    </a:ext>
                  </a:extLst>
                </a:gridCol>
              </a:tblGrid>
              <a:tr h="43521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/>
                        <a:t>대구분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/>
                        <a:t>중구분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63397"/>
                  </a:ext>
                </a:extLst>
              </a:tr>
              <a:tr h="663840">
                <a:tc rowSpan="5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저작권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정책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국가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/>
                        <a:t>북한을 제외한 모든 국가 선택 가능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/>
                        <a:t>지원언어는 한국어 </a:t>
                      </a:r>
                      <a:r>
                        <a:rPr lang="en-US" altLang="ko-KR" dirty="0"/>
                        <a:t>/ </a:t>
                      </a:r>
                      <a:r>
                        <a:rPr lang="ko-KR" altLang="en-US" dirty="0"/>
                        <a:t>영어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22250"/>
                  </a:ext>
                </a:extLst>
              </a:tr>
              <a:tr h="663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입점매장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위치지도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dirty="0"/>
                        <a:t>국내 카카오 </a:t>
                      </a:r>
                      <a:r>
                        <a:rPr lang="ko-KR" altLang="en-US" dirty="0" err="1"/>
                        <a:t>맵과</a:t>
                      </a:r>
                      <a:r>
                        <a:rPr lang="ko-KR" altLang="en-US" dirty="0"/>
                        <a:t> 연동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268589"/>
                  </a:ext>
                </a:extLst>
              </a:tr>
              <a:tr h="94834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E164 formatting </a:t>
                      </a:r>
                      <a:r>
                        <a:rPr lang="ko-KR" altLang="en-US" dirty="0"/>
                        <a:t>표준으로 진행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Case 1: </a:t>
                      </a:r>
                      <a:r>
                        <a:rPr lang="en-US" altLang="ko-KR" dirty="0">
                          <a:sym typeface="Wingdings" panose="05000000000000000000" pitchFamily="2" charset="2"/>
                        </a:rPr>
                        <a:t>(+) + </a:t>
                      </a:r>
                      <a:r>
                        <a:rPr lang="ko-KR" altLang="en-US" dirty="0">
                          <a:sym typeface="Wingdings" panose="05000000000000000000" pitchFamily="2" charset="2"/>
                        </a:rPr>
                        <a:t>국가코드 </a:t>
                      </a:r>
                      <a:r>
                        <a:rPr lang="en-US" altLang="ko-KR" dirty="0">
                          <a:sym typeface="Wingdings" panose="05000000000000000000" pitchFamily="2" charset="2"/>
                        </a:rPr>
                        <a:t>+ </a:t>
                      </a:r>
                      <a:r>
                        <a:rPr lang="ko-KR" altLang="en-US" dirty="0">
                          <a:sym typeface="Wingdings" panose="05000000000000000000" pitchFamily="2" charset="2"/>
                        </a:rPr>
                        <a:t>지역코드 </a:t>
                      </a:r>
                      <a:r>
                        <a:rPr lang="en-US" altLang="ko-KR" dirty="0">
                          <a:sym typeface="Wingdings" panose="05000000000000000000" pitchFamily="2" charset="2"/>
                        </a:rPr>
                        <a:t>+ </a:t>
                      </a:r>
                      <a:r>
                        <a:rPr lang="ko-KR" altLang="en-US" dirty="0">
                          <a:sym typeface="Wingdings" panose="05000000000000000000" pitchFamily="2" charset="2"/>
                        </a:rPr>
                        <a:t>폰 넘버</a:t>
                      </a:r>
                      <a:endParaRPr lang="en-US" altLang="ko-KR" dirty="0">
                        <a:sym typeface="Wingdings" panose="05000000000000000000" pitchFamily="2" charset="2"/>
                      </a:endParaRP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>
                          <a:sym typeface="Wingdings" panose="05000000000000000000" pitchFamily="2" charset="2"/>
                        </a:rPr>
                        <a:t>Case 2: (+) + </a:t>
                      </a:r>
                      <a:r>
                        <a:rPr lang="ko-KR" altLang="en-US" dirty="0">
                          <a:sym typeface="Wingdings" panose="05000000000000000000" pitchFamily="2" charset="2"/>
                        </a:rPr>
                        <a:t>국가코드 </a:t>
                      </a:r>
                      <a:r>
                        <a:rPr lang="en-US" altLang="ko-KR" dirty="0">
                          <a:sym typeface="Wingdings" panose="05000000000000000000" pitchFamily="2" charset="2"/>
                        </a:rPr>
                        <a:t>+ </a:t>
                      </a:r>
                      <a:r>
                        <a:rPr lang="ko-KR" altLang="en-US" dirty="0">
                          <a:sym typeface="Wingdings" panose="05000000000000000000" pitchFamily="2" charset="2"/>
                        </a:rPr>
                        <a:t>폰 넘버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안 채택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733710"/>
                  </a:ext>
                </a:extLst>
              </a:tr>
              <a:tr h="435214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통화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ISO </a:t>
                      </a:r>
                      <a:r>
                        <a:rPr lang="ko-KR" altLang="en-US" dirty="0"/>
                        <a:t>표준으로 진행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Case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1:</a:t>
                      </a:r>
                      <a:r>
                        <a:rPr lang="ko-KR" altLang="en-US" dirty="0"/>
                        <a:t> 국가</a:t>
                      </a:r>
                      <a:r>
                        <a:rPr lang="en-US" altLang="ko-KR" dirty="0"/>
                        <a:t>-</a:t>
                      </a:r>
                      <a:r>
                        <a:rPr lang="ko-KR" altLang="en-US" dirty="0"/>
                        <a:t>통화명칭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Case 2: </a:t>
                      </a:r>
                      <a:r>
                        <a:rPr lang="ko-KR" altLang="en-US" dirty="0"/>
                        <a:t>국가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안 채택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787731"/>
                  </a:ext>
                </a:extLst>
              </a:tr>
              <a:tr h="435214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타임존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ISO </a:t>
                      </a:r>
                      <a:r>
                        <a:rPr lang="ko-KR" altLang="en-US" dirty="0"/>
                        <a:t>표준으로 진행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Case 1: </a:t>
                      </a:r>
                      <a:r>
                        <a:rPr lang="ko-KR" altLang="en-US" dirty="0"/>
                        <a:t>국가</a:t>
                      </a:r>
                      <a:r>
                        <a:rPr lang="en-US" altLang="ko-KR" dirty="0"/>
                        <a:t>-</a:t>
                      </a:r>
                      <a:r>
                        <a:rPr lang="ko-KR" altLang="en-US" dirty="0"/>
                        <a:t>지역</a:t>
                      </a:r>
                      <a:endParaRPr lang="en-US" altLang="ko-KR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Case 2: </a:t>
                      </a:r>
                      <a:r>
                        <a:rPr lang="ko-KR" altLang="en-US" dirty="0"/>
                        <a:t>국가</a:t>
                      </a:r>
                      <a:r>
                        <a:rPr lang="en-US" altLang="ko-KR" dirty="0"/>
                        <a:t>-</a:t>
                      </a:r>
                      <a:r>
                        <a:rPr lang="ko-KR" altLang="en-US" dirty="0"/>
                        <a:t>지역</a:t>
                      </a:r>
                      <a:r>
                        <a:rPr lang="en-US" altLang="ko-KR" dirty="0"/>
                        <a:t>-(GMT+09:00)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dirty="0"/>
                        <a:t>Case 3: </a:t>
                      </a:r>
                      <a:r>
                        <a:rPr lang="ko-KR" altLang="en-US" dirty="0"/>
                        <a:t>지역</a:t>
                      </a:r>
                      <a:r>
                        <a:rPr lang="en-US" altLang="ko-KR" dirty="0"/>
                        <a:t>-(GMT+09:00)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r>
                        <a:rPr lang="ko-KR" altLang="en-US" dirty="0"/>
                        <a:t>안 채택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222853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정책</a:t>
            </a:r>
          </a:p>
        </p:txBody>
      </p:sp>
    </p:spTree>
    <p:extLst>
      <p:ext uri="{BB962C8B-B14F-4D97-AF65-F5344CB8AC3E}">
        <p14:creationId xmlns:p14="http://schemas.microsoft.com/office/powerpoint/2010/main" val="40301664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04934F11-E744-4C2C-811A-C394D4AFEE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4108443"/>
              </p:ext>
            </p:extLst>
          </p:nvPr>
        </p:nvGraphicFramePr>
        <p:xfrm>
          <a:off x="838200" y="1221429"/>
          <a:ext cx="10515600" cy="40233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24035850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40567398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1227049327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01746215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2286402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5320764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82408483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707670577"/>
                    </a:ext>
                  </a:extLst>
                </a:gridCol>
              </a:tblGrid>
              <a:tr h="3250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대구분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중구분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보기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수정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삭제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쓰기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926583"/>
                  </a:ext>
                </a:extLst>
              </a:tr>
              <a:tr h="325030">
                <a:tc rowSpan="10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페이지별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권한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메인 배너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관리자 계정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807276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디자이너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2752608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클라이언트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311114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회사소개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관리자 계정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O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378200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디자이너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858236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클라이언트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026433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제품소개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관리자 계정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9492641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디자이너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044623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클라이언트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438375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276842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권한</a:t>
            </a:r>
          </a:p>
        </p:txBody>
      </p:sp>
    </p:spTree>
    <p:extLst>
      <p:ext uri="{BB962C8B-B14F-4D97-AF65-F5344CB8AC3E}">
        <p14:creationId xmlns:p14="http://schemas.microsoft.com/office/powerpoint/2010/main" val="36327158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4D6DE18-1C9C-43CB-82E9-B019349A75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0237119"/>
              </p:ext>
            </p:extLst>
          </p:nvPr>
        </p:nvGraphicFramePr>
        <p:xfrm>
          <a:off x="1411288" y="1660107"/>
          <a:ext cx="9369424" cy="2271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2356">
                  <a:extLst>
                    <a:ext uri="{9D8B030D-6E8A-4147-A177-3AD203B41FA5}">
                      <a16:colId xmlns:a16="http://schemas.microsoft.com/office/drawing/2014/main" val="574304036"/>
                    </a:ext>
                  </a:extLst>
                </a:gridCol>
                <a:gridCol w="2342356">
                  <a:extLst>
                    <a:ext uri="{9D8B030D-6E8A-4147-A177-3AD203B41FA5}">
                      <a16:colId xmlns:a16="http://schemas.microsoft.com/office/drawing/2014/main" val="537019085"/>
                    </a:ext>
                  </a:extLst>
                </a:gridCol>
                <a:gridCol w="2342356">
                  <a:extLst>
                    <a:ext uri="{9D8B030D-6E8A-4147-A177-3AD203B41FA5}">
                      <a16:colId xmlns:a16="http://schemas.microsoft.com/office/drawing/2014/main" val="1538042651"/>
                    </a:ext>
                  </a:extLst>
                </a:gridCol>
                <a:gridCol w="2342356">
                  <a:extLst>
                    <a:ext uri="{9D8B030D-6E8A-4147-A177-3AD203B41FA5}">
                      <a16:colId xmlns:a16="http://schemas.microsoft.com/office/drawing/2014/main" val="2670803437"/>
                    </a:ext>
                  </a:extLst>
                </a:gridCol>
              </a:tblGrid>
              <a:tr h="2073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상황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문구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처리 시나리오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1971312"/>
                  </a:ext>
                </a:extLst>
              </a:tr>
              <a:tr h="3277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118500"/>
                  </a:ext>
                </a:extLst>
              </a:tr>
              <a:tr h="3277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631364"/>
                  </a:ext>
                </a:extLst>
              </a:tr>
              <a:tr h="3277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646237"/>
                  </a:ext>
                </a:extLst>
              </a:tr>
              <a:tr h="3277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918615"/>
                  </a:ext>
                </a:extLst>
              </a:tr>
              <a:tr h="3277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5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24318"/>
                  </a:ext>
                </a:extLst>
              </a:tr>
              <a:tr h="3277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6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5948501"/>
                  </a:ext>
                </a:extLst>
              </a:tr>
            </a:tbl>
          </a:graphicData>
        </a:graphic>
      </p:graphicFrame>
      <p:sp>
        <p:nvSpPr>
          <p:cNvPr id="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유효성 검사</a:t>
            </a:r>
          </a:p>
        </p:txBody>
      </p:sp>
    </p:spTree>
    <p:extLst>
      <p:ext uri="{BB962C8B-B14F-4D97-AF65-F5344CB8AC3E}">
        <p14:creationId xmlns:p14="http://schemas.microsoft.com/office/powerpoint/2010/main" val="3080871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1743</TotalTime>
  <Words>1137</Words>
  <Application>Microsoft Office PowerPoint</Application>
  <PresentationFormat>와이드스크린</PresentationFormat>
  <Paragraphs>451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맑은 고딕</vt:lpstr>
      <vt:lpstr>Arial</vt:lpstr>
      <vt:lpstr>Wingdings</vt:lpstr>
      <vt:lpstr>Office 테마</vt:lpstr>
      <vt:lpstr>PowerPoint 프레젠테이션</vt:lpstr>
      <vt:lpstr>히스토리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DW-203</cp:lastModifiedBy>
  <cp:revision>86</cp:revision>
  <dcterms:created xsi:type="dcterms:W3CDTF">2023-07-14T02:26:15Z</dcterms:created>
  <dcterms:modified xsi:type="dcterms:W3CDTF">2026-03-23T07:31:22Z</dcterms:modified>
</cp:coreProperties>
</file>