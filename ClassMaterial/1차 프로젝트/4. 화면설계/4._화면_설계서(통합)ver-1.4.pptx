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1" r:id="rId5"/>
    <p:sldId id="268" r:id="rId6"/>
    <p:sldId id="269" r:id="rId7"/>
    <p:sldId id="265" r:id="rId8"/>
    <p:sldId id="282" r:id="rId9"/>
    <p:sldId id="285" r:id="rId10"/>
    <p:sldId id="286" r:id="rId11"/>
    <p:sldId id="284" r:id="rId12"/>
    <p:sldId id="283" r:id="rId13"/>
    <p:sldId id="288" r:id="rId14"/>
    <p:sldId id="294" r:id="rId15"/>
    <p:sldId id="297" r:id="rId16"/>
    <p:sldId id="298" r:id="rId17"/>
    <p:sldId id="299" r:id="rId18"/>
    <p:sldId id="290" r:id="rId19"/>
    <p:sldId id="300" r:id="rId20"/>
    <p:sldId id="291" r:id="rId21"/>
    <p:sldId id="292" r:id="rId22"/>
    <p:sldId id="293" r:id="rId23"/>
    <p:sldId id="281" r:id="rId24"/>
    <p:sldId id="295" r:id="rId25"/>
    <p:sldId id="296" r:id="rId26"/>
    <p:sldId id="287" r:id="rId27"/>
    <p:sldId id="289" r:id="rId28"/>
    <p:sldId id="274" r:id="rId29"/>
    <p:sldId id="273" r:id="rId30"/>
    <p:sldId id="271" r:id="rId31"/>
    <p:sldId id="280" r:id="rId32"/>
    <p:sldId id="272" r:id="rId33"/>
    <p:sldId id="275" r:id="rId34"/>
    <p:sldId id="279" r:id="rId35"/>
    <p:sldId id="277" r:id="rId36"/>
    <p:sldId id="278" r:id="rId37"/>
    <p:sldId id="276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PHC </a:t>
            </a:r>
            <a:r>
              <a:rPr lang="ko-KR" altLang="en-US" dirty="0" smtClean="0">
                <a:solidFill>
                  <a:schemeClr val="tx1"/>
                </a:solidFill>
              </a:rPr>
              <a:t>감시반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9589"/>
              </p:ext>
            </p:extLst>
          </p:nvPr>
        </p:nvGraphicFramePr>
        <p:xfrm>
          <a:off x="3541464" y="3871568"/>
          <a:ext cx="4840448" cy="2021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2026.03.23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5Drone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차도헌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170419"/>
              </p:ext>
            </p:extLst>
          </p:nvPr>
        </p:nvGraphicFramePr>
        <p:xfrm>
          <a:off x="156556" y="679049"/>
          <a:ext cx="11879999" cy="600876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 상태에 따라 주요 메뉴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반려동물 상태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알림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최근 이벤트 정보를 통합 제공하는 메인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F-001, F-002 / UR-001~UR-011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</a:t>
                      </a:r>
                      <a:r>
                        <a:rPr lang="en-US" altLang="ko-KR" sz="1400" dirty="0" err="1" smtClean="0"/>
                        <a:t>NonSignIn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비로그인</a:t>
                      </a:r>
                      <a:r>
                        <a:rPr lang="ko-KR" altLang="en-US" sz="1400" dirty="0" smtClean="0"/>
                        <a:t> 상태로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화면 표시 내용을 제한적으로 공개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F-001, F-002 / UR-001~UR-011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기본정보 입력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필수값</a:t>
                      </a:r>
                      <a:r>
                        <a:rPr lang="ko-KR" altLang="en-US" sz="1400" dirty="0" smtClean="0"/>
                        <a:t> 검증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중복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인증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가입 완료 안내를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F-003, F-004 / UR-012~UR-019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회원가입 완료 후 안내하는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37096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PHC-LO-03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아이디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비밀번호를 검증하여 로그인 처리하고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실패 시 오류 메시지와 회원가입 유도 정보를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F-005 / UR-020~UR-023, UR-004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주요 기능 안내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요소를 통해 사용자의 첫 진입 경험을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F-006 / UR-024~UR-027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PHC-DA-01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실시간 영상</a:t>
                      </a:r>
                      <a:r>
                        <a:rPr lang="en-US" altLang="ko-KR" sz="1400" dirty="0" smtClean="0"/>
                        <a:t>, PTZ </a:t>
                      </a:r>
                      <a:r>
                        <a:rPr lang="ko-KR" altLang="en-US" sz="1400" dirty="0" smtClean="0"/>
                        <a:t>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양방향 오디오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급여 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환경 데이터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위험 알림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상태 시각화를 통합 제공하는 핵심 관제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F-018~F-028 / UR-055~UR-074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529879"/>
              </p:ext>
            </p:extLst>
          </p:nvPr>
        </p:nvGraphicFramePr>
        <p:xfrm>
          <a:off x="181495" y="715584"/>
          <a:ext cx="11880001" cy="53727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0870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73587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800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Gallery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저장된 하이라이트 이미지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영상 목록을 갤러리 형태로 조회하고 조건에 따라 탐색하는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F-007 / UR-028, UR-029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선택한 미디어의 상세 정보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유형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알림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/SNS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설정을 확인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F-007, F-009 / UR-029~UR-032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91440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 기준으로 </a:t>
                      </a:r>
                      <a:r>
                        <a:rPr lang="ko-KR" altLang="en-US" sz="1400" dirty="0" err="1" smtClean="0"/>
                        <a:t>알림기록과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조치기록</a:t>
                      </a:r>
                      <a:r>
                        <a:rPr lang="ko-KR" altLang="en-US" sz="1400" dirty="0" smtClean="0"/>
                        <a:t> 조회 기능으로 이동할 수 있는 </a:t>
                      </a:r>
                      <a:r>
                        <a:rPr lang="ko-KR" altLang="en-US" sz="1400" dirty="0" err="1" smtClean="0"/>
                        <a:t>펫관리</a:t>
                      </a:r>
                      <a:r>
                        <a:rPr lang="ko-KR" altLang="en-US" sz="1400" dirty="0" smtClean="0"/>
                        <a:t> 메인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F-010, F-011, F-012 / UR-034~UR-039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 err="1" smtClean="0"/>
                        <a:t>AlertRecord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</a:t>
                      </a:r>
                      <a:r>
                        <a:rPr lang="ko-KR" altLang="en-US" sz="1400" dirty="0" err="1" smtClean="0"/>
                        <a:t>알림기록을</a:t>
                      </a:r>
                      <a:r>
                        <a:rPr lang="ko-KR" altLang="en-US" sz="1400" dirty="0" smtClean="0"/>
                        <a:t> 기간별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종류별로 조회하고 연관 이벤트 메시지를 확인하는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F-010 / UR-034, UR-035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PHC-PE-03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수동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F-011 / UR-036, UR-037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25017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985649"/>
              </p:ext>
            </p:extLst>
          </p:nvPr>
        </p:nvGraphicFramePr>
        <p:xfrm>
          <a:off x="198120" y="543452"/>
          <a:ext cx="11880001" cy="56040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8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2438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 하위 페이지에 접근할 수 있고 </a:t>
                      </a:r>
                      <a:r>
                        <a:rPr lang="ko-KR" altLang="en-US" sz="1400" dirty="0" err="1" smtClean="0"/>
                        <a:t>요약정보를</a:t>
                      </a:r>
                      <a:r>
                        <a:rPr lang="ko-KR" altLang="en-US" sz="1400" dirty="0" smtClean="0"/>
                        <a:t>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계정 정보 조회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비밀번호 변경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로그아웃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회원 탈퇴를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F-013 / UR-040~UR-042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반려동물 목록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상세 조회와 등록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프로필 이미지 관리 기능을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F-015, F-016 / UR-045~UR-051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위치 등 설정 정보를 변경하는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F-014 / UR-043, UR-044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PHC-SE-05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이벤트 발생 조건과 알림 수신 여부를 개별 또는 일괄 </a:t>
                      </a:r>
                      <a:r>
                        <a:rPr lang="en-US" altLang="ko-KR" sz="1400" dirty="0" smtClean="0"/>
                        <a:t>ON/OFF</a:t>
                      </a:r>
                      <a:r>
                        <a:rPr lang="ko-KR" altLang="en-US" sz="1400" dirty="0" smtClean="0"/>
                        <a:t>로 설정하는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F-017 / UR-052~UR-054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243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전체 반려동물 데이터 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err="1" smtClean="0"/>
                        <a:t>상세조회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삭제를 수행하는 관리자용 데이터 관리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F-029 / ADM-001~ADM-004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205644"/>
              </p:ext>
            </p:extLst>
          </p:nvPr>
        </p:nvGraphicFramePr>
        <p:xfrm>
          <a:off x="187310" y="620860"/>
          <a:ext cx="11879999" cy="547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사용자의 권한을 관리</a:t>
                      </a:r>
                      <a:endParaRPr lang="en-US" altLang="ko-KR" sz="1400" dirty="0" smtClean="0"/>
                    </a:p>
                    <a:p>
                      <a:pPr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관리자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일반사용자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휴면사용자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F-031 / ADM-009, ADM-010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PHC-SI-01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반려동물 상태 데이터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심박수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체온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활동량 등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입력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전송하고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판별 → 알림 푸시 → 조치 기록까지 전체 데이터 흐름 루프를 검증하는 관리자 전용 화면</a:t>
                      </a:r>
                    </a:p>
                    <a:p>
                      <a:r>
                        <a:rPr lang="ko-KR" altLang="en-US" sz="1400" dirty="0" smtClean="0"/>
                        <a:t/>
                      </a:r>
                      <a:br>
                        <a:rPr lang="ko-KR" altLang="en-US" sz="1400" dirty="0" smtClean="0"/>
                      </a:b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F-032, F-033 / ADM-011~ADM-017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9165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9303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31430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770973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랜딩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PHC-LA-01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랜딩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UR-024~027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95385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랜딩화면</a:t>
                      </a:r>
                      <a:r>
                        <a:rPr lang="ko-KR" altLang="en-US" sz="1400" dirty="0" smtClean="0"/>
                        <a:t> 제공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주요기능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2D3DE-EF7F-3AC9-D2EB-B4473B72C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6" y="1262847"/>
            <a:ext cx="2398343" cy="4948173"/>
          </a:xfrm>
          <a:prstGeom prst="rect">
            <a:avLst/>
          </a:prstGeom>
        </p:spPr>
      </p:pic>
      <p:pic>
        <p:nvPicPr>
          <p:cNvPr id="6" name="그림 5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B2A97-F614-ADDD-02E8-EE84B118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38" y="1242165"/>
            <a:ext cx="2244699" cy="4947782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BB367F-AEE1-D876-094A-AE2F011DB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79" y="1221288"/>
            <a:ext cx="2384918" cy="52191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19BAD7-CF55-D271-A4D6-F840CC11DA69}"/>
              </a:ext>
            </a:extLst>
          </p:cNvPr>
          <p:cNvSpPr/>
          <p:nvPr/>
        </p:nvSpPr>
        <p:spPr>
          <a:xfrm flipH="1">
            <a:off x="5897670" y="1221288"/>
            <a:ext cx="2839233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EC41F9-84E3-F15D-EC74-B483D4DF6A42}"/>
              </a:ext>
            </a:extLst>
          </p:cNvPr>
          <p:cNvSpPr/>
          <p:nvPr/>
        </p:nvSpPr>
        <p:spPr>
          <a:xfrm flipH="1">
            <a:off x="3173258" y="3945698"/>
            <a:ext cx="2484330" cy="224424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CEA4B-B08C-FAFE-B3E4-2C2BDE0C3CE5}"/>
              </a:ext>
            </a:extLst>
          </p:cNvPr>
          <p:cNvSpPr/>
          <p:nvPr/>
        </p:nvSpPr>
        <p:spPr>
          <a:xfrm flipH="1">
            <a:off x="469722" y="3277642"/>
            <a:ext cx="2390386" cy="291229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6758E-3010-97DE-CF15-E6D41406D351}"/>
              </a:ext>
            </a:extLst>
          </p:cNvPr>
          <p:cNvSpPr/>
          <p:nvPr/>
        </p:nvSpPr>
        <p:spPr>
          <a:xfrm flipH="1">
            <a:off x="3225446" y="1231723"/>
            <a:ext cx="2379948" cy="249476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A66463-D495-2A02-C539-91F287E4605A}"/>
              </a:ext>
            </a:extLst>
          </p:cNvPr>
          <p:cNvSpPr/>
          <p:nvPr/>
        </p:nvSpPr>
        <p:spPr>
          <a:xfrm flipH="1">
            <a:off x="5897666" y="3893504"/>
            <a:ext cx="2839234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CD85186-50A3-44B5-D9A3-4152D575D140}"/>
              </a:ext>
            </a:extLst>
          </p:cNvPr>
          <p:cNvCxnSpPr/>
          <p:nvPr/>
        </p:nvCxnSpPr>
        <p:spPr>
          <a:xfrm flipV="1">
            <a:off x="1723213" y="2912325"/>
            <a:ext cx="365343" cy="35490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96EBCA-727A-9BAA-2EC4-FF2D6558746D}"/>
              </a:ext>
            </a:extLst>
          </p:cNvPr>
          <p:cNvSpPr txBox="1"/>
          <p:nvPr/>
        </p:nvSpPr>
        <p:spPr>
          <a:xfrm>
            <a:off x="2129426" y="2567835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0FD5B80-40D0-86F0-6C75-B8CBA8B77D91}"/>
              </a:ext>
            </a:extLst>
          </p:cNvPr>
          <p:cNvCxnSpPr>
            <a:cxnSpLocks/>
          </p:cNvCxnSpPr>
          <p:nvPr/>
        </p:nvCxnSpPr>
        <p:spPr>
          <a:xfrm flipV="1">
            <a:off x="2641788" y="2526105"/>
            <a:ext cx="574110" cy="7306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F90F2F3-A98F-98FB-43CE-20284CCF00C4}"/>
              </a:ext>
            </a:extLst>
          </p:cNvPr>
          <p:cNvCxnSpPr>
            <a:cxnSpLocks/>
          </p:cNvCxnSpPr>
          <p:nvPr/>
        </p:nvCxnSpPr>
        <p:spPr>
          <a:xfrm flipV="1">
            <a:off x="4552006" y="3945722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FDDCD61-8AB9-DC9C-0DDC-AA75F99CCE94}"/>
              </a:ext>
            </a:extLst>
          </p:cNvPr>
          <p:cNvSpPr txBox="1"/>
          <p:nvPr/>
        </p:nvSpPr>
        <p:spPr>
          <a:xfrm>
            <a:off x="4363234" y="4415423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BC01F29-D442-55A9-9F2C-8326F47E59C4}"/>
              </a:ext>
            </a:extLst>
          </p:cNvPr>
          <p:cNvCxnSpPr>
            <a:cxnSpLocks/>
          </p:cNvCxnSpPr>
          <p:nvPr/>
        </p:nvCxnSpPr>
        <p:spPr>
          <a:xfrm flipV="1">
            <a:off x="8101046" y="1231748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981524-D5DE-4249-A80A-D2AE3A9A12E8}"/>
              </a:ext>
            </a:extLst>
          </p:cNvPr>
          <p:cNvSpPr txBox="1"/>
          <p:nvPr/>
        </p:nvSpPr>
        <p:spPr>
          <a:xfrm>
            <a:off x="7922713" y="1617942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B0CB435-4E53-5939-535C-362BA835F1C1}"/>
              </a:ext>
            </a:extLst>
          </p:cNvPr>
          <p:cNvCxnSpPr>
            <a:cxnSpLocks/>
          </p:cNvCxnSpPr>
          <p:nvPr/>
        </p:nvCxnSpPr>
        <p:spPr>
          <a:xfrm>
            <a:off x="8737787" y="4592897"/>
            <a:ext cx="219205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059BA3-C0C0-3DFC-E7F1-6C8BACDF8452}"/>
              </a:ext>
            </a:extLst>
          </p:cNvPr>
          <p:cNvSpPr txBox="1"/>
          <p:nvPr/>
        </p:nvSpPr>
        <p:spPr>
          <a:xfrm>
            <a:off x="8956111" y="4384107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870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767A-CEEC-E1D3-0552-EDDD6E14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49DC49-2C91-60DB-0C89-468A829B6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792925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회원가입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UR-012~019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10DA23C-2063-A68C-343E-8FD106DD8477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C0D69ED9-B728-A8C2-FAFA-372C7318B39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필수 회원정보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보내기-이메일로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인증하기-이메일로 받은 인증번호 </a:t>
                      </a:r>
                      <a:r>
                        <a:rPr lang="ko-KR" altLang="en-US" sz="1400" dirty="0"/>
                        <a:t>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회원가입완료 - </a:t>
                      </a:r>
                      <a:br>
                        <a:rPr lang="ko-KR" altLang="en-US" sz="1400" dirty="0"/>
                      </a:br>
                      <a:r>
                        <a:rPr lang="ko-KR" altLang="en-US" sz="1400"/>
                        <a:t>회원가입 완료 알림페이지로 이동​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B562F24-6AD0-DC64-116B-469184A4517A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A42D04-1342-E4F3-F528-EDE5C550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3" y="1249799"/>
            <a:ext cx="2621985" cy="522478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0A6E3A-692E-F006-B56B-19627AECFBF6}"/>
              </a:ext>
            </a:extLst>
          </p:cNvPr>
          <p:cNvSpPr/>
          <p:nvPr/>
        </p:nvSpPr>
        <p:spPr>
          <a:xfrm>
            <a:off x="3632549" y="2223368"/>
            <a:ext cx="2588709" cy="2077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85E6ED2-4C01-19E0-06E3-43E2F59E9121}"/>
              </a:ext>
            </a:extLst>
          </p:cNvPr>
          <p:cNvCxnSpPr/>
          <p:nvPr/>
        </p:nvCxnSpPr>
        <p:spPr>
          <a:xfrm flipV="1">
            <a:off x="6243019" y="2651365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C537AE-8DD5-565D-3C76-DE4A9E731A8E}"/>
              </a:ext>
            </a:extLst>
          </p:cNvPr>
          <p:cNvSpPr txBox="1"/>
          <p:nvPr/>
        </p:nvSpPr>
        <p:spPr>
          <a:xfrm>
            <a:off x="6805809" y="2515643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CBD94F-73A5-95C7-BE45-1DCC2C090568}"/>
              </a:ext>
            </a:extLst>
          </p:cNvPr>
          <p:cNvSpPr/>
          <p:nvPr/>
        </p:nvSpPr>
        <p:spPr>
          <a:xfrm>
            <a:off x="3611672" y="4300600"/>
            <a:ext cx="2620023" cy="3757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7F1005D-3173-C652-FA4E-59EBFB435E6A}"/>
              </a:ext>
            </a:extLst>
          </p:cNvPr>
          <p:cNvCxnSpPr>
            <a:cxnSpLocks/>
          </p:cNvCxnSpPr>
          <p:nvPr/>
        </p:nvCxnSpPr>
        <p:spPr>
          <a:xfrm flipV="1">
            <a:off x="6211704" y="4467638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FB4BA6-D664-0AE1-E7F4-020EC5BADD29}"/>
              </a:ext>
            </a:extLst>
          </p:cNvPr>
          <p:cNvSpPr txBox="1"/>
          <p:nvPr/>
        </p:nvSpPr>
        <p:spPr>
          <a:xfrm>
            <a:off x="6774493" y="4331916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39DF6E-46E0-1EEC-2382-974AD5A2FCFD}"/>
              </a:ext>
            </a:extLst>
          </p:cNvPr>
          <p:cNvSpPr/>
          <p:nvPr/>
        </p:nvSpPr>
        <p:spPr>
          <a:xfrm>
            <a:off x="3622110" y="4916463"/>
            <a:ext cx="2620023" cy="4384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623B3CD-131D-5777-89CF-7522D6E1CCA3}"/>
              </a:ext>
            </a:extLst>
          </p:cNvPr>
          <p:cNvCxnSpPr>
            <a:cxnSpLocks/>
          </p:cNvCxnSpPr>
          <p:nvPr/>
        </p:nvCxnSpPr>
        <p:spPr>
          <a:xfrm flipV="1">
            <a:off x="6253456" y="5052186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7C95CE-6802-F934-1496-2B9A3A351887}"/>
              </a:ext>
            </a:extLst>
          </p:cNvPr>
          <p:cNvSpPr txBox="1"/>
          <p:nvPr/>
        </p:nvSpPr>
        <p:spPr>
          <a:xfrm>
            <a:off x="6816246" y="4916464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519E4D-810B-1324-46E3-0D98603FD462}"/>
              </a:ext>
            </a:extLst>
          </p:cNvPr>
          <p:cNvSpPr/>
          <p:nvPr/>
        </p:nvSpPr>
        <p:spPr>
          <a:xfrm>
            <a:off x="3622109" y="5542764"/>
            <a:ext cx="2609585" cy="48016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61657C1-2398-A684-DF2C-3E8E8EF4359B}"/>
              </a:ext>
            </a:extLst>
          </p:cNvPr>
          <p:cNvCxnSpPr>
            <a:cxnSpLocks/>
          </p:cNvCxnSpPr>
          <p:nvPr/>
        </p:nvCxnSpPr>
        <p:spPr>
          <a:xfrm flipV="1">
            <a:off x="6243018" y="5772433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E0032A-4A59-9C17-EFFF-A44B38F8C6D8}"/>
              </a:ext>
            </a:extLst>
          </p:cNvPr>
          <p:cNvSpPr txBox="1"/>
          <p:nvPr/>
        </p:nvSpPr>
        <p:spPr>
          <a:xfrm>
            <a:off x="6805808" y="5636711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893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534E-05A5-34F5-8753-97B76B90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B0C5B8-7034-80C6-691C-AF49C46BE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024451"/>
              </p:ext>
            </p:extLst>
          </p:nvPr>
        </p:nvGraphicFramePr>
        <p:xfrm>
          <a:off x="238124" y="485776"/>
          <a:ext cx="9324973" cy="8266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회원가입알림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회원가입알림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4310E7C-F3A2-4FAB-9AC3-1065B698F4AF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7180D95-BA8B-B047-E70B-49AE4C7D0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45176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 페이지로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err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PHC-LO-02</a:t>
                      </a:r>
                      <a:endParaRPr lang="ko-KR" altLang="en-US" sz="1400" dirty="0" smtClean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400" b="1" i="0" u="none" strike="noStrike" noProof="0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FFC4DEBF-CA58-6DF2-FEC3-400E647FA9FC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BC6666-51C5-1726-C6B6-724A09F2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058" y="1247385"/>
            <a:ext cx="2341063" cy="52191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89124" y="5344436"/>
            <a:ext cx="2192053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992498" y="5459283"/>
            <a:ext cx="469727" cy="208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61343" y="5271368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230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0B17-CDD1-8DCB-981B-B8A1B767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E17C7DB-39B8-C3F4-C1BA-94AA53B10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115091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UR-004</a:t>
                      </a:r>
                      <a:r>
                        <a:rPr lang="en-US" altLang="ko-KR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UR-020~023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1B333EA-6C58-D1E8-CC73-A2BC84C0382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6D3E3424-E85F-D27F-EC66-ED70E1581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0674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로그인-메인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회원가입-회원가입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페이지로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PHC-MA-01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E2F2BEA-4ACC-AE59-5544-78530C0C52C9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2F2FB5-192B-EE80-821B-BE8218DE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4" y="1185666"/>
            <a:ext cx="2463583" cy="53217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3477762-614B-E0AB-8E5B-E2C333D86498}"/>
              </a:ext>
            </a:extLst>
          </p:cNvPr>
          <p:cNvSpPr/>
          <p:nvPr/>
        </p:nvSpPr>
        <p:spPr>
          <a:xfrm>
            <a:off x="3851753" y="5333998"/>
            <a:ext cx="2244245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0E9EB95-847C-9795-33EE-1EBD765B3869}"/>
              </a:ext>
            </a:extLst>
          </p:cNvPr>
          <p:cNvCxnSpPr/>
          <p:nvPr/>
        </p:nvCxnSpPr>
        <p:spPr>
          <a:xfrm flipV="1">
            <a:off x="6107321" y="5459283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841F21-7CB1-E663-0C8A-FE0E53E4FA0D}"/>
              </a:ext>
            </a:extLst>
          </p:cNvPr>
          <p:cNvSpPr txBox="1"/>
          <p:nvPr/>
        </p:nvSpPr>
        <p:spPr>
          <a:xfrm>
            <a:off x="6764055" y="5302684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5A6E2A9-DA9C-55B5-56D4-F198410D1CC9}"/>
              </a:ext>
            </a:extLst>
          </p:cNvPr>
          <p:cNvCxnSpPr/>
          <p:nvPr/>
        </p:nvCxnSpPr>
        <p:spPr>
          <a:xfrm>
            <a:off x="5616719" y="5981201"/>
            <a:ext cx="1148219" cy="8350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8F7CF82-75F2-4E61-C35B-E74CA6C31C47}"/>
              </a:ext>
            </a:extLst>
          </p:cNvPr>
          <p:cNvSpPr txBox="1"/>
          <p:nvPr/>
        </p:nvSpPr>
        <p:spPr>
          <a:xfrm>
            <a:off x="6826685" y="5918547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D33A73-7E47-9D0D-9BC4-672791CF535C}"/>
              </a:ext>
            </a:extLst>
          </p:cNvPr>
          <p:cNvSpPr/>
          <p:nvPr/>
        </p:nvSpPr>
        <p:spPr>
          <a:xfrm>
            <a:off x="4979095" y="5814163"/>
            <a:ext cx="626300" cy="1983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1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841572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PHC-MA-02</a:t>
                      </a:r>
                      <a:endParaRPr lang="ko-KR" altLang="en-US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메인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UR-001~011</a:t>
                      </a:r>
                      <a:endParaRPr lang="ko-KR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287541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로그인-로그인페이지로이동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대시보드 - 대시보드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PHC-LO-02,</a:t>
                      </a:r>
                      <a:br>
                        <a:rPr lang="en-US" altLang="ko-KR" sz="1400" dirty="0" smtClean="0"/>
                      </a:br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16F6-2DA2-0F78-EB67-45A146FB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692" y="1263041"/>
            <a:ext cx="2371190" cy="51043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7337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" t="4283" r="2744" b="4976"/>
          <a:stretch/>
        </p:blipFill>
        <p:spPr>
          <a:xfrm>
            <a:off x="3780609" y="1230196"/>
            <a:ext cx="2444726" cy="5245331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Main-01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메인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UR-001~011</a:t>
                      </a:r>
                      <a:endParaRPr lang="ko-KR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5871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관련페이지</a:t>
                      </a:r>
                      <a:r>
                        <a:rPr lang="ko-KR" altLang="en-US" sz="1400" dirty="0" smtClean="0"/>
                        <a:t> 이동 및 펫 선택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대시보드 - 대시보드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PHC-MA-02, PHC-LO-02, PHC-GA-01, PHC-SE-01, PHC-DA-01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6076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PHC-DA-01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UR-055~UR-074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54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mtClean="0"/>
                        <a:t>다중 영상 관제 및 디바이스 제어 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3625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실시간 알림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각종 조치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화면 캡처 및 녹화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사료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식수 급여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야간</a:t>
                      </a:r>
                      <a:r>
                        <a:rPr lang="ko-KR" altLang="en-US" sz="1400" baseline="0" dirty="0" smtClean="0"/>
                        <a:t> 모드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ko-KR" altLang="en-US" sz="1400" baseline="0" dirty="0" smtClean="0"/>
                        <a:t>음성 송출 등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환경 데이터 표시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온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습도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610" y="1264097"/>
            <a:ext cx="2420459" cy="5179262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3773978" y="1729047"/>
            <a:ext cx="1211768" cy="25769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849344" y="1845425"/>
            <a:ext cx="1050679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08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777901"/>
              </p:ext>
            </p:extLst>
          </p:nvPr>
        </p:nvGraphicFramePr>
        <p:xfrm>
          <a:off x="238124" y="485776"/>
          <a:ext cx="9324977" cy="6742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PHC-PE-01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ADM-009, ADM-010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241917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반려동물 선택 후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알림기록을</a:t>
                      </a:r>
                      <a:r>
                        <a:rPr lang="ko-KR" altLang="en-US" sz="1400" dirty="0" smtClean="0"/>
                        <a:t> 기간별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ko-KR" altLang="en-US" sz="1400" dirty="0" smtClean="0"/>
                        <a:t> 종류별로 조회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연관 이벤트 메시지를 함께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2150634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733621"/>
              </p:ext>
            </p:extLst>
          </p:nvPr>
        </p:nvGraphicFramePr>
        <p:xfrm>
          <a:off x="238124" y="485776"/>
          <a:ext cx="9324977" cy="6742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AlertRecord</a:t>
                      </a:r>
                      <a:endParaRPr lang="ko-KR" altLang="en-US" sz="1400" dirty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PHC-PE-02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ADM-009, ADM-010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99134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수동 조치와 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2338777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491096"/>
              </p:ext>
            </p:extLst>
          </p:nvPr>
        </p:nvGraphicFramePr>
        <p:xfrm>
          <a:off x="238124" y="485776"/>
          <a:ext cx="9324977" cy="6742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ActionRecord</a:t>
                      </a:r>
                      <a:endParaRPr lang="ko-KR" altLang="en-US" sz="1200" dirty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PHC-PE-03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ADM-009, ADM-010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78782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수동 조치와 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123194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900185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MainSetting</a:t>
                      </a:r>
                      <a:endParaRPr lang="ko-KR" altLang="en-US" sz="1200" dirty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634756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로그인한 사용자의 계정 정보를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PHC-MA-01</a:t>
                      </a:r>
                      <a:endParaRPr lang="ko-KR" altLang="en-US" sz="1400" dirty="0" smtClean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297" y="1201092"/>
            <a:ext cx="2433473" cy="530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33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539150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MyPage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UR-040~UR-042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689100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로그인한 사용자의 계정 정보를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FF0000"/>
                          </a:solidFill>
                        </a:rPr>
                        <a:t>PHC-MA-01</a:t>
                      </a:r>
                      <a:endParaRPr lang="ko-KR" altLang="en-US" sz="1400" dirty="0" smtClean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297" y="1201092"/>
            <a:ext cx="2433473" cy="530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09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368812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663027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34" y="1220937"/>
            <a:ext cx="2179715" cy="526384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47" y="2556395"/>
            <a:ext cx="2909861" cy="16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38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DeviceSetting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기기 위치 등 설정 정보를 </a:t>
                      </a:r>
                      <a:r>
                        <a:rPr lang="en-US" altLang="ko-KR" sz="1400" dirty="0" smtClean="0"/>
                        <a:t>DB</a:t>
                      </a:r>
                      <a:r>
                        <a:rPr lang="ko-KR" altLang="en-US" sz="1400" dirty="0" smtClean="0"/>
                        <a:t>에 업데이트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75" y="1163782"/>
            <a:ext cx="2205741" cy="50361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541692"/>
            <a:ext cx="2909861" cy="262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51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AlertEventSet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80407"/>
            <a:ext cx="9324976" cy="5363268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6181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사용자가 이벤트 발생 조건과 알림 수신 여부를 개별적으로 설정</a:t>
                      </a:r>
                      <a:endParaRPr lang="en-US" altLang="ko-KR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알림 </a:t>
                      </a:r>
                      <a:r>
                        <a:rPr lang="ko-KR" altLang="en-US" sz="1400" dirty="0" err="1" smtClean="0"/>
                        <a:t>수신여부는</a:t>
                      </a:r>
                      <a:r>
                        <a:rPr lang="ko-KR" altLang="en-US" sz="1400" dirty="0" smtClean="0"/>
                        <a:t> 개별 이벤트로 세분화하여 일괄 </a:t>
                      </a:r>
                      <a:r>
                        <a:rPr lang="en-US" altLang="ko-KR" sz="1400" dirty="0" smtClean="0"/>
                        <a:t>on/off </a:t>
                      </a:r>
                      <a:r>
                        <a:rPr lang="ko-KR" altLang="en-US" sz="1400" dirty="0" err="1" smtClean="0"/>
                        <a:t>토글</a:t>
                      </a:r>
                      <a:r>
                        <a:rPr lang="ko-KR" altLang="en-US" sz="1400" dirty="0" smtClean="0"/>
                        <a:t> 스위치로 제어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세부 </a:t>
                      </a:r>
                      <a:r>
                        <a:rPr lang="ko-KR" altLang="en-US" sz="1400" dirty="0" err="1" smtClean="0"/>
                        <a:t>이벤트별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임계값은</a:t>
                      </a:r>
                      <a:r>
                        <a:rPr lang="ko-KR" altLang="en-US" sz="1400" dirty="0" smtClean="0"/>
                        <a:t> 이벤트 감지에서 제어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29" y="1178063"/>
            <a:ext cx="2426315" cy="53679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49" y="1178063"/>
            <a:ext cx="2322535" cy="41175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145" y="1220666"/>
            <a:ext cx="2089923" cy="54466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906" y="1220666"/>
            <a:ext cx="2390529" cy="46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52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80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ADM-001~ADM-004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6181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전체 반려동물 데이터를 확인하고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ko-KR" altLang="en-US" sz="1400" baseline="0" dirty="0" smtClean="0"/>
                        <a:t> 관리하는 페이지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필터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검색 기능을 통한 반려 동물 상세 데이터 조회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사이트 내 주요 활동 및 시스템 로그를 통합적으로 확인할 수 있는 페이지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44" y="1273531"/>
            <a:ext cx="4888417" cy="516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1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AdminRole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ADM-009, ADM-010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97033"/>
            <a:ext cx="9324976" cy="5346642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851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관리자가 수동 조치와 자동 조치 이력을 유형과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방식별로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72" y="1272769"/>
            <a:ext cx="2318956" cy="500293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600" y="1279926"/>
            <a:ext cx="2318956" cy="499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50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6C34-5E16-929D-B3D9-D563026C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CD2FAAF-C72F-0C6B-EFBD-7702C11A2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098147"/>
              </p:ext>
            </p:extLst>
          </p:nvPr>
        </p:nvGraphicFramePr>
        <p:xfrm>
          <a:off x="238124" y="485776"/>
          <a:ext cx="9324973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시뮬레이션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PHC-SI-01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시뮬레이션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ADM-011~017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38D1506-EAF1-F15B-B4D7-3D37C569BB79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804B767-C11E-355E-32C7-3B24C335C1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상태 데이터 목록 </a:t>
                      </a:r>
                      <a:endParaRPr lang="ko-KR" altLang="en-US" sz="1400" dirty="0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시뮬레이션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실행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처리 단계 흐름 표시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 결과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617362C4-6CBE-CFA4-19B3-C2F3C3785498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7402B6-1E75-3B01-E4AC-1970C7D7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20" y="1252603"/>
            <a:ext cx="6653409" cy="52087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63FFA0-1E6D-79D7-29E5-CF29094ADB6C}"/>
              </a:ext>
            </a:extLst>
          </p:cNvPr>
          <p:cNvSpPr/>
          <p:nvPr/>
        </p:nvSpPr>
        <p:spPr>
          <a:xfrm>
            <a:off x="1471809" y="1523998"/>
            <a:ext cx="6576162" cy="192065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9479A1-415D-558E-48A0-404425C63B68}"/>
              </a:ext>
            </a:extLst>
          </p:cNvPr>
          <p:cNvCxnSpPr/>
          <p:nvPr/>
        </p:nvCxnSpPr>
        <p:spPr>
          <a:xfrm>
            <a:off x="8048855" y="2129447"/>
            <a:ext cx="521919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C71B10-EE34-8DEB-D0B6-E7F7F2A8F9DA}"/>
              </a:ext>
            </a:extLst>
          </p:cNvPr>
          <p:cNvSpPr txBox="1"/>
          <p:nvPr/>
        </p:nvSpPr>
        <p:spPr>
          <a:xfrm>
            <a:off x="8569891" y="1931094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07F122-A618-FDAB-2FA4-58C1593AD4CB}"/>
              </a:ext>
            </a:extLst>
          </p:cNvPr>
          <p:cNvSpPr/>
          <p:nvPr/>
        </p:nvSpPr>
        <p:spPr>
          <a:xfrm>
            <a:off x="6492658" y="4185778"/>
            <a:ext cx="1273478" cy="37578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08F0D06-3BC7-8CAD-D684-D8E1553D11BB}"/>
              </a:ext>
            </a:extLst>
          </p:cNvPr>
          <p:cNvCxnSpPr/>
          <p:nvPr/>
        </p:nvCxnSpPr>
        <p:spPr>
          <a:xfrm>
            <a:off x="7798334" y="4321501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44FDB3-D234-D95A-FFDD-7732AE882CB4}"/>
              </a:ext>
            </a:extLst>
          </p:cNvPr>
          <p:cNvSpPr txBox="1"/>
          <p:nvPr/>
        </p:nvSpPr>
        <p:spPr>
          <a:xfrm>
            <a:off x="8413316" y="4154463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CEC9F2-EF17-1CDA-D105-0688CC0A26BF}"/>
              </a:ext>
            </a:extLst>
          </p:cNvPr>
          <p:cNvSpPr/>
          <p:nvPr/>
        </p:nvSpPr>
        <p:spPr>
          <a:xfrm>
            <a:off x="1847589" y="4645065"/>
            <a:ext cx="3966573" cy="5427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1887CF-D82D-CDDE-C08A-1907247E4564}"/>
              </a:ext>
            </a:extLst>
          </p:cNvPr>
          <p:cNvSpPr/>
          <p:nvPr/>
        </p:nvSpPr>
        <p:spPr>
          <a:xfrm>
            <a:off x="1847589" y="5187859"/>
            <a:ext cx="5949862" cy="87682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863BAF6-3B1A-94C7-4D62-5BD07502B080}"/>
              </a:ext>
            </a:extLst>
          </p:cNvPr>
          <p:cNvCxnSpPr>
            <a:cxnSpLocks/>
          </p:cNvCxnSpPr>
          <p:nvPr/>
        </p:nvCxnSpPr>
        <p:spPr>
          <a:xfrm>
            <a:off x="5815045" y="4864295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456267-78C0-C059-7BD0-6E4352A81B6F}"/>
              </a:ext>
            </a:extLst>
          </p:cNvPr>
          <p:cNvCxnSpPr>
            <a:cxnSpLocks/>
          </p:cNvCxnSpPr>
          <p:nvPr/>
        </p:nvCxnSpPr>
        <p:spPr>
          <a:xfrm>
            <a:off x="7808771" y="5574103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679920-D52B-6A86-DB45-471FB69C0AEE}"/>
              </a:ext>
            </a:extLst>
          </p:cNvPr>
          <p:cNvSpPr txBox="1"/>
          <p:nvPr/>
        </p:nvSpPr>
        <p:spPr>
          <a:xfrm>
            <a:off x="6409150" y="4686819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CDDAF-F235-F096-D707-BF0B82350AE9}"/>
              </a:ext>
            </a:extLst>
          </p:cNvPr>
          <p:cNvSpPr txBox="1"/>
          <p:nvPr/>
        </p:nvSpPr>
        <p:spPr>
          <a:xfrm>
            <a:off x="8496822" y="5375751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9887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902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924279"/>
              </p:ext>
            </p:extLst>
          </p:nvPr>
        </p:nvGraphicFramePr>
        <p:xfrm>
          <a:off x="389314" y="505013"/>
          <a:ext cx="11160001" cy="59924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793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23914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71141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556739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0608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외부 리소스 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이미지, 영상, 라이브러리 등 라이선스를 준수하여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라이선스</a:t>
                      </a:r>
                      <a:endParaRPr lang="ko-KR" altLang="en-US" dirty="0"/>
                    </a:p>
                    <a:p>
                      <a:pPr lvl="0">
                        <a:buNone/>
                      </a:pPr>
                      <a:r>
                        <a:rPr lang="ko-KR" altLang="en-US"/>
                        <a:t>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저작물 사용 규칙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타인의 저작물을 사용할 경우 해당 저작권자가 정한 이용 규칙을 따른다.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개인정보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dirty="0" smtClean="0"/>
                        <a:t>보호정책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/>
                        <a:t>사용자 및 영상 데이터 정보를 개인정보로 간주하여 보호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정보 관리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정보 관리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개인정보는 암호화 및 안전한 방식으로 저장 및 관리한다.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암호화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접근 권한</a:t>
                      </a:r>
                    </a:p>
                    <a:p>
                      <a:pPr latinLnBrk="1"/>
                      <a:r>
                        <a:rPr lang="ko-KR" altLang="en-US" dirty="0" smtClean="0"/>
                        <a:t>정책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사용자 및 관리자 권한을 구분하여 데이터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권한에 따른 사용자 들의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00870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3311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793835"/>
              </p:ext>
            </p:extLst>
          </p:nvPr>
        </p:nvGraphicFramePr>
        <p:xfrm>
          <a:off x="256308" y="543452"/>
          <a:ext cx="11520000" cy="58618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8054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896880">
                <a:tc rowSpan="6">
                  <a:txBody>
                    <a:bodyPr/>
                    <a:lstStyle/>
                    <a:p>
                      <a:r>
                        <a:rPr lang="ko-KR" altLang="en-US" dirty="0"/>
                        <a:t>인증 및 접근 권한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접근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로그인하지 않은 사용자는 대시보드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펫관리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설정 화면 접근을 제한한다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사용자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일반 사용자는 자신의 반려동물 정보와 기록만 조회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수정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일반 사용자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172451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휴명계정</a:t>
                      </a:r>
                      <a:r>
                        <a:rPr lang="ko-KR" altLang="en-US" dirty="0" smtClean="0"/>
                        <a:t> 권한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휴면 정지를 통해 </a:t>
                      </a:r>
                      <a:r>
                        <a:rPr lang="ko-KR" altLang="en-US" dirty="0" err="1" smtClean="0"/>
                        <a:t>사용자권한</a:t>
                      </a:r>
                      <a:r>
                        <a:rPr lang="ko-KR" altLang="en-US" dirty="0" smtClean="0"/>
                        <a:t> 획득 가능하다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ko-KR" altLang="en-US" dirty="0" smtClean="0"/>
                        <a:t> 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휴면계정</a:t>
                      </a:r>
                      <a:r>
                        <a:rPr lang="en-US" altLang="ko-KR" dirty="0" smtClean="0"/>
                        <a:t/>
                      </a:r>
                      <a:br>
                        <a:rPr lang="en-US" altLang="ko-KR" dirty="0" smtClean="0"/>
                      </a:br>
                      <a:r>
                        <a:rPr lang="ko-KR" altLang="en-US" dirty="0" smtClean="0"/>
                        <a:t>전용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49580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관리자는 전체 데이터 조회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 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시뮬레이션 실행이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전용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73889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라우팅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비로그인 사용자가 보호 페이지 접근 시 로그인 페이지로 이동한다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보호 라우팅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607773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비밀 정보 및 중요한 정보 암호화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데이터보호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8103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2517117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949858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1739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95652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데이터 처리 </a:t>
                      </a:r>
                      <a:endParaRPr lang="en-US" altLang="ko-KR" dirty="0" smtClean="0"/>
                    </a:p>
                    <a:p>
                      <a:pPr algn="l" latinLnBrk="1"/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상태 데이터 처리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반려동물 상태 데이터는 시뮬레이션 또는 저장된 </a:t>
                      </a:r>
                      <a:r>
                        <a:rPr lang="ko-KR" altLang="en-US" dirty="0" err="1" smtClean="0"/>
                        <a:t>더미데이터</a:t>
                      </a:r>
                      <a:r>
                        <a:rPr lang="ko-KR" altLang="en-US" dirty="0" smtClean="0"/>
                        <a:t> 기준으로 조회한다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IoT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err="1" smtClean="0"/>
                        <a:t>실연동</a:t>
                      </a:r>
                      <a:r>
                        <a:rPr lang="ko-KR" altLang="en-US" dirty="0" smtClean="0"/>
                        <a:t> 없음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이벤트 판정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 smtClean="0"/>
                        <a:t>입력된 </a:t>
                      </a:r>
                      <a:r>
                        <a:rPr lang="ko-KR" altLang="en-US" dirty="0" err="1" smtClean="0"/>
                        <a:t>상태값이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ko-KR" altLang="en-US" dirty="0" err="1" smtClean="0"/>
                        <a:t>임계치를</a:t>
                      </a:r>
                      <a:r>
                        <a:rPr lang="ko-KR" altLang="en-US" dirty="0" smtClean="0"/>
                        <a:t> 넘으면 이벤트로 판정한다</a:t>
                      </a:r>
                      <a:r>
                        <a:rPr lang="en-US" altLang="ko-KR" dirty="0" smtClean="0"/>
                        <a:t>. (</a:t>
                      </a:r>
                      <a:r>
                        <a:rPr lang="ko-KR" altLang="en-US" dirty="0" smtClean="0"/>
                        <a:t>예</a:t>
                      </a:r>
                      <a:r>
                        <a:rPr lang="en-US" altLang="ko-KR" dirty="0" smtClean="0"/>
                        <a:t>: </a:t>
                      </a:r>
                      <a:r>
                        <a:rPr lang="ko-KR" altLang="en-US" dirty="0" err="1" smtClean="0"/>
                        <a:t>심박수</a:t>
                      </a:r>
                      <a:r>
                        <a:rPr lang="ko-KR" altLang="en-US" dirty="0" smtClean="0"/>
                        <a:t> 이상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체온 이상</a:t>
                      </a:r>
                      <a:r>
                        <a:rPr lang="en-US" altLang="ko-KR" dirty="0" smtClean="0"/>
                        <a:t>)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이벤트 판단 기준 별첨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알림 생성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mtClean="0"/>
                        <a:t>이벤트 발생 또는 알림 등급 발생 시 알림을 생성하고 대시보드와 기록 화면에 함께 반영한다</a:t>
                      </a:r>
                      <a:r>
                        <a:rPr lang="en-US" altLang="ko-KR" smtClean="0"/>
                        <a:t>.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Alert_log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조치 처리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이벤트 유형에 따라 </a:t>
                      </a:r>
                      <a:r>
                        <a:rPr lang="ko-KR" altLang="en-US" dirty="0" err="1" smtClean="0"/>
                        <a:t>자동조치</a:t>
                      </a:r>
                      <a:r>
                        <a:rPr lang="ko-KR" altLang="en-US" dirty="0" smtClean="0"/>
                        <a:t> 또는 </a:t>
                      </a:r>
                      <a:r>
                        <a:rPr lang="ko-KR" altLang="en-US" dirty="0" err="1" smtClean="0"/>
                        <a:t>수동조치를</a:t>
                      </a:r>
                      <a:r>
                        <a:rPr lang="ko-KR" altLang="en-US" dirty="0" smtClean="0"/>
                        <a:t> 수행하고 결과를 기록한다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action log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3926071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001888"/>
              </p:ext>
            </p:extLst>
          </p:nvPr>
        </p:nvGraphicFramePr>
        <p:xfrm>
          <a:off x="148244" y="473826"/>
          <a:ext cx="11520000" cy="5878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9611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7489767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34146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 smtClean="0"/>
                        <a:t>대분류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이름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477157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하이라이트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우다다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이동속도가 </a:t>
                      </a:r>
                      <a:r>
                        <a:rPr lang="en-US" altLang="ko-KR" sz="1600" dirty="0" smtClean="0"/>
                        <a:t>3.0 m/s(</a:t>
                      </a:r>
                      <a:r>
                        <a:rPr lang="ko-KR" altLang="en-US" sz="1600" dirty="0" smtClean="0"/>
                        <a:t>변경가능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이상</a:t>
                      </a:r>
                      <a:r>
                        <a:rPr lang="en-US" altLang="ko-KR" sz="1600" dirty="0" smtClean="0"/>
                        <a:t>, 3</a:t>
                      </a:r>
                      <a:r>
                        <a:rPr lang="ko-KR" altLang="en-US" sz="1600" dirty="0" err="1" smtClean="0"/>
                        <a:t>초이상</a:t>
                      </a:r>
                      <a:r>
                        <a:rPr lang="ko-KR" altLang="en-US" sz="1600" dirty="0" smtClean="0"/>
                        <a:t> 지속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하품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얼굴 중심 입 벌림 동작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회</a:t>
                      </a:r>
                      <a:r>
                        <a:rPr lang="en-US" altLang="ko-KR" sz="1600" dirty="0" smtClean="0"/>
                        <a:t>, 1~3</a:t>
                      </a:r>
                      <a:r>
                        <a:rPr lang="ko-KR" altLang="en-US" sz="1600" dirty="0" smtClean="0"/>
                        <a:t>초 내 닫힘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38679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기지개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직전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분 이상 정지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휴식 상태</a:t>
                      </a:r>
                      <a:r>
                        <a:rPr lang="en-US" altLang="ko-KR" sz="1600" dirty="0" smtClean="0"/>
                        <a:t>, 2~5</a:t>
                      </a:r>
                      <a:r>
                        <a:rPr lang="ko-KR" altLang="en-US" sz="1600" dirty="0" smtClean="0"/>
                        <a:t>초간 자세 확장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34901"/>
                  </a:ext>
                </a:extLst>
              </a:tr>
              <a:tr h="416774"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/>
                        <a:t>이상징후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심박수</a:t>
                      </a:r>
                      <a:r>
                        <a:rPr lang="ko-KR" altLang="en-US" sz="1600" dirty="0" smtClean="0"/>
                        <a:t> 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최근 안정 시 평균 대비 </a:t>
                      </a:r>
                      <a:r>
                        <a:rPr lang="en-US" altLang="ko-KR" sz="1600" dirty="0" smtClean="0"/>
                        <a:t>±30%</a:t>
                      </a:r>
                      <a:r>
                        <a:rPr lang="ko-KR" altLang="en-US" sz="1600" dirty="0" smtClean="0"/>
                        <a:t>이상 이탈</a:t>
                      </a:r>
                      <a:r>
                        <a:rPr lang="en-US" altLang="ko-KR" sz="1600" dirty="0" smtClean="0"/>
                        <a:t>, 10</a:t>
                      </a:r>
                      <a:r>
                        <a:rPr lang="ko-KR" altLang="en-US" sz="1600" dirty="0" smtClean="0"/>
                        <a:t>분 이상 지속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주인과 함께 놀이 및 </a:t>
                      </a:r>
                      <a:r>
                        <a:rPr lang="ko-KR" altLang="en-US" sz="1600" dirty="0" err="1" smtClean="0"/>
                        <a:t>우다다</a:t>
                      </a:r>
                      <a:r>
                        <a:rPr lang="ko-KR" altLang="en-US" sz="1600" dirty="0" smtClean="0"/>
                        <a:t> 직후는 제외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36735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끼니거름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평소 식사 시간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기준 </a:t>
                      </a:r>
                      <a:r>
                        <a:rPr lang="en-US" altLang="ko-KR" sz="1600" dirty="0" smtClean="0"/>
                        <a:t>± 2</a:t>
                      </a:r>
                      <a:r>
                        <a:rPr lang="ko-KR" altLang="en-US" sz="1600" dirty="0" smtClean="0"/>
                        <a:t>시간 이내 섭취 완료 안됨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en-US" altLang="ko-KR" sz="1600" dirty="0" err="1" smtClean="0"/>
                        <a:t>feeder_log.meal_completed</a:t>
                      </a:r>
                      <a:r>
                        <a:rPr lang="en-US" altLang="ko-KR" sz="1600" dirty="0" smtClean="0"/>
                        <a:t> = false </a:t>
                      </a:r>
                      <a:r>
                        <a:rPr lang="ko-KR" altLang="en-US" sz="1600" dirty="0" smtClean="0"/>
                        <a:t>또는 해당 시간대 </a:t>
                      </a:r>
                      <a:r>
                        <a:rPr lang="en-US" altLang="ko-KR" sz="1600" dirty="0" err="1" smtClean="0"/>
                        <a:t>food_amount</a:t>
                      </a:r>
                      <a:r>
                        <a:rPr lang="en-US" altLang="ko-KR" sz="1600" dirty="0" smtClean="0"/>
                        <a:t> = 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3711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음수량</a:t>
                      </a:r>
                      <a:r>
                        <a:rPr lang="ko-KR" altLang="en-US" sz="1600" dirty="0" smtClean="0"/>
                        <a:t>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24</a:t>
                      </a:r>
                      <a:r>
                        <a:rPr lang="ko-KR" altLang="en-US" sz="1600" dirty="0" smtClean="0"/>
                        <a:t>시간 총 </a:t>
                      </a:r>
                      <a:r>
                        <a:rPr lang="ko-KR" altLang="en-US" sz="1600" dirty="0" err="1" smtClean="0"/>
                        <a:t>음수량이</a:t>
                      </a:r>
                      <a:r>
                        <a:rPr lang="ko-KR" altLang="en-US" sz="1600" dirty="0" smtClean="0"/>
                        <a:t> 최근 </a:t>
                      </a: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 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840022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수면패턴이상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 최근 평균 취침 시작 시각 대비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시간 이상 지연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야간 시간대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활동량 급증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수면 시간 총량이 최근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07478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지속짖음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과다 울음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분 이상 연속 소리 감지 </a:t>
                      </a:r>
                      <a:r>
                        <a:rPr lang="en-US" altLang="ko-KR" sz="1600" dirty="0" smtClean="0"/>
                        <a:t>/ 10</a:t>
                      </a:r>
                      <a:r>
                        <a:rPr lang="ko-KR" altLang="en-US" sz="1600" dirty="0" smtClean="0"/>
                        <a:t>분 내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 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021296"/>
                  </a:ext>
                </a:extLst>
              </a:tr>
              <a:tr h="384241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 smtClean="0"/>
                        <a:t>이상배변</a:t>
                      </a:r>
                      <a:r>
                        <a:rPr lang="ko-KR" altLang="en-US" sz="1600" dirty="0" smtClean="0"/>
                        <a:t> 의심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마킹의심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 smtClean="0"/>
                        <a:t>마킹</a:t>
                      </a:r>
                      <a:r>
                        <a:rPr lang="ko-KR" altLang="en-US" sz="1600" dirty="0" smtClean="0"/>
                        <a:t> 의심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en-US" altLang="ko-KR" sz="1600" dirty="0" err="1" smtClean="0"/>
                        <a:t>Marking_suspected</a:t>
                      </a:r>
                      <a:r>
                        <a:rPr lang="en-US" altLang="ko-KR" sz="1600" dirty="0" smtClean="0"/>
                        <a:t>): </a:t>
                      </a:r>
                      <a:r>
                        <a:rPr lang="ko-KR" altLang="en-US" sz="1600" dirty="0" smtClean="0"/>
                        <a:t>지정 배변 구역 밖에서 배뇨 자세 감지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짧은 배뇨 행동 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498507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배변이상의심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묽은 형태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비정상 크기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반복 배변 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개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감지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81908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반복 </a:t>
                      </a:r>
                      <a:r>
                        <a:rPr lang="ko-KR" altLang="en-US" sz="1600" dirty="0" err="1" smtClean="0"/>
                        <a:t>똥꼬스키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엉덩이를 바닥에 붙인 낮은 자세 이동</a:t>
                      </a:r>
                      <a:r>
                        <a:rPr lang="en-US" altLang="ko-KR" sz="1600" dirty="0" smtClean="0"/>
                        <a:t>, 24</a:t>
                      </a:r>
                      <a:r>
                        <a:rPr lang="ko-KR" altLang="en-US" sz="1600" dirty="0" smtClean="0"/>
                        <a:t>시간 내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825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30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별첨</a:t>
            </a:r>
            <a:r>
              <a:rPr lang="en-US" altLang="ko-KR" sz="1800" dirty="0" smtClean="0"/>
              <a:t>1 – </a:t>
            </a:r>
            <a:r>
              <a:rPr lang="ko-KR" altLang="en-US" sz="1800" dirty="0" smtClean="0"/>
              <a:t>이벤트 판단기준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2818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746589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r>
                        <a:rPr lang="ko-KR" altLang="en-US" dirty="0"/>
                        <a:t>데이터 보관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상태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데이터는 최근 기록 우선으로 조회한다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시간순 정렬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알림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발생한 알림은 삭제하지 않고 기록으로 보관한다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alert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조치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자동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수동 조치 이력은 모두 기록한다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미디어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하이라이트 이미지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영상은 더미 파일 또는 저장 경로 기준으로 관리한다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카메라 연동 아님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17099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113139"/>
              </p:ext>
            </p:extLst>
          </p:nvPr>
        </p:nvGraphicFramePr>
        <p:xfrm>
          <a:off x="281247" y="494852"/>
          <a:ext cx="11520000" cy="51909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</a:t>
                      </a:r>
                      <a:r>
                        <a:rPr lang="ko-KR" altLang="en-US" dirty="0" smtClean="0"/>
                        <a:t>표기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모든 기록 시각은 </a:t>
                      </a:r>
                      <a:r>
                        <a:rPr lang="en-US" altLang="ko-KR" dirty="0"/>
                        <a:t>KST(GMT+09:00) </a:t>
                      </a:r>
                      <a:r>
                        <a:rPr lang="ko-KR" altLang="en-US" dirty="0"/>
                        <a:t>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YYYY-MM-DD HH:mm:ss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연락처는 숫자만 저장하고 화면에서는 하이픈을 포함해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010-1234-5678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반려동물 위치는 </a:t>
                      </a:r>
                      <a:r>
                        <a:rPr lang="en-US" altLang="ko-KR" dirty="0"/>
                        <a:t>GPS</a:t>
                      </a:r>
                      <a:r>
                        <a:rPr lang="ko-KR" altLang="en-US" dirty="0"/>
                        <a:t>가 아닌 실내 </a:t>
                      </a:r>
                      <a:r>
                        <a:rPr lang="ko-KR" altLang="en-US" dirty="0" err="1"/>
                        <a:t>구역명</a:t>
                      </a:r>
                      <a:r>
                        <a:rPr lang="ko-KR" altLang="en-US" dirty="0"/>
                        <a:t> 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화면 내 기본 언어는 한국어로 통일한다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필요 시 영어 확장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4154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361737"/>
              </p:ext>
            </p:extLst>
          </p:nvPr>
        </p:nvGraphicFramePr>
        <p:xfrm>
          <a:off x="755073" y="529951"/>
          <a:ext cx="10515603" cy="512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6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2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2628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UI/UX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해상도 기준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모바일</a:t>
                      </a:r>
                      <a:r>
                        <a:rPr lang="en-US" altLang="ko-KR" dirty="0" smtClean="0"/>
                        <a:t>(iPhone</a:t>
                      </a:r>
                      <a:r>
                        <a:rPr lang="en-US" altLang="ko-KR" baseline="0" dirty="0" smtClean="0"/>
                        <a:t> 14, 393x852px)</a:t>
                      </a:r>
                      <a:r>
                        <a:rPr lang="ko-KR" altLang="en-US" baseline="0" dirty="0" smtClean="0"/>
                        <a:t>을 기본으로 하며</a:t>
                      </a:r>
                      <a:r>
                        <a:rPr lang="en-US" altLang="ko-KR" baseline="0" dirty="0" smtClean="0"/>
                        <a:t>, ??</a:t>
                      </a:r>
                      <a:r>
                        <a:rPr lang="ko-KR" altLang="en-US" baseline="0" dirty="0" err="1" smtClean="0"/>
                        <a:t>반응형</a:t>
                      </a:r>
                      <a:r>
                        <a:rPr lang="ko-KR" altLang="en-US" baseline="0" dirty="0" smtClean="0"/>
                        <a:t> 여부는 팀원의 결정에 따른다</a:t>
                      </a:r>
                      <a:r>
                        <a:rPr lang="en-US" altLang="ko-KR" baseline="0" dirty="0" smtClean="0"/>
                        <a:t>??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단</a:t>
                      </a:r>
                      <a:r>
                        <a:rPr lang="en-US" altLang="ko-KR" baseline="0" dirty="0" smtClean="0"/>
                        <a:t>, </a:t>
                      </a:r>
                      <a:r>
                        <a:rPr lang="ko-KR" altLang="en-US" baseline="0" dirty="0" smtClean="0"/>
                        <a:t>관리자 페이지는 예외적으로 </a:t>
                      </a:r>
                      <a:r>
                        <a:rPr lang="ko-KR" altLang="en-US" baseline="0" dirty="0" err="1" smtClean="0"/>
                        <a:t>데스크탑</a:t>
                      </a:r>
                      <a:r>
                        <a:rPr lang="ko-KR" altLang="en-US" baseline="0" dirty="0" smtClean="0"/>
                        <a:t> 전용 페이지로 구성한다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톤앤매너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메인 컬러와 서브 컬러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협업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버전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관리 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브랜치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GitHub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baseline="0" dirty="0" smtClean="0"/>
                        <a:t>활용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main, develop </a:t>
                      </a:r>
                      <a:r>
                        <a:rPr lang="ko-KR" altLang="en-US" baseline="0" dirty="0" smtClean="0"/>
                        <a:t>직접 </a:t>
                      </a:r>
                      <a:r>
                        <a:rPr lang="ko-KR" altLang="en-US" baseline="0" dirty="0" err="1" smtClean="0"/>
                        <a:t>수정금지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</a:t>
                      </a:r>
                      <a:r>
                        <a:rPr lang="ko-KR" altLang="en-US" baseline="0" dirty="0" smtClean="0"/>
                        <a:t>은 </a:t>
                      </a:r>
                      <a:r>
                        <a:rPr lang="ko-KR" altLang="en-US" baseline="0" dirty="0" err="1" smtClean="0"/>
                        <a:t>버전관리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기능 개발 시 </a:t>
                      </a:r>
                      <a:r>
                        <a:rPr lang="en-US" altLang="ko-KR" baseline="0" dirty="0" smtClean="0"/>
                        <a:t>feat-</a:t>
                      </a:r>
                      <a:r>
                        <a:rPr lang="ko-KR" altLang="en-US" baseline="0" dirty="0" err="1" smtClean="0"/>
                        <a:t>기능명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baseline="0" dirty="0" err="1" smtClean="0"/>
                        <a:t>브랜치</a:t>
                      </a:r>
                      <a:r>
                        <a:rPr lang="ko-KR" altLang="en-US" baseline="0" dirty="0" smtClean="0"/>
                        <a:t> 생성</a:t>
                      </a:r>
                      <a:endParaRPr lang="en-US" altLang="ko-KR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문서 관리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모든 회의록과 일정 관리는 </a:t>
                      </a:r>
                      <a:r>
                        <a:rPr lang="en-US" altLang="ko-KR" dirty="0" smtClean="0"/>
                        <a:t>Notion</a:t>
                      </a:r>
                      <a:r>
                        <a:rPr lang="ko-KR" altLang="en-US" dirty="0" smtClean="0"/>
                        <a:t>을 통해 공유하며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최종 산출물은 </a:t>
                      </a:r>
                      <a:r>
                        <a:rPr lang="en-US" altLang="ko-KR" dirty="0" smtClean="0"/>
                        <a:t>GitHub</a:t>
                      </a:r>
                      <a:r>
                        <a:rPr lang="ko-KR" altLang="en-US" dirty="0" smtClean="0"/>
                        <a:t>에 정리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52067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725173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53106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62154" y="543452"/>
          <a:ext cx="9367996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시 입력값이 비어있을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“</a:t>
                      </a:r>
                      <a:r>
                        <a:rPr lang="ko-KR" altLang="en-US" sz="1400"/>
                        <a:t>아이디 또는 비밀번호를 입력해주세요</a:t>
                      </a:r>
                      <a:r>
                        <a:rPr lang="en-US" altLang="ko-KR" sz="1400"/>
                        <a:t>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로그인 시 아이디 또는 비밀번호 불일치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“아이디 또는 비밀번호가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회원가입 시 필수 항목 </a:t>
                      </a:r>
                      <a:r>
                        <a:rPr lang="ko-KR" altLang="en-US" sz="1400" dirty="0" err="1"/>
                        <a:t>미입력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“필수 항목을 입력해주세요.”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미입력 항목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4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5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이메일 인증번호가 일치하지 않는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“인증번호가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err="1">
                          <a:latin typeface="맑은고딕"/>
                        </a:rPr>
                        <a:t>Alert로</a:t>
                      </a:r>
                      <a:r>
                        <a:rPr lang="ko-KR" altLang="en-US" sz="1400" dirty="0">
                          <a:latin typeface="맑은고딕"/>
                        </a:rPr>
                        <a:t> 오류 문구를 출력하고 인증 실패 처리, 타이머는 유지한다.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반려동물 등록 시 이름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종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나이 등 </a:t>
                      </a:r>
                      <a:r>
                        <a:rPr lang="ko-KR" altLang="en-US" sz="1400" dirty="0" err="1">
                          <a:latin typeface="맑은고딕"/>
                        </a:rPr>
                        <a:t>필수값이</a:t>
                      </a:r>
                      <a:r>
                        <a:rPr lang="ko-KR" altLang="en-US" sz="1400" dirty="0">
                          <a:latin typeface="맑은고딕"/>
                        </a:rPr>
                        <a:t> 비어 있는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“필수 입력 항목을 확인해주세요</a:t>
                      </a:r>
                      <a:r>
                        <a:rPr lang="en-US" altLang="ko-KR" sz="1400" dirty="0" smtClean="0">
                          <a:latin typeface="맑은고딕"/>
                        </a:rPr>
                        <a:t>.”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저장 버튼 동작 차단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23016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285078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2369</Words>
  <Application>Microsoft Office PowerPoint</Application>
  <PresentationFormat>와이드스크린</PresentationFormat>
  <Paragraphs>947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맑은 고딕</vt:lpstr>
      <vt:lpstr>맑은 고딕</vt:lpstr>
      <vt:lpstr>맑은고딕</vt:lpstr>
      <vt:lpstr>Arial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DW-203</cp:lastModifiedBy>
  <cp:revision>87</cp:revision>
  <dcterms:created xsi:type="dcterms:W3CDTF">2023-07-14T02:26:15Z</dcterms:created>
  <dcterms:modified xsi:type="dcterms:W3CDTF">2026-03-23T07:48:11Z</dcterms:modified>
</cp:coreProperties>
</file>