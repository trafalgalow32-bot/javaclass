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4384000" cy="13716000"/>
  <p:notesSz cx="6858000" cy="9144000"/>
  <p:embeddedFontLst>
    <p:embeddedFont>
      <p:font typeface="Gmarket Sans Light"/>
      <p:regular r:id="rId15"/>
    </p:embeddedFont>
    <p:embeddedFont>
      <p:font typeface="Gmarket Sans Bold"/>
      <p:bold r:id="rId16"/>
    </p:embeddedFont>
    <p:embeddedFont>
      <p:font typeface="Gmarket Sans Medium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store.google.com/us/product/google_home_premium?hl=en-US&amp;pli=1" TargetMode="External" Type="http://schemas.openxmlformats.org/officeDocument/2006/relationships/hyperlink"/><Relationship Id="rId11" Target="https://buck.co/" TargetMode="External" Type="http://schemas.openxmlformats.org/officeDocument/2006/relationships/hyperlink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https://motiondesign.school/" TargetMode="External" Type="http://schemas.openxmlformats.org/officeDocument/2006/relationships/hyperlink"/><Relationship Id="rId7" Target="https://petcube.com/en-gb/" TargetMode="External" Type="http://schemas.openxmlformats.org/officeDocument/2006/relationships/hyperlink"/><Relationship Id="rId8" Target="https://furbo.com/us" TargetMode="External" Type="http://schemas.openxmlformats.org/officeDocument/2006/relationships/hyperlink"/><Relationship Id="rId9" Target="https://spline.design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9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9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9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9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31.png" Type="http://schemas.openxmlformats.org/officeDocument/2006/relationships/image"/><Relationship Id="rId3" Target="../media/image9.png" Type="http://schemas.openxmlformats.org/officeDocument/2006/relationships/image"/><Relationship Id="rId4" Target="../media/image2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4049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9800" y="901700"/>
            <a:ext cx="225171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83100" y="-3213100"/>
            <a:ext cx="6261100" cy="8229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6960000">
            <a:off x="19164300" y="6184900"/>
            <a:ext cx="6591300" cy="1201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77900" y="12776200"/>
            <a:ext cx="225171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52500" y="7289800"/>
            <a:ext cx="17551400" cy="17780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l" lvl="0">
              <a:lnSpc>
                <a:spcPct val="99600"/>
              </a:lnSpc>
            </a:pPr>
            <a:r>
              <a:rPr lang="en-US" sz="10000" b="false" i="false" u="none" strike="noStrike" spc="-800">
                <a:solidFill>
                  <a:srgbClr val="FFFFFF"/>
                </a:solidFill>
                <a:latin typeface="Gmarket Sans Bold"/>
                <a:ea typeface="Gmarket Sans Bold"/>
                <a:cs typeface="Gmarket Sans Bold"/>
              </a:rPr>
              <a:t>1차 프로젝트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6337300"/>
            <a:ext cx="21018500" cy="711200"/>
          </a:xfrm>
          <a:prstGeom prst="rect">
            <a:avLst/>
          </a:prstGeom>
        </p:spPr>
        <p:txBody>
          <a:bodyPr anchor="b" rtlCol="false" lIns="0" tIns="0" rIns="0" bIns="5080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 spc="-300">
                <a:solidFill>
                  <a:srgbClr val="08F397"/>
                </a:solidFill>
                <a:latin typeface="Gmarket Sans Light"/>
                <a:ea typeface="Gmarket Sans Light"/>
                <a:cs typeface="Gmarket Sans Light"/>
              </a:rPr>
              <a:t>담당 업무 소개 - 로고, 3D 모델링, 레이아웃, 인터랙티브 구현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97000" y="4445000"/>
            <a:ext cx="10439400" cy="368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51900" y="901700"/>
            <a:ext cx="145923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780000">
            <a:off x="17119600" y="-2933700"/>
            <a:ext cx="5130800" cy="673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6020000">
            <a:off x="11391900" y="10985500"/>
            <a:ext cx="4495800" cy="8178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27100" y="990600"/>
            <a:ext cx="14389100" cy="1181100"/>
          </a:xfrm>
          <a:prstGeom prst="rect">
            <a:avLst/>
          </a:prstGeom>
        </p:spPr>
        <p:txBody>
          <a:bodyPr anchor="b" rtlCol="false" lIns="0" tIns="0" rIns="0" bIns="165100"/>
          <a:lstStyle/>
          <a:p>
            <a:pPr algn="l" lvl="0">
              <a:lnSpc>
                <a:spcPct val="83830"/>
              </a:lnSpc>
            </a:pPr>
            <a:r>
              <a:rPr lang="en-US" sz="6666" b="false" i="false" u="none" strike="noStrike" spc="-6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담당 업무 1: 로고 디자인 및 3D 모델링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1500" y="5334000"/>
            <a:ext cx="96901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1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브랜드 아이덴티티를 반영한 로고 디자인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1500" y="6134100"/>
            <a:ext cx="9677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- 반려견의 친근함과 신뢰감 표현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547600" y="4445000"/>
            <a:ext cx="10439400" cy="3683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2992100" y="5334000"/>
            <a:ext cx="96901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1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웹캠 제품의 3D 모델링 작업 범위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92100" y="6134100"/>
            <a:ext cx="96774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- 360도 회전 뷰 구현용 모델링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- 웹 최적화를 위한 폴리곤 조정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97000" y="8610600"/>
            <a:ext cx="10439400" cy="3683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841500" y="9499600"/>
            <a:ext cx="96901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1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디자인 도구 및 제작 프로세스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1500" y="10299700"/>
            <a:ext cx="52832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4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- Illustrator로 로고 제작</a:t>
            </a:r>
          </a:p>
          <a:p>
            <a:pPr algn="l" lvl="0">
              <a:lnSpc>
                <a:spcPct val="132800"/>
              </a:lnSpc>
            </a:pPr>
            <a:r>
              <a:rPr lang="en-US" sz="24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- Cinema 4D로 3D 모델링 작업
- Spline 연동을 위한 파일 변환</a:t>
            </a:r>
          </a:p>
          <a:p>
            <a:pPr algn="l" lvl="0">
              <a:lnSpc>
                <a:spcPct val="132800"/>
              </a:lnSpc>
            </a:pPr>
            <a:r>
              <a:rPr lang="en-US" sz="24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- Rive를 사용한 모션그래픽 제작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547600" y="8610600"/>
            <a:ext cx="10439400" cy="3683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992100" y="9499600"/>
            <a:ext cx="96901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1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참고 자료 링크</a:t>
            </a:r>
          </a:p>
        </p:txBody>
      </p:sp>
      <p:sp>
        <p:nvSpPr>
          <p:cNvPr name="TextBox 17" id="17">
            <a:hlinkClick r:id="rId6" tooltip="https://motiondesign.school/"/>
          </p:cNvPr>
          <p:cNvSpPr txBox="true"/>
          <p:nvPr/>
        </p:nvSpPr>
        <p:spPr>
          <a:xfrm rot="0">
            <a:off x="15214600" y="10617200"/>
            <a:ext cx="4102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sng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MotionDesignSchool</a:t>
            </a:r>
          </a:p>
        </p:txBody>
      </p:sp>
      <p:sp>
        <p:nvSpPr>
          <p:cNvPr name="TextBox 18" id="18">
            <a:hlinkClick r:id="rId7" tooltip="https://petcube.com/en-gb/"/>
          </p:cNvPr>
          <p:cNvSpPr txBox="true"/>
          <p:nvPr/>
        </p:nvSpPr>
        <p:spPr>
          <a:xfrm rot="0">
            <a:off x="12852400" y="11163300"/>
            <a:ext cx="4102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sng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PetCube</a:t>
            </a:r>
          </a:p>
        </p:txBody>
      </p:sp>
      <p:sp>
        <p:nvSpPr>
          <p:cNvPr name="TextBox 19" id="19">
            <a:hlinkClick r:id="rId8" tooltip="https://furbo.com/us"/>
          </p:cNvPr>
          <p:cNvSpPr txBox="true"/>
          <p:nvPr/>
        </p:nvSpPr>
        <p:spPr>
          <a:xfrm rot="0">
            <a:off x="12852400" y="10680700"/>
            <a:ext cx="4102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 Furbo</a:t>
            </a:r>
          </a:p>
        </p:txBody>
      </p:sp>
      <p:sp>
        <p:nvSpPr>
          <p:cNvPr name="TextBox 20" id="20">
            <a:hlinkClick r:id="rId9" tooltip="https://spline.design/"/>
          </p:cNvPr>
          <p:cNvSpPr txBox="true"/>
          <p:nvPr/>
        </p:nvSpPr>
        <p:spPr>
          <a:xfrm rot="0">
            <a:off x="12852400" y="10248900"/>
            <a:ext cx="1295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Spline</a:t>
            </a:r>
          </a:p>
        </p:txBody>
      </p:sp>
      <p:sp>
        <p:nvSpPr>
          <p:cNvPr name="TextBox 21" id="21">
            <a:hlinkClick r:id="rId10" tooltip="https://store.google.com/us/product/google_home_premium?hl=en-US&amp;pli=1"/>
          </p:cNvPr>
          <p:cNvSpPr txBox="true"/>
          <p:nvPr/>
        </p:nvSpPr>
        <p:spPr>
          <a:xfrm rot="0">
            <a:off x="15214600" y="10121900"/>
            <a:ext cx="4102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sng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Google Home</a:t>
            </a:r>
          </a:p>
        </p:txBody>
      </p:sp>
      <p:sp>
        <p:nvSpPr>
          <p:cNvPr name="TextBox 22" id="22">
            <a:hlinkClick r:id="rId11" tooltip="https://buck.co/"/>
          </p:cNvPr>
          <p:cNvSpPr txBox="true"/>
          <p:nvPr/>
        </p:nvSpPr>
        <p:spPr>
          <a:xfrm rot="0">
            <a:off x="15214600" y="11188700"/>
            <a:ext cx="4102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sng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BUCK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140000">
            <a:off x="20891500" y="-762000"/>
            <a:ext cx="4495800" cy="8178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51900" y="901700"/>
            <a:ext cx="124587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780000">
            <a:off x="17119600" y="-2933700"/>
            <a:ext cx="5130800" cy="6731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27100" y="1092200"/>
            <a:ext cx="15608300" cy="1092200"/>
          </a:xfrm>
          <a:prstGeom prst="rect">
            <a:avLst/>
          </a:prstGeom>
        </p:spPr>
        <p:txBody>
          <a:bodyPr anchor="b" rtlCol="false" lIns="0" tIns="0" rIns="0" bIns="151892"/>
          <a:lstStyle/>
          <a:p>
            <a:pPr algn="l" lvl="0">
              <a:lnSpc>
                <a:spcPct val="83830"/>
              </a:lnSpc>
            </a:pPr>
            <a:r>
              <a:rPr lang="en-US" sz="6133" b="false" i="false" u="none" strike="noStrike" spc="-5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담당 업무 2: 사이트 레이아웃 및 인터랙티브 구현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7100" y="3517900"/>
            <a:ext cx="9486900" cy="9486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070600" y="5867400"/>
            <a:ext cx="3035300" cy="5461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 spc="-300">
                <a:solidFill>
                  <a:srgbClr val="FFFFFF"/>
                </a:solidFill>
                <a:latin typeface="Gmarket Sans Medium"/>
                <a:ea typeface="Gmarket Sans Medium"/>
                <a:cs typeface="Gmarket Sans Medium"/>
              </a:rPr>
              <a:t>3D 웹 구현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9800" y="9677400"/>
            <a:ext cx="3035300" cy="5461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 spc="-300">
                <a:solidFill>
                  <a:srgbClr val="FFFFFF"/>
                </a:solidFill>
                <a:latin typeface="Gmarket Sans Medium"/>
                <a:ea typeface="Gmarket Sans Medium"/>
                <a:cs typeface="Gmarket Sans Medium"/>
              </a:rPr>
              <a:t>모션 효과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34100" y="9677400"/>
            <a:ext cx="3035300" cy="5461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 spc="-300">
                <a:solidFill>
                  <a:srgbClr val="FFFFFF"/>
                </a:solidFill>
                <a:latin typeface="Gmarket Sans Medium"/>
                <a:ea typeface="Gmarket Sans Medium"/>
                <a:cs typeface="Gmarket Sans Medium"/>
              </a:rPr>
              <a:t>인터랙티브 기능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09800" y="5842000"/>
            <a:ext cx="3035300" cy="5461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 spc="-300">
                <a:solidFill>
                  <a:srgbClr val="FFFFFF"/>
                </a:solidFill>
                <a:latin typeface="Gmarket Sans Medium"/>
                <a:ea typeface="Gmarket Sans Medium"/>
                <a:cs typeface="Gmarket Sans Medium"/>
              </a:rPr>
              <a:t>레이아웃 설계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83900" y="3962400"/>
            <a:ext cx="7581900" cy="5969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1" indent="-342900" marL="342900">
              <a:lnSpc>
                <a:spcPct val="116199"/>
              </a:lnSpc>
              <a:buAutoNum type="arabicPeriod" startAt="1"/>
            </a:pPr>
            <a:r>
              <a:rPr lang="en-US" sz="3333" b="false" i="false" u="none" strike="noStrike" spc="-1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 레이아웃 설계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14100" y="4584700"/>
            <a:ext cx="90805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피그마 대신 일러스트레이터를 활용하여, 레퍼런스 참고하여 레이아웃 구성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83900" y="6248400"/>
            <a:ext cx="9359900" cy="5969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08F397"/>
                </a:solidFill>
                <a:latin typeface="Gmarket Sans Bold"/>
                <a:ea typeface="Gmarket Sans Bold"/>
                <a:cs typeface="Gmarket Sans Bold"/>
              </a:rPr>
              <a:t>2. Spline 활용 3D 웹 구현 및 인터랙티브 제작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14100" y="6858000"/>
            <a:ext cx="90805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Cinema 4D로 제작한 3D 에셋을 Spline을 이용하여 웹상에 구현, Spline 툴 자체가 인터랙션을 코딩 필요없이 만들어주고,  HTML에 코드 몇줄만 작성하면 됨.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83900" y="8521700"/>
            <a:ext cx="9677400" cy="5969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3. 모션 효과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14100" y="9169400"/>
            <a:ext cx="90805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대시보드 애니메이션이나 로고, 로딩 애니메이션 등 모션효과는 After Effects나 Rive 사용하여 제작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22000" y="10807700"/>
            <a:ext cx="10210800" cy="5969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 spc="-100">
                <a:solidFill>
                  <a:srgbClr val="08F397"/>
                </a:solidFill>
                <a:latin typeface="Gmarket Sans Bold"/>
                <a:ea typeface="Gmarket Sans Bold"/>
                <a:cs typeface="Gmarket Sans Bold"/>
              </a:rPr>
              <a:t>4. 인터랙티브 기능 (커서 반응형 / 스크롤 반응형)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52200" y="11417300"/>
            <a:ext cx="90805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사용자에 반응하는 인터랙티브. JS와 GSAP라이브러리를 사용하여  제작</a:t>
            </a: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/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 spc="-200">
                <a:solidFill>
                  <a:srgbClr val="595959">
                    <a:alpha val="80000"/>
                  </a:srgbClr>
                </a:solidFill>
                <a:latin typeface="Gmarket Sans Medium"/>
                <a:ea typeface="Gmarket Sans Medium"/>
                <a:cs typeface="Gmarket Sans Medium"/>
              </a:rPr>
              <a:t>ex) 메인 페이지의 홈캠이 커서를 따라 움직임 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978400" y="2578100"/>
            <a:ext cx="14427200" cy="9639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27100" y="1092200"/>
            <a:ext cx="15595600" cy="1092200"/>
          </a:xfrm>
          <a:prstGeom prst="rect">
            <a:avLst/>
          </a:prstGeom>
        </p:spPr>
        <p:txBody>
          <a:bodyPr anchor="b" rtlCol="false" lIns="0" tIns="0" rIns="0" bIns="151892"/>
          <a:lstStyle/>
          <a:p>
            <a:pPr algn="l" lvl="0">
              <a:lnSpc>
                <a:spcPct val="83830"/>
              </a:lnSpc>
            </a:pPr>
            <a:r>
              <a:rPr lang="en-US" sz="6133" b="false" i="false" u="none" strike="noStrike" spc="-5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대시보드 레퍼런스 1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140000">
            <a:off x="20891500" y="-762000"/>
            <a:ext cx="4495800" cy="817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51900" y="901700"/>
            <a:ext cx="12458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780000">
            <a:off x="17119600" y="-2933700"/>
            <a:ext cx="5130800" cy="673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2349500"/>
            <a:ext cx="10274300" cy="965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649200" y="1460500"/>
            <a:ext cx="7886700" cy="510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49200" y="6858000"/>
            <a:ext cx="7988300" cy="5156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27100" y="1092200"/>
            <a:ext cx="15595600" cy="1092200"/>
          </a:xfrm>
          <a:prstGeom prst="rect">
            <a:avLst/>
          </a:prstGeom>
        </p:spPr>
        <p:txBody>
          <a:bodyPr anchor="b" rtlCol="false" lIns="0" tIns="0" rIns="0" bIns="151892"/>
          <a:lstStyle/>
          <a:p>
            <a:pPr algn="l" lvl="0">
              <a:lnSpc>
                <a:spcPct val="83830"/>
              </a:lnSpc>
            </a:pPr>
            <a:r>
              <a:rPr lang="en-US" sz="6133" b="false" i="false" u="none" strike="noStrike" spc="-5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대시보드 레퍼런스 2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140000">
            <a:off x="20891500" y="-762000"/>
            <a:ext cx="4495800" cy="817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51900" y="901700"/>
            <a:ext cx="124587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780000">
            <a:off x="17119600" y="-2933700"/>
            <a:ext cx="5130800" cy="673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7100" y="1092200"/>
            <a:ext cx="15595600" cy="1092200"/>
          </a:xfrm>
          <a:prstGeom prst="rect">
            <a:avLst/>
          </a:prstGeom>
        </p:spPr>
        <p:txBody>
          <a:bodyPr anchor="b" rtlCol="false" lIns="0" tIns="0" rIns="0" bIns="151892"/>
          <a:lstStyle/>
          <a:p>
            <a:pPr algn="l" lvl="0">
              <a:lnSpc>
                <a:spcPct val="83830"/>
              </a:lnSpc>
            </a:pPr>
            <a:r>
              <a:rPr lang="en-US" sz="6133" b="false" i="false" u="none" strike="noStrike" spc="-5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홈캠 에셋 레퍼런스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140000">
            <a:off x="20891500" y="-762000"/>
            <a:ext cx="4495800" cy="8178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51900" y="901700"/>
            <a:ext cx="12458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780000">
            <a:off x="17119600" y="-2933700"/>
            <a:ext cx="5130800" cy="673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47900" y="2476500"/>
            <a:ext cx="9245600" cy="5041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96800" y="4305300"/>
            <a:ext cx="10210800" cy="6426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5200" y="7772400"/>
            <a:ext cx="9258300" cy="5041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7100" y="1092200"/>
            <a:ext cx="15595600" cy="1092200"/>
          </a:xfrm>
          <a:prstGeom prst="rect">
            <a:avLst/>
          </a:prstGeom>
        </p:spPr>
        <p:txBody>
          <a:bodyPr anchor="b" rtlCol="false" lIns="0" tIns="0" rIns="0" bIns="151892"/>
          <a:lstStyle/>
          <a:p>
            <a:pPr algn="l" lvl="0">
              <a:lnSpc>
                <a:spcPct val="83830"/>
              </a:lnSpc>
            </a:pPr>
            <a:r>
              <a:rPr lang="en-US" sz="6133" b="false" i="false" u="none" strike="noStrike" spc="-5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홈캠 모델링 진행상황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140000">
            <a:off x="20891500" y="-762000"/>
            <a:ext cx="4495800" cy="8178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51900" y="901700"/>
            <a:ext cx="12458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780000">
            <a:off x="17119600" y="-2933700"/>
            <a:ext cx="5130800" cy="673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771900" y="2273300"/>
            <a:ext cx="16852900" cy="918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7100" y="1092200"/>
            <a:ext cx="15595600" cy="1092200"/>
          </a:xfrm>
          <a:prstGeom prst="rect">
            <a:avLst/>
          </a:prstGeom>
        </p:spPr>
        <p:txBody>
          <a:bodyPr anchor="b" rtlCol="false" lIns="0" tIns="0" rIns="0" bIns="151892"/>
          <a:lstStyle/>
          <a:p>
            <a:pPr algn="l" lvl="0">
              <a:lnSpc>
                <a:spcPct val="83830"/>
              </a:lnSpc>
            </a:pPr>
            <a:r>
              <a:rPr lang="en-US" sz="6133" b="false" i="false" u="none" strike="noStrike" spc="-5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홈캠 모델링 진행상황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140000">
            <a:off x="20891500" y="-762000"/>
            <a:ext cx="4495800" cy="8178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51900" y="901700"/>
            <a:ext cx="12458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780000">
            <a:off x="17119600" y="-2933700"/>
            <a:ext cx="5130800" cy="673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76700" y="2349500"/>
            <a:ext cx="16586200" cy="1046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7100" y="1092200"/>
            <a:ext cx="15595600" cy="1092200"/>
          </a:xfrm>
          <a:prstGeom prst="rect">
            <a:avLst/>
          </a:prstGeom>
        </p:spPr>
        <p:txBody>
          <a:bodyPr anchor="b" rtlCol="false" lIns="0" tIns="0" rIns="0" bIns="151892"/>
          <a:lstStyle/>
          <a:p>
            <a:pPr algn="l" lvl="0">
              <a:lnSpc>
                <a:spcPct val="83830"/>
              </a:lnSpc>
            </a:pPr>
            <a:r>
              <a:rPr lang="en-US" sz="6133" b="false" i="false" u="none" strike="noStrike" spc="-500">
                <a:solidFill>
                  <a:srgbClr val="4049F5"/>
                </a:solidFill>
                <a:latin typeface="Gmarket Sans Bold"/>
                <a:ea typeface="Gmarket Sans Bold"/>
                <a:cs typeface="Gmarket Sans Bold"/>
              </a:rPr>
              <a:t>홈캠 모델링 진행상황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140000">
            <a:off x="20891500" y="-762000"/>
            <a:ext cx="4495800" cy="8178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51900" y="901700"/>
            <a:ext cx="12458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780000">
            <a:off x="17119600" y="-2933700"/>
            <a:ext cx="5130800" cy="673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78100" y="8432800"/>
            <a:ext cx="5486400" cy="3632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10600" y="3314700"/>
            <a:ext cx="5486400" cy="417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655800" y="7493000"/>
            <a:ext cx="5448300" cy="548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610600" y="8128000"/>
            <a:ext cx="5486400" cy="422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65300" y="3530600"/>
            <a:ext cx="5486400" cy="3721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78100" y="3390900"/>
            <a:ext cx="5486400" cy="398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